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DbJigu をチームのテストに取り入れるかどうかを判断するための資料です。よくあるテストの悩みから入り、DbJigu の機能がそれぞれ何のためにあるかを説明したうえで、コストとリスクを示します。技術的な書き方は、開発者向けの資料とテスト実装ガイドにあります。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テストを繰り返し使える資産として残す仕組みを、軽く導入できるのが DbJigu の価値です。判断のポイントは、フィクスチャを書いて保守し続ける体制を作れるか、そして版の更新とレビューの担当を決められるかです。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マネージャーとの会話でよく聞く状況をまとめました。どれも特定のプロジェクトに限った話ではありません。次のスライドから、これらに DbJigu のどの機能が効くかを説明します。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手作業の確認は、その場では早くても、繰り返すたびに同じ工数がかかり、人によって結果が変わります。残したテストは、バージョンアップのような大きな変更のときに、壊れた箇所を短い時間で教えてくれ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テスト対象のコードは変わりません。テストの準備と確認の部分を、INSERT 文や比較のコードではなく、テキストのファイルで書けるようにする道具です。テーブルを作る DDL は DbJigu の範囲外なので、今のやり方がそのまま残ります。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どの機能も、テストのデータを読みやすく、繰り返し使えるようにするためにあります。パターンは、同じテストを条件だけ変えて繰り返すための機能で、JUnit のパラメータテストと組み合わせて使います。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6</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書式の決まりの範囲で、書き方を工夫するといろいろなケースに対応できます。この例では、投入の行と期待の行を同じファイルに上下に並べ、パターン名で使い分けています。ケースを増やすときは、行と、パラメータテストの引数を足すだけで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7</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テストのロールバックで元に戻るのは、テストのトランザクションの中で動く処理だけです。例外はリスクのスライドで説明します。フィクスチャエディタは、フィクスチャを作る手間を減らすためのもので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8</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れも「入れるデータ」と「期待する結果」をファイルで押さえる、という同じ書き方で書けます。不具合のデータを使うときは、下の注意を守ってください。期待する結果を不具合のあるコードの出力から作ると、テストが失敗しなくなり、意味がありません。</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9</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いちばん大きいのは、フィクスチャを書き、仕様の変更に合わせて直し続けるコストです。これはテストのコードを保守するのと同じ種類のコストで、DbJigu を使わなくてもかかります。更新は自動ではないので、誰がいつ更新するかを決めておく必要があります。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10</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いちばん注意したいのは、最初の2つです。DbJigu が確かめるのは DB の状態だけで、しかも「書いた行がある」ことを確かめる仕組みです。余計な行が無いことまでは保証されないので、「あってはいけない行」のファイルを使っているかを、レビューで見てください。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DbJigu は1ファイルで完結しているので、作者の保守が止まっても、コピーしたものはそのまま動きます。その代わり、不具合は自分たちで直すことになります。使う DB では、最初に動作を確かめてください。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向かない条件に当てはまっても、当てはまるテストだけ別の方法で書き、それ以外で DbJigu を使うこともできます。技術的な条件に加えて、下の体制を決められるかも確かめてください。体制が決まらないまま広げると、版がそろわなくなったり、レビューの観点がばらばらになったりします。</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まとまった工数を取りにくいなら、全体に広げる前に、次に直す不具合の再発防止テストから始めることをおすすめします。1つのモジュールで効果とコストを確かめてから広げてください。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開発者にはテスト実装ガイドと開発者向けの資料を、テストデータを作る人にはフィクスチャエディタの資料を案内してください。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15</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表紙">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rtlCol="0"/>
          <a:lstStyle>
            <a:lvl1pPr algn="l" indent="0" marL="0">
              <a:buNone/>
              <a:defRPr lang="ja-JP" sz="4800" b="1" dirty="0">
                <a:solidFill>
                  <a:schemeClr val="bg1"/>
                </a:solidFill>
              </a:defRPr>
            </a:lvl1pPr>
          </a:lstStyle>
          <a:p>
            <a:pPr algn="l" indent="0" marL="0">
              <a:buNone/>
            </a:pPr>
            <a:endParaRPr lang="ja-JP" sz="4800" dirty="0"/>
          </a:p>
        </p:txBody>
      </p:sp>
      <p:sp>
        <p:nvSpPr>
          <p:cNvPr id="3" name="Text 0"/>
          <p:cNvSpPr/>
          <p:nvPr>
            <p:ph idx="101" type="body" hasCustomPrompt="1"/>
          </p:nvPr>
        </p:nvSpPr>
        <p:spPr>
          <a:xfrm>
            <a:off x="548640" y="3474720"/>
            <a:ext cx="11094415" cy="1097280"/>
          </a:xfrm>
          <a:prstGeom prst="rect">
            <a:avLst/>
          </a:prstGeom>
          <a:noFill/>
          <a:ln/>
        </p:spPr>
        <p:txBody>
          <a:bodyPr wrap="square" rtlCol="0"/>
          <a:lstStyle>
            <a:lvl1pPr algn="l" indent="0" marL="0">
              <a:buNone/>
              <a:defRPr lang="ja-JP" sz="2200" dirty="0">
                <a:solidFill>
                  <a:schemeClr val="accent1"/>
                </a:solidFill>
              </a:defRPr>
            </a:lvl1pPr>
          </a:lstStyle>
          <a:p>
            <a:pPr algn="l" indent="0" marL="0">
              <a:buNone/>
            </a:pPr>
            <a:endParaRPr lang="ja-JP"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本文">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ja-JP" sz="3000" b="1" dirty="0">
                <a:solidFill>
                  <a:schemeClr val="tx1"/>
                </a:solidFill>
              </a:defRPr>
            </a:lvl1pPr>
          </a:lstStyle>
          <a:p>
            <a:pPr algn="l" indent="0" marL="0">
              <a:buNone/>
            </a:pPr>
            <a:endParaRPr lang="ja-JP"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ja-JP" altLang="en-US" sz="1000" dirty="0">
                <a:solidFill>
                  <a:schemeClr val="accent5"/>
                </a:solidFill>
              </a:rPr>
              <a:t>DbJigu 導入の判断材料</a:t>
            </a:r>
            <a:endParaRPr lang="ja-JP"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1003</a:t>
            </a:fld>
            <a:endParaRPr lang="ja-JP"/>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null</a:t>
            </a:fld>
            <a:endParaRPr 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lIns="0" tIns="0" rIns="0" bIns="0" rtlCol="0"/>
          <a:lstStyle/>
          <a:p>
            <a:pPr algn="l" indent="0" marL="0">
              <a:buNone/>
            </a:pPr>
            <a:r>
              <a:rPr lang="ja-JP" altLang="en-US" sz="4800" b="1" dirty="0">
                <a:solidFill>
                  <a:schemeClr val="bg1"/>
                </a:solidFill>
              </a:rPr>
              <a:t>DbJigu 導入の判断材料</a:t>
            </a:r>
            <a:endParaRPr lang="ja-JP" sz="4800" dirty="0"/>
          </a:p>
        </p:txBody>
      </p:sp>
      <p:sp>
        <p:nvSpPr>
          <p:cNvPr id="3" name="Text 0"/>
          <p:cNvSpPr/>
          <p:nvPr>
            <p:ph idx="101" type="body" hasCustomPrompt="1"/>
          </p:nvPr>
        </p:nvSpPr>
        <p:spPr>
          <a:xfrm>
            <a:off x="548640" y="3474720"/>
            <a:ext cx="11094415" cy="1097280"/>
          </a:xfrm>
          <a:prstGeom prst="rect">
            <a:avLst/>
          </a:prstGeom>
          <a:noFill/>
          <a:ln/>
        </p:spPr>
        <p:txBody>
          <a:bodyPr wrap="square" lIns="0" tIns="0" rIns="0" bIns="0" rtlCol="0" anchor="t"/>
          <a:lstStyle/>
          <a:p>
            <a:pPr algn="l" indent="0" marL="0">
              <a:buNone/>
            </a:pPr>
            <a:r>
              <a:rPr lang="ja-JP" altLang="en-US" sz="2200" dirty="0">
                <a:solidFill>
                  <a:schemeClr val="accent1"/>
                </a:solidFill>
              </a:rPr>
              <a:t>テストの悩みと、DbJigu の機能が何のためにあるかをつなげる</a:t>
            </a:r>
            <a:endParaRPr lang="ja-JP" sz="2200" dirty="0"/>
          </a:p>
        </p:txBody>
      </p:sp>
      <p:sp>
        <p:nvSpPr>
          <p:cNvPr id="4" name="Text 2"/>
          <p:cNvSpPr txBox="1"/>
          <p:nvPr/>
        </p:nvSpPr>
        <p:spPr>
          <a:xfrm>
            <a:off x="548640" y="6035040"/>
            <a:ext cx="7315200" cy="365760"/>
          </a:xfrm>
          <a:prstGeom prst="rect">
            <a:avLst/>
          </a:prstGeom>
          <a:noFill/>
          <a:ln/>
        </p:spPr>
        <p:txBody>
          <a:bodyPr wrap="square" lIns="0" tIns="0" rIns="0" bIns="0" rtlCol="0" anchor="t"/>
          <a:lstStyle/>
          <a:p>
            <a:pPr indent="0" marL="0">
              <a:buNone/>
            </a:pPr>
            <a:r>
              <a:rPr lang="ja-JP" altLang="en-US" sz="1400" dirty="0">
                <a:solidFill>
                  <a:schemeClr val="accent5"/>
                </a:solidFill>
              </a:rPr>
              <a:t>プロジェクトマネージャー向け　|　v2.4.0</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要点</a:t>
            </a:r>
            <a:endParaRPr lang="ja-JP" sz="3000" dirty="0"/>
          </a:p>
        </p:txBody>
      </p:sp>
      <p:sp>
        <p:nvSpPr>
          <p:cNvPr id="4" name="Shape 1"/>
          <p:cNvSpPr/>
          <p:nvPr/>
        </p:nvSpPr>
        <p:spPr>
          <a:xfrm>
            <a:off x="548640" y="1234440"/>
            <a:ext cx="3515258" cy="2743200"/>
          </a:xfrm>
          <a:prstGeom prst="roundRect">
            <a:avLst>
              <a:gd name="adj" fmla="val 3333"/>
            </a:avLst>
          </a:prstGeom>
          <a:solidFill>
            <a:schemeClr val="bg2"/>
          </a:solidFill>
          <a:ln/>
        </p:spPr>
      </p:sp>
      <p:sp>
        <p:nvSpPr>
          <p:cNvPr id="5" name="Text 2"/>
          <p:cNvSpPr txBox="1"/>
          <p:nvPr/>
        </p:nvSpPr>
        <p:spPr>
          <a:xfrm>
            <a:off x="914400" y="1554480"/>
            <a:ext cx="2783738" cy="731520"/>
          </a:xfrm>
          <a:prstGeom prst="rect">
            <a:avLst/>
          </a:prstGeom>
          <a:noFill/>
          <a:ln/>
        </p:spPr>
        <p:txBody>
          <a:bodyPr wrap="square" lIns="0" tIns="0" rIns="0" bIns="0" rtlCol="0" anchor="t"/>
          <a:lstStyle/>
          <a:p>
            <a:pPr indent="0" marL="0">
              <a:buNone/>
            </a:pPr>
            <a:r>
              <a:rPr lang="ja-JP" altLang="en-US" sz="3600" b="1" dirty="0">
                <a:solidFill>
                  <a:schemeClr val="accent1"/>
                </a:solidFill>
              </a:rPr>
              <a:t>資産になる</a:t>
            </a:r>
            <a:endParaRPr lang="ja-JP" sz="3600" dirty="0"/>
          </a:p>
        </p:txBody>
      </p:sp>
      <p:sp>
        <p:nvSpPr>
          <p:cNvPr id="6" name="Text 3"/>
          <p:cNvSpPr txBox="1"/>
          <p:nvPr/>
        </p:nvSpPr>
        <p:spPr>
          <a:xfrm>
            <a:off x="914400" y="2468880"/>
            <a:ext cx="2783738" cy="1371600"/>
          </a:xfrm>
          <a:prstGeom prst="rect">
            <a:avLst/>
          </a:prstGeom>
          <a:noFill/>
          <a:ln/>
        </p:spPr>
        <p:txBody>
          <a:bodyPr wrap="square" lIns="0" tIns="0" rIns="0" bIns="0" rtlCol="0" anchor="t"/>
          <a:lstStyle/>
          <a:p>
            <a:pPr indent="0" marL="0">
              <a:buNone/>
            </a:pPr>
            <a:r>
              <a:rPr lang="ja-JP" altLang="en-US" sz="1500" dirty="0">
                <a:solidFill>
                  <a:schemeClr val="tx2"/>
                </a:solidFill>
              </a:rPr>
              <a:t>テストの準備と確認をファイルとして残せます。バージョンアップや不具合の修正のたびに、同じ条件で繰り返し確かめられます。</a:t>
            </a:r>
            <a:endParaRPr lang="ja-JP" sz="1500" dirty="0"/>
          </a:p>
        </p:txBody>
      </p:sp>
      <p:sp>
        <p:nvSpPr>
          <p:cNvPr id="7" name="Shape 4"/>
          <p:cNvSpPr/>
          <p:nvPr/>
        </p:nvSpPr>
        <p:spPr>
          <a:xfrm>
            <a:off x="4338218" y="1234440"/>
            <a:ext cx="3515258" cy="2743200"/>
          </a:xfrm>
          <a:prstGeom prst="roundRect">
            <a:avLst>
              <a:gd name="adj" fmla="val 3333"/>
            </a:avLst>
          </a:prstGeom>
          <a:solidFill>
            <a:schemeClr val="bg2"/>
          </a:solidFill>
          <a:ln/>
        </p:spPr>
      </p:sp>
      <p:sp>
        <p:nvSpPr>
          <p:cNvPr id="8" name="Text 5"/>
          <p:cNvSpPr txBox="1"/>
          <p:nvPr/>
        </p:nvSpPr>
        <p:spPr>
          <a:xfrm>
            <a:off x="4703978" y="1554480"/>
            <a:ext cx="2783738" cy="731520"/>
          </a:xfrm>
          <a:prstGeom prst="rect">
            <a:avLst/>
          </a:prstGeom>
          <a:noFill/>
          <a:ln/>
        </p:spPr>
        <p:txBody>
          <a:bodyPr wrap="square" lIns="0" tIns="0" rIns="0" bIns="0" rtlCol="0" anchor="t"/>
          <a:lstStyle/>
          <a:p>
            <a:pPr indent="0" marL="0">
              <a:buNone/>
            </a:pPr>
            <a:r>
              <a:rPr lang="ja-JP" altLang="en-US" sz="3600" b="1" dirty="0">
                <a:solidFill>
                  <a:schemeClr val="accent1"/>
                </a:solidFill>
              </a:rPr>
              <a:t>読める</a:t>
            </a:r>
            <a:endParaRPr lang="ja-JP" sz="3600" dirty="0"/>
          </a:p>
        </p:txBody>
      </p:sp>
      <p:sp>
        <p:nvSpPr>
          <p:cNvPr id="9" name="Text 6"/>
          <p:cNvSpPr txBox="1"/>
          <p:nvPr/>
        </p:nvSpPr>
        <p:spPr>
          <a:xfrm>
            <a:off x="4703978" y="2468880"/>
            <a:ext cx="2783738" cy="1371600"/>
          </a:xfrm>
          <a:prstGeom prst="rect">
            <a:avLst/>
          </a:prstGeom>
          <a:noFill/>
          <a:ln/>
        </p:spPr>
        <p:txBody>
          <a:bodyPr wrap="square" lIns="0" tIns="0" rIns="0" bIns="0" rtlCol="0" anchor="t"/>
          <a:lstStyle/>
          <a:p>
            <a:pPr indent="0" marL="0">
              <a:buNone/>
            </a:pPr>
            <a:r>
              <a:rPr lang="ja-JP" altLang="en-US" sz="1500" dirty="0">
                <a:solidFill>
                  <a:schemeClr val="tx2"/>
                </a:solidFill>
              </a:rPr>
              <a:t>データと期待する結果を表の形のテキストで書くので、コードを読まずに、何を確かめているかをレビューできます。</a:t>
            </a:r>
            <a:endParaRPr lang="ja-JP" sz="1500" dirty="0"/>
          </a:p>
        </p:txBody>
      </p:sp>
      <p:sp>
        <p:nvSpPr>
          <p:cNvPr id="10" name="Shape 7"/>
          <p:cNvSpPr/>
          <p:nvPr/>
        </p:nvSpPr>
        <p:spPr>
          <a:xfrm>
            <a:off x="8127797" y="1234440"/>
            <a:ext cx="3515258" cy="2743200"/>
          </a:xfrm>
          <a:prstGeom prst="roundRect">
            <a:avLst>
              <a:gd name="adj" fmla="val 3333"/>
            </a:avLst>
          </a:prstGeom>
          <a:solidFill>
            <a:schemeClr val="bg2"/>
          </a:solidFill>
          <a:ln/>
        </p:spPr>
      </p:sp>
      <p:sp>
        <p:nvSpPr>
          <p:cNvPr id="11" name="Text 8"/>
          <p:cNvSpPr txBox="1"/>
          <p:nvPr/>
        </p:nvSpPr>
        <p:spPr>
          <a:xfrm>
            <a:off x="8493557" y="1554480"/>
            <a:ext cx="2783738" cy="731520"/>
          </a:xfrm>
          <a:prstGeom prst="rect">
            <a:avLst/>
          </a:prstGeom>
          <a:noFill/>
          <a:ln/>
        </p:spPr>
        <p:txBody>
          <a:bodyPr wrap="square" lIns="0" tIns="0" rIns="0" bIns="0" rtlCol="0" anchor="t"/>
          <a:lstStyle/>
          <a:p>
            <a:pPr indent="0" marL="0">
              <a:buNone/>
            </a:pPr>
            <a:r>
              <a:rPr lang="ja-JP" altLang="en-US" sz="3600" b="1" dirty="0">
                <a:solidFill>
                  <a:schemeClr val="accent1"/>
                </a:solidFill>
              </a:rPr>
              <a:t>軽い</a:t>
            </a:r>
            <a:endParaRPr lang="ja-JP" sz="3600" dirty="0"/>
          </a:p>
        </p:txBody>
      </p:sp>
      <p:sp>
        <p:nvSpPr>
          <p:cNvPr id="12" name="Text 9"/>
          <p:cNvSpPr txBox="1"/>
          <p:nvPr/>
        </p:nvSpPr>
        <p:spPr>
          <a:xfrm>
            <a:off x="8493557" y="2468880"/>
            <a:ext cx="2783738" cy="1371600"/>
          </a:xfrm>
          <a:prstGeom prst="rect">
            <a:avLst/>
          </a:prstGeom>
          <a:noFill/>
          <a:ln/>
        </p:spPr>
        <p:txBody>
          <a:bodyPr wrap="square" lIns="0" tIns="0" rIns="0" bIns="0" rtlCol="0" anchor="t"/>
          <a:lstStyle/>
          <a:p>
            <a:pPr indent="0" marL="0">
              <a:buNone/>
            </a:pPr>
            <a:r>
              <a:rPr lang="ja-JP" altLang="en-US" sz="1500" dirty="0">
                <a:solidFill>
                  <a:schemeClr val="tx2"/>
                </a:solidFill>
              </a:rPr>
              <a:t>導入はソースファイル1つのコピーです。テスト専用なので、リリースする成果物には含まれません。</a:t>
            </a:r>
            <a:endParaRPr lang="ja-JP" sz="1500" dirty="0"/>
          </a:p>
        </p:txBody>
      </p:sp>
      <p:sp>
        <p:nvSpPr>
          <p:cNvPr id="13" name="Shape 10"/>
          <p:cNvSpPr/>
          <p:nvPr/>
        </p:nvSpPr>
        <p:spPr>
          <a:xfrm>
            <a:off x="548640" y="4343400"/>
            <a:ext cx="11094415" cy="1463040"/>
          </a:xfrm>
          <a:prstGeom prst="roundRect">
            <a:avLst>
              <a:gd name="adj" fmla="val 6250"/>
            </a:avLst>
          </a:prstGeom>
          <a:solidFill>
            <a:schemeClr val="tx1"/>
          </a:solidFill>
          <a:ln/>
        </p:spPr>
      </p:sp>
      <p:sp>
        <p:nvSpPr>
          <p:cNvPr id="14" name="Text 11"/>
          <p:cNvSpPr txBox="1"/>
          <p:nvPr/>
        </p:nvSpPr>
        <p:spPr>
          <a:xfrm>
            <a:off x="960120" y="4617720"/>
            <a:ext cx="10271455" cy="1005840"/>
          </a:xfrm>
          <a:prstGeom prst="rect">
            <a:avLst/>
          </a:prstGeom>
          <a:noFill/>
          <a:ln/>
        </p:spPr>
        <p:txBody>
          <a:bodyPr wrap="square" lIns="0" tIns="0" rIns="0" bIns="0" rtlCol="0" anchor="t"/>
          <a:lstStyle/>
          <a:p>
            <a:pPr indent="0" marL="0">
              <a:spcAft>
                <a:spcPts val="600"/>
              </a:spcAft>
              <a:buNone/>
            </a:pPr>
            <a:r>
              <a:rPr lang="ja-JP" altLang="en-US" sz="1800" b="1" dirty="0">
                <a:solidFill>
                  <a:schemeClr val="accent1"/>
                </a:solidFill>
              </a:rPr>
              <a:t>主なコストとリスク</a:t>
            </a:r>
            <a:endParaRPr lang="ja-JP" sz="1500" dirty="0"/>
          </a:p>
          <a:p>
            <a:pPr indent="0" marL="0">
              <a:buNone/>
            </a:pPr>
            <a:r>
              <a:rPr lang="ja-JP" altLang="en-US" sz="1700" dirty="0">
                <a:solidFill>
                  <a:schemeClr val="bg1"/>
                </a:solidFill>
              </a:rPr>
              <a:t>フィクスチャを書いて保守し続ける手間、書式の学習、新しい版への手作業の更新です。確かめるのは DB の状態だけです。</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2</a:t>
            </a:fld>
            <a:endParaRPr lang="ja-JP"/>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よくある状況</a:t>
            </a:r>
            <a:endParaRPr lang="ja-JP" sz="3000" dirty="0"/>
          </a:p>
        </p:txBody>
      </p:sp>
      <p:sp>
        <p:nvSpPr>
          <p:cNvPr id="4" name="Shape 1"/>
          <p:cNvSpPr/>
          <p:nvPr/>
        </p:nvSpPr>
        <p:spPr>
          <a:xfrm>
            <a:off x="548640" y="1280160"/>
            <a:ext cx="5120640" cy="960120"/>
          </a:xfrm>
          <a:prstGeom prst="roundRect">
            <a:avLst>
              <a:gd name="adj" fmla="val 9524"/>
            </a:avLst>
          </a:prstGeom>
          <a:solidFill>
            <a:schemeClr val="bg2"/>
          </a:solidFill>
          <a:ln/>
        </p:spPr>
      </p:sp>
      <p:sp>
        <p:nvSpPr>
          <p:cNvPr id="5" name="Shape 2"/>
          <p:cNvSpPr/>
          <p:nvPr/>
        </p:nvSpPr>
        <p:spPr>
          <a:xfrm>
            <a:off x="822960" y="1531620"/>
            <a:ext cx="457200" cy="457200"/>
          </a:xfrm>
          <a:prstGeom prst="ellipse">
            <a:avLst/>
          </a:prstGeom>
          <a:solidFill>
            <a:schemeClr val="tx2"/>
          </a:solidFill>
          <a:ln/>
        </p:spPr>
      </p:sp>
      <p:sp>
        <p:nvSpPr>
          <p:cNvPr id="6" name="Text 3"/>
          <p:cNvSpPr txBox="1"/>
          <p:nvPr/>
        </p:nvSpPr>
        <p:spPr>
          <a:xfrm>
            <a:off x="822960" y="153162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1</a:t>
            </a:r>
            <a:endParaRPr lang="ja-JP" sz="1600" dirty="0"/>
          </a:p>
        </p:txBody>
      </p:sp>
      <p:sp>
        <p:nvSpPr>
          <p:cNvPr id="7" name="Text 4"/>
          <p:cNvSpPr txBox="1"/>
          <p:nvPr/>
        </p:nvSpPr>
        <p:spPr>
          <a:xfrm>
            <a:off x="1508760" y="1280160"/>
            <a:ext cx="3977640" cy="960120"/>
          </a:xfrm>
          <a:prstGeom prst="rect">
            <a:avLst/>
          </a:prstGeom>
          <a:noFill/>
          <a:ln/>
        </p:spPr>
        <p:txBody>
          <a:bodyPr wrap="square" lIns="0" tIns="0" rIns="0" bIns="0" rtlCol="0" anchor="ctr"/>
          <a:lstStyle/>
          <a:p>
            <a:pPr indent="0" marL="0">
              <a:buNone/>
            </a:pPr>
            <a:r>
              <a:rPr lang="ja-JP" altLang="en-US" sz="1500" b="1" dirty="0">
                <a:solidFill>
                  <a:schemeClr val="tx1"/>
                </a:solidFill>
              </a:rPr>
              <a:t>テストを書くかどうかが、チームによってばらつく</a:t>
            </a:r>
            <a:endParaRPr lang="ja-JP" sz="1500" dirty="0"/>
          </a:p>
        </p:txBody>
      </p:sp>
      <p:sp>
        <p:nvSpPr>
          <p:cNvPr id="8" name="Text 5"/>
          <p:cNvSpPr txBox="1"/>
          <p:nvPr/>
        </p:nvSpPr>
        <p:spPr>
          <a:xfrm>
            <a:off x="5806440" y="1280160"/>
            <a:ext cx="457200" cy="960120"/>
          </a:xfrm>
          <a:prstGeom prst="rect">
            <a:avLst/>
          </a:prstGeom>
          <a:noFill/>
          <a:ln/>
        </p:spPr>
        <p:txBody>
          <a:bodyPr wrap="square" lIns="0" tIns="0" rIns="0" bIns="0" rtlCol="0" anchor="ctr"/>
          <a:lstStyle/>
          <a:p>
            <a:pPr algn="ctr" indent="0" marL="0">
              <a:buNone/>
            </a:pPr>
            <a:r>
              <a:rPr lang="ja-JP" altLang="en-US" sz="2800" b="1" dirty="0">
                <a:solidFill>
                  <a:schemeClr val="accent5"/>
                </a:solidFill>
              </a:rPr>
              <a:t>›</a:t>
            </a:r>
            <a:endParaRPr lang="ja-JP" sz="2800" dirty="0"/>
          </a:p>
        </p:txBody>
      </p:sp>
      <p:sp>
        <p:nvSpPr>
          <p:cNvPr id="9" name="Text 6"/>
          <p:cNvSpPr txBox="1"/>
          <p:nvPr/>
        </p:nvSpPr>
        <p:spPr>
          <a:xfrm>
            <a:off x="6400800" y="1280160"/>
            <a:ext cx="5242255" cy="960120"/>
          </a:xfrm>
          <a:prstGeom prst="rect">
            <a:avLst/>
          </a:prstGeom>
          <a:noFill/>
          <a:ln/>
        </p:spPr>
        <p:txBody>
          <a:bodyPr wrap="square" lIns="0" tIns="0" rIns="0" bIns="0" rtlCol="0" anchor="ctr"/>
          <a:lstStyle/>
          <a:p>
            <a:pPr indent="0" marL="0">
              <a:buNone/>
            </a:pPr>
            <a:r>
              <a:rPr lang="ja-JP" altLang="en-US" sz="1500" dirty="0">
                <a:solidFill>
                  <a:schemeClr val="tx2"/>
                </a:solidFill>
              </a:rPr>
              <a:t>品質の確かめ方がそろわず、引き継ぎやレビューのたびに差が出る</a:t>
            </a:r>
            <a:endParaRPr lang="ja-JP" sz="1500" dirty="0"/>
          </a:p>
        </p:txBody>
      </p:sp>
      <p:sp>
        <p:nvSpPr>
          <p:cNvPr id="10" name="Shape 7"/>
          <p:cNvSpPr/>
          <p:nvPr/>
        </p:nvSpPr>
        <p:spPr>
          <a:xfrm>
            <a:off x="548640" y="2423160"/>
            <a:ext cx="5120640" cy="960120"/>
          </a:xfrm>
          <a:prstGeom prst="roundRect">
            <a:avLst>
              <a:gd name="adj" fmla="val 9524"/>
            </a:avLst>
          </a:prstGeom>
          <a:solidFill>
            <a:schemeClr val="bg2"/>
          </a:solidFill>
          <a:ln/>
        </p:spPr>
      </p:sp>
      <p:sp>
        <p:nvSpPr>
          <p:cNvPr id="11" name="Shape 8"/>
          <p:cNvSpPr/>
          <p:nvPr/>
        </p:nvSpPr>
        <p:spPr>
          <a:xfrm>
            <a:off x="822960" y="2674620"/>
            <a:ext cx="457200" cy="457200"/>
          </a:xfrm>
          <a:prstGeom prst="ellipse">
            <a:avLst/>
          </a:prstGeom>
          <a:solidFill>
            <a:schemeClr val="tx2"/>
          </a:solidFill>
          <a:ln/>
        </p:spPr>
      </p:sp>
      <p:sp>
        <p:nvSpPr>
          <p:cNvPr id="12" name="Text 9"/>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2</a:t>
            </a:r>
            <a:endParaRPr lang="ja-JP" sz="1600" dirty="0"/>
          </a:p>
        </p:txBody>
      </p:sp>
      <p:sp>
        <p:nvSpPr>
          <p:cNvPr id="13" name="Text 10"/>
          <p:cNvSpPr txBox="1"/>
          <p:nvPr/>
        </p:nvSpPr>
        <p:spPr>
          <a:xfrm>
            <a:off x="1508760" y="2423160"/>
            <a:ext cx="3977640" cy="960120"/>
          </a:xfrm>
          <a:prstGeom prst="rect">
            <a:avLst/>
          </a:prstGeom>
          <a:noFill/>
          <a:ln/>
        </p:spPr>
        <p:txBody>
          <a:bodyPr wrap="square" lIns="0" tIns="0" rIns="0" bIns="0" rtlCol="0" anchor="ctr"/>
          <a:lstStyle/>
          <a:p>
            <a:pPr indent="0" marL="0">
              <a:buNone/>
            </a:pPr>
            <a:r>
              <a:rPr lang="ja-JP" altLang="en-US" sz="1500" b="1" dirty="0">
                <a:solidFill>
                  <a:schemeClr val="tx1"/>
                </a:solidFill>
              </a:rPr>
              <a:t>準備のデータは INSERT 文で入れ、処理のあとの確認はコードで書く</a:t>
            </a:r>
            <a:endParaRPr lang="ja-JP" sz="1500" dirty="0"/>
          </a:p>
        </p:txBody>
      </p:sp>
      <p:sp>
        <p:nvSpPr>
          <p:cNvPr id="14" name="Text 11"/>
          <p:cNvSpPr txBox="1"/>
          <p:nvPr/>
        </p:nvSpPr>
        <p:spPr>
          <a:xfrm>
            <a:off x="5806440" y="2423160"/>
            <a:ext cx="457200" cy="960120"/>
          </a:xfrm>
          <a:prstGeom prst="rect">
            <a:avLst/>
          </a:prstGeom>
          <a:noFill/>
          <a:ln/>
        </p:spPr>
        <p:txBody>
          <a:bodyPr wrap="square" lIns="0" tIns="0" rIns="0" bIns="0" rtlCol="0" anchor="ctr"/>
          <a:lstStyle/>
          <a:p>
            <a:pPr algn="ctr" indent="0" marL="0">
              <a:buNone/>
            </a:pPr>
            <a:r>
              <a:rPr lang="ja-JP" altLang="en-US" sz="2800" b="1" dirty="0">
                <a:solidFill>
                  <a:schemeClr val="accent5"/>
                </a:solidFill>
              </a:rPr>
              <a:t>›</a:t>
            </a:r>
            <a:endParaRPr lang="ja-JP" sz="2800" dirty="0"/>
          </a:p>
        </p:txBody>
      </p:sp>
      <p:sp>
        <p:nvSpPr>
          <p:cNvPr id="15" name="Text 12"/>
          <p:cNvSpPr txBox="1"/>
          <p:nvPr/>
        </p:nvSpPr>
        <p:spPr>
          <a:xfrm>
            <a:off x="6400800" y="2423160"/>
            <a:ext cx="5242255" cy="960120"/>
          </a:xfrm>
          <a:prstGeom prst="rect">
            <a:avLst/>
          </a:prstGeom>
          <a:noFill/>
          <a:ln/>
        </p:spPr>
        <p:txBody>
          <a:bodyPr wrap="square" lIns="0" tIns="0" rIns="0" bIns="0" rtlCol="0" anchor="ctr"/>
          <a:lstStyle/>
          <a:p>
            <a:pPr indent="0" marL="0">
              <a:buNone/>
            </a:pPr>
            <a:r>
              <a:rPr lang="ja-JP" altLang="en-US" sz="1500" dirty="0">
                <a:solidFill>
                  <a:schemeClr val="tx2"/>
                </a:solidFill>
              </a:rPr>
              <a:t>何を前提に何を確かめているかが、コードを読まないと分からない</a:t>
            </a:r>
            <a:endParaRPr lang="ja-JP" sz="1500" dirty="0"/>
          </a:p>
        </p:txBody>
      </p:sp>
      <p:sp>
        <p:nvSpPr>
          <p:cNvPr id="16" name="Shape 13"/>
          <p:cNvSpPr/>
          <p:nvPr/>
        </p:nvSpPr>
        <p:spPr>
          <a:xfrm>
            <a:off x="548640" y="3566160"/>
            <a:ext cx="5120640" cy="960120"/>
          </a:xfrm>
          <a:prstGeom prst="roundRect">
            <a:avLst>
              <a:gd name="adj" fmla="val 9524"/>
            </a:avLst>
          </a:prstGeom>
          <a:solidFill>
            <a:schemeClr val="bg2"/>
          </a:solidFill>
          <a:ln/>
        </p:spPr>
      </p:sp>
      <p:sp>
        <p:nvSpPr>
          <p:cNvPr id="17" name="Shape 14"/>
          <p:cNvSpPr/>
          <p:nvPr/>
        </p:nvSpPr>
        <p:spPr>
          <a:xfrm>
            <a:off x="822960" y="3817620"/>
            <a:ext cx="457200" cy="457200"/>
          </a:xfrm>
          <a:prstGeom prst="ellipse">
            <a:avLst/>
          </a:prstGeom>
          <a:solidFill>
            <a:schemeClr val="tx2"/>
          </a:solidFill>
          <a:ln/>
        </p:spPr>
      </p:sp>
      <p:sp>
        <p:nvSpPr>
          <p:cNvPr id="18" name="Text 15"/>
          <p:cNvSpPr txBox="1"/>
          <p:nvPr/>
        </p:nvSpPr>
        <p:spPr>
          <a:xfrm>
            <a:off x="822960" y="381762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3</a:t>
            </a:r>
            <a:endParaRPr lang="ja-JP" sz="1600" dirty="0"/>
          </a:p>
        </p:txBody>
      </p:sp>
      <p:sp>
        <p:nvSpPr>
          <p:cNvPr id="19" name="Text 16"/>
          <p:cNvSpPr txBox="1"/>
          <p:nvPr/>
        </p:nvSpPr>
        <p:spPr>
          <a:xfrm>
            <a:off x="1508760" y="3566160"/>
            <a:ext cx="3977640" cy="960120"/>
          </a:xfrm>
          <a:prstGeom prst="rect">
            <a:avLst/>
          </a:prstGeom>
          <a:noFill/>
          <a:ln/>
        </p:spPr>
        <p:txBody>
          <a:bodyPr wrap="square" lIns="0" tIns="0" rIns="0" bIns="0" rtlCol="0" anchor="ctr"/>
          <a:lstStyle/>
          <a:p>
            <a:pPr indent="0" marL="0">
              <a:buNone/>
            </a:pPr>
            <a:r>
              <a:rPr lang="ja-JP" altLang="en-US" sz="1500" b="1" dirty="0">
                <a:solidFill>
                  <a:schemeClr val="tx1"/>
                </a:solidFill>
              </a:rPr>
              <a:t>テストがメソッド単位で、業務のユースケースを想定していない</a:t>
            </a:r>
            <a:endParaRPr lang="ja-JP" sz="1500" dirty="0"/>
          </a:p>
        </p:txBody>
      </p:sp>
      <p:sp>
        <p:nvSpPr>
          <p:cNvPr id="20" name="Text 17"/>
          <p:cNvSpPr txBox="1"/>
          <p:nvPr/>
        </p:nvSpPr>
        <p:spPr>
          <a:xfrm>
            <a:off x="5806440" y="3566160"/>
            <a:ext cx="457200" cy="960120"/>
          </a:xfrm>
          <a:prstGeom prst="rect">
            <a:avLst/>
          </a:prstGeom>
          <a:noFill/>
          <a:ln/>
        </p:spPr>
        <p:txBody>
          <a:bodyPr wrap="square" lIns="0" tIns="0" rIns="0" bIns="0" rtlCol="0" anchor="ctr"/>
          <a:lstStyle/>
          <a:p>
            <a:pPr algn="ctr" indent="0" marL="0">
              <a:buNone/>
            </a:pPr>
            <a:r>
              <a:rPr lang="ja-JP" altLang="en-US" sz="2800" b="1" dirty="0">
                <a:solidFill>
                  <a:schemeClr val="accent5"/>
                </a:solidFill>
              </a:rPr>
              <a:t>›</a:t>
            </a:r>
            <a:endParaRPr lang="ja-JP" sz="2800" dirty="0"/>
          </a:p>
        </p:txBody>
      </p:sp>
      <p:sp>
        <p:nvSpPr>
          <p:cNvPr id="21" name="Text 18"/>
          <p:cNvSpPr txBox="1"/>
          <p:nvPr/>
        </p:nvSpPr>
        <p:spPr>
          <a:xfrm>
            <a:off x="6400800" y="3566160"/>
            <a:ext cx="5242255" cy="960120"/>
          </a:xfrm>
          <a:prstGeom prst="rect">
            <a:avLst/>
          </a:prstGeom>
          <a:noFill/>
          <a:ln/>
        </p:spPr>
        <p:txBody>
          <a:bodyPr wrap="square" lIns="0" tIns="0" rIns="0" bIns="0" rtlCol="0" anchor="ctr"/>
          <a:lstStyle/>
          <a:p>
            <a:pPr indent="0" marL="0">
              <a:buNone/>
            </a:pPr>
            <a:r>
              <a:rPr lang="ja-JP" altLang="en-US" sz="1500" dirty="0">
                <a:solidFill>
                  <a:schemeClr val="tx2"/>
                </a:solidFill>
              </a:rPr>
              <a:t>業務の流れの中で起きる不具合を見つけにくい</a:t>
            </a:r>
            <a:endParaRPr lang="ja-JP" sz="1500" dirty="0"/>
          </a:p>
        </p:txBody>
      </p:sp>
      <p:sp>
        <p:nvSpPr>
          <p:cNvPr id="22" name="Shape 19"/>
          <p:cNvSpPr/>
          <p:nvPr/>
        </p:nvSpPr>
        <p:spPr>
          <a:xfrm>
            <a:off x="548640" y="4709160"/>
            <a:ext cx="5120640" cy="960120"/>
          </a:xfrm>
          <a:prstGeom prst="roundRect">
            <a:avLst>
              <a:gd name="adj" fmla="val 9524"/>
            </a:avLst>
          </a:prstGeom>
          <a:solidFill>
            <a:schemeClr val="bg2"/>
          </a:solidFill>
          <a:ln/>
        </p:spPr>
      </p:sp>
      <p:sp>
        <p:nvSpPr>
          <p:cNvPr id="23" name="Shape 20"/>
          <p:cNvSpPr/>
          <p:nvPr/>
        </p:nvSpPr>
        <p:spPr>
          <a:xfrm>
            <a:off x="822960" y="4960620"/>
            <a:ext cx="457200" cy="457200"/>
          </a:xfrm>
          <a:prstGeom prst="ellipse">
            <a:avLst/>
          </a:prstGeom>
          <a:solidFill>
            <a:schemeClr val="tx2"/>
          </a:solidFill>
          <a:ln/>
        </p:spPr>
      </p:sp>
      <p:sp>
        <p:nvSpPr>
          <p:cNvPr id="24" name="Text 21"/>
          <p:cNvSpPr txBox="1"/>
          <p:nvPr/>
        </p:nvSpPr>
        <p:spPr>
          <a:xfrm>
            <a:off x="822960" y="496062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4</a:t>
            </a:r>
            <a:endParaRPr lang="ja-JP" sz="1600" dirty="0"/>
          </a:p>
        </p:txBody>
      </p:sp>
      <p:sp>
        <p:nvSpPr>
          <p:cNvPr id="25" name="Text 22"/>
          <p:cNvSpPr txBox="1"/>
          <p:nvPr/>
        </p:nvSpPr>
        <p:spPr>
          <a:xfrm>
            <a:off x="1508760" y="4709160"/>
            <a:ext cx="3977640" cy="960120"/>
          </a:xfrm>
          <a:prstGeom prst="rect">
            <a:avLst/>
          </a:prstGeom>
          <a:noFill/>
          <a:ln/>
        </p:spPr>
        <p:txBody>
          <a:bodyPr wrap="square" lIns="0" tIns="0" rIns="0" bIns="0" rtlCol="0" anchor="ctr"/>
          <a:lstStyle/>
          <a:p>
            <a:pPr indent="0" marL="0">
              <a:buNone/>
            </a:pPr>
            <a:r>
              <a:rPr lang="ja-JP" altLang="en-US" sz="1500" b="1" dirty="0">
                <a:solidFill>
                  <a:schemeClr val="tx1"/>
                </a:solidFill>
              </a:rPr>
              <a:t>テストを手厚く書く工数を取りにくい</a:t>
            </a:r>
            <a:endParaRPr lang="ja-JP" sz="1500" dirty="0"/>
          </a:p>
        </p:txBody>
      </p:sp>
      <p:sp>
        <p:nvSpPr>
          <p:cNvPr id="26" name="Text 23"/>
          <p:cNvSpPr txBox="1"/>
          <p:nvPr/>
        </p:nvSpPr>
        <p:spPr>
          <a:xfrm>
            <a:off x="5806440" y="4709160"/>
            <a:ext cx="457200" cy="960120"/>
          </a:xfrm>
          <a:prstGeom prst="rect">
            <a:avLst/>
          </a:prstGeom>
          <a:noFill/>
          <a:ln/>
        </p:spPr>
        <p:txBody>
          <a:bodyPr wrap="square" lIns="0" tIns="0" rIns="0" bIns="0" rtlCol="0" anchor="ctr"/>
          <a:lstStyle/>
          <a:p>
            <a:pPr algn="ctr" indent="0" marL="0">
              <a:buNone/>
            </a:pPr>
            <a:r>
              <a:rPr lang="ja-JP" altLang="en-US" sz="2800" b="1" dirty="0">
                <a:solidFill>
                  <a:schemeClr val="accent5"/>
                </a:solidFill>
              </a:rPr>
              <a:t>›</a:t>
            </a:r>
            <a:endParaRPr lang="ja-JP" sz="2800" dirty="0"/>
          </a:p>
        </p:txBody>
      </p:sp>
      <p:sp>
        <p:nvSpPr>
          <p:cNvPr id="27" name="Text 24"/>
          <p:cNvSpPr txBox="1"/>
          <p:nvPr/>
        </p:nvSpPr>
        <p:spPr>
          <a:xfrm>
            <a:off x="6400800" y="4709160"/>
            <a:ext cx="5242255" cy="960120"/>
          </a:xfrm>
          <a:prstGeom prst="rect">
            <a:avLst/>
          </a:prstGeom>
          <a:noFill/>
          <a:ln/>
        </p:spPr>
        <p:txBody>
          <a:bodyPr wrap="square" lIns="0" tIns="0" rIns="0" bIns="0" rtlCol="0" anchor="ctr"/>
          <a:lstStyle/>
          <a:p>
            <a:pPr indent="0" marL="0">
              <a:buNone/>
            </a:pPr>
            <a:r>
              <a:rPr lang="ja-JP" altLang="en-US" sz="1500" dirty="0">
                <a:solidFill>
                  <a:schemeClr val="tx2"/>
                </a:solidFill>
              </a:rPr>
              <a:t>テストが後回しになり、手作業の確認に頼る</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3</a:t>
            </a:fld>
            <a:endParaRPr lang="ja-JP"/>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テストを資産として残す理由</a:t>
            </a:r>
            <a:endParaRPr lang="ja-JP" sz="3000" dirty="0"/>
          </a:p>
        </p:txBody>
      </p:sp>
      <p:sp>
        <p:nvSpPr>
          <p:cNvPr id="4" name="Shape 1"/>
          <p:cNvSpPr/>
          <p:nvPr/>
        </p:nvSpPr>
        <p:spPr>
          <a:xfrm>
            <a:off x="548640" y="1234440"/>
            <a:ext cx="3840480" cy="3246120"/>
          </a:xfrm>
          <a:prstGeom prst="roundRect">
            <a:avLst>
              <a:gd name="adj" fmla="val 2817"/>
            </a:avLst>
          </a:prstGeom>
          <a:solidFill>
            <a:schemeClr val="tx1"/>
          </a:solidFill>
          <a:ln/>
        </p:spPr>
      </p:sp>
      <p:sp>
        <p:nvSpPr>
          <p:cNvPr id="5" name="Text 2"/>
          <p:cNvSpPr txBox="1"/>
          <p:nvPr/>
        </p:nvSpPr>
        <p:spPr>
          <a:xfrm>
            <a:off x="914400" y="1508760"/>
            <a:ext cx="3108960" cy="2834640"/>
          </a:xfrm>
          <a:prstGeom prst="rect">
            <a:avLst/>
          </a:prstGeom>
          <a:noFill/>
          <a:ln/>
        </p:spPr>
        <p:txBody>
          <a:bodyPr wrap="square" lIns="0" tIns="0" rIns="0" bIns="0" rtlCol="0" anchor="t"/>
          <a:lstStyle/>
          <a:p>
            <a:pPr indent="0" marL="0">
              <a:spcAft>
                <a:spcPts val="600"/>
              </a:spcAft>
              <a:buNone/>
            </a:pPr>
            <a:r>
              <a:rPr lang="ja-JP" altLang="en-US" sz="1800" b="1" dirty="0">
                <a:solidFill>
                  <a:schemeClr val="accent1"/>
                </a:solidFill>
              </a:rPr>
              <a:t>製造業の検査治具のように</a:t>
            </a:r>
            <a:endParaRPr lang="ja-JP" sz="1500" dirty="0"/>
          </a:p>
          <a:p>
            <a:pPr indent="0" marL="0">
              <a:buNone/>
            </a:pPr>
            <a:r>
              <a:rPr lang="ja-JP" altLang="en-US" sz="1400" dirty="0">
                <a:solidFill>
                  <a:schemeClr val="bg1"/>
                </a:solidFill>
              </a:rPr>
              <a:t>製造業では、検査の治具や機器に投資して、同じ品質を繰り返し確かめられるようにします。</a:t>
            </a:r>
            <a:endParaRPr lang="ja-JP" sz="1500" dirty="0"/>
          </a:p>
          <a:p>
            <a:pPr indent="0" marL="0">
              <a:buNone/>
            </a:pPr>
            <a:r>
              <a:rPr lang="ja-JP" altLang="en-US" sz="1400" dirty="0">
                <a:solidFill>
                  <a:schemeClr val="bg1"/>
                </a:solidFill>
              </a:rPr>
              <a:t>ソフトウェアのテストも、残しておけば何度でも同じ手順で使える検査の仕組みになります。DbJigu の名前は「DB 治具」から来ています。</a:t>
            </a:r>
            <a:endParaRPr lang="ja-JP" sz="1500" dirty="0"/>
          </a:p>
        </p:txBody>
      </p:sp>
      <p:sp>
        <p:nvSpPr>
          <p:cNvPr id="6" name="Shape 3"/>
          <p:cNvSpPr/>
          <p:nvPr/>
        </p:nvSpPr>
        <p:spPr>
          <a:xfrm>
            <a:off x="4663440" y="1234440"/>
            <a:ext cx="3352648" cy="3246120"/>
          </a:xfrm>
          <a:prstGeom prst="roundRect">
            <a:avLst>
              <a:gd name="adj" fmla="val 2817"/>
            </a:avLst>
          </a:prstGeom>
          <a:solidFill>
            <a:schemeClr val="bg2"/>
          </a:solidFill>
          <a:ln/>
        </p:spPr>
      </p:sp>
      <p:sp>
        <p:nvSpPr>
          <p:cNvPr id="7" name="Shape 4"/>
          <p:cNvSpPr/>
          <p:nvPr/>
        </p:nvSpPr>
        <p:spPr>
          <a:xfrm>
            <a:off x="4983480" y="1508760"/>
            <a:ext cx="457200" cy="457200"/>
          </a:xfrm>
          <a:prstGeom prst="ellipse">
            <a:avLst/>
          </a:prstGeom>
          <a:solidFill>
            <a:schemeClr val="accent5"/>
          </a:solidFill>
          <a:ln/>
        </p:spPr>
      </p:sp>
      <p:sp>
        <p:nvSpPr>
          <p:cNvPr id="8" name="Text 5"/>
          <p:cNvSpPr txBox="1"/>
          <p:nvPr/>
        </p:nvSpPr>
        <p:spPr>
          <a:xfrm>
            <a:off x="4983480" y="150876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a:t>
            </a:r>
            <a:endParaRPr lang="ja-JP" sz="1600" dirty="0"/>
          </a:p>
        </p:txBody>
      </p:sp>
      <p:sp>
        <p:nvSpPr>
          <p:cNvPr id="9" name="Text 6"/>
          <p:cNvSpPr txBox="1"/>
          <p:nvPr/>
        </p:nvSpPr>
        <p:spPr>
          <a:xfrm>
            <a:off x="5623560" y="1508760"/>
            <a:ext cx="2163928" cy="457200"/>
          </a:xfrm>
          <a:prstGeom prst="rect">
            <a:avLst/>
          </a:prstGeom>
          <a:noFill/>
          <a:ln/>
        </p:spPr>
        <p:txBody>
          <a:bodyPr wrap="square" lIns="0" tIns="0" rIns="0" bIns="0" rtlCol="0" anchor="ctr"/>
          <a:lstStyle/>
          <a:p>
            <a:pPr indent="0" marL="0">
              <a:buNone/>
            </a:pPr>
            <a:r>
              <a:rPr lang="ja-JP" altLang="en-US" sz="1800" b="1" dirty="0">
                <a:solidFill>
                  <a:schemeClr val="tx1"/>
                </a:solidFill>
              </a:rPr>
              <a:t>手作業の確認</a:t>
            </a:r>
            <a:endParaRPr lang="ja-JP" sz="1800" dirty="0"/>
          </a:p>
        </p:txBody>
      </p:sp>
      <p:sp>
        <p:nvSpPr>
          <p:cNvPr id="10" name="Text 7"/>
          <p:cNvSpPr txBox="1"/>
          <p:nvPr/>
        </p:nvSpPr>
        <p:spPr>
          <a:xfrm>
            <a:off x="4983480" y="2240280"/>
            <a:ext cx="2712568" cy="2103120"/>
          </a:xfrm>
          <a:prstGeom prst="rect">
            <a:avLst/>
          </a:prstGeom>
          <a:noFill/>
          <a:ln/>
        </p:spPr>
        <p:txBody>
          <a:bodyPr wrap="square" lIns="0" tIns="0" rIns="0" bIns="0" rtlCol="0" anchor="t"/>
          <a:lstStyle/>
          <a:p>
            <a:pPr marL="342900" indent="-342900">
              <a:spcAft>
                <a:spcPts val="800"/>
              </a:spcAft>
              <a:buSzPct val="100000"/>
              <a:buChar char="•"/>
            </a:pPr>
            <a:r>
              <a:rPr lang="ja-JP" altLang="en-US" sz="1500" dirty="0">
                <a:solidFill>
                  <a:schemeClr val="tx2"/>
                </a:solidFill>
              </a:rPr>
              <a:t>繰り返すたびに、同じ工数がかかる</a:t>
            </a:r>
            <a:endParaRPr lang="ja-JP" sz="1500" dirty="0"/>
          </a:p>
          <a:p>
            <a:pPr marL="342900" indent="-342900">
              <a:spcAft>
                <a:spcPts val="800"/>
              </a:spcAft>
              <a:buSzPct val="100000"/>
              <a:buChar char="•"/>
            </a:pPr>
            <a:r>
              <a:rPr lang="ja-JP" altLang="en-US" sz="1500" dirty="0">
                <a:solidFill>
                  <a:schemeClr val="tx2"/>
                </a:solidFill>
              </a:rPr>
              <a:t>人によって手順や見るところが変わる</a:t>
            </a:r>
            <a:endParaRPr lang="ja-JP" sz="1500" dirty="0"/>
          </a:p>
          <a:p>
            <a:pPr marL="342900" indent="-342900">
              <a:spcAft>
                <a:spcPts val="800"/>
              </a:spcAft>
              <a:buSzPct val="100000"/>
              <a:buChar char="•"/>
            </a:pPr>
            <a:r>
              <a:rPr lang="ja-JP" altLang="en-US" sz="1500" dirty="0">
                <a:solidFill>
                  <a:schemeClr val="tx2"/>
                </a:solidFill>
              </a:rPr>
              <a:t>同じ条件をそろえて再現しにくい</a:t>
            </a:r>
            <a:endParaRPr lang="ja-JP" sz="1500" dirty="0"/>
          </a:p>
        </p:txBody>
      </p:sp>
      <p:sp>
        <p:nvSpPr>
          <p:cNvPr id="11" name="Shape 8"/>
          <p:cNvSpPr/>
          <p:nvPr/>
        </p:nvSpPr>
        <p:spPr>
          <a:xfrm>
            <a:off x="8290408" y="1234440"/>
            <a:ext cx="3352648" cy="3246120"/>
          </a:xfrm>
          <a:prstGeom prst="roundRect">
            <a:avLst>
              <a:gd name="adj" fmla="val 2817"/>
            </a:avLst>
          </a:prstGeom>
          <a:solidFill>
            <a:schemeClr val="bg2"/>
          </a:solidFill>
          <a:ln/>
        </p:spPr>
      </p:sp>
      <p:sp>
        <p:nvSpPr>
          <p:cNvPr id="12" name="Shape 9"/>
          <p:cNvSpPr/>
          <p:nvPr/>
        </p:nvSpPr>
        <p:spPr>
          <a:xfrm>
            <a:off x="8610448" y="1508760"/>
            <a:ext cx="457200" cy="457200"/>
          </a:xfrm>
          <a:prstGeom prst="ellipse">
            <a:avLst/>
          </a:prstGeom>
          <a:solidFill>
            <a:schemeClr val="accent2"/>
          </a:solidFill>
          <a:ln/>
        </p:spPr>
      </p:sp>
      <p:sp>
        <p:nvSpPr>
          <p:cNvPr id="13" name="Text 10"/>
          <p:cNvSpPr txBox="1"/>
          <p:nvPr/>
        </p:nvSpPr>
        <p:spPr>
          <a:xfrm>
            <a:off x="8610448" y="150876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a:t>
            </a:r>
            <a:endParaRPr lang="ja-JP" sz="1600" dirty="0"/>
          </a:p>
        </p:txBody>
      </p:sp>
      <p:sp>
        <p:nvSpPr>
          <p:cNvPr id="14" name="Text 11"/>
          <p:cNvSpPr txBox="1"/>
          <p:nvPr/>
        </p:nvSpPr>
        <p:spPr>
          <a:xfrm>
            <a:off x="9250528" y="1508760"/>
            <a:ext cx="2163928" cy="457200"/>
          </a:xfrm>
          <a:prstGeom prst="rect">
            <a:avLst/>
          </a:prstGeom>
          <a:noFill/>
          <a:ln/>
        </p:spPr>
        <p:txBody>
          <a:bodyPr wrap="square" lIns="0" tIns="0" rIns="0" bIns="0" rtlCol="0" anchor="ctr"/>
          <a:lstStyle/>
          <a:p>
            <a:pPr indent="0" marL="0">
              <a:buNone/>
            </a:pPr>
            <a:r>
              <a:rPr lang="ja-JP" altLang="en-US" sz="1800" b="1" dirty="0">
                <a:solidFill>
                  <a:schemeClr val="tx1"/>
                </a:solidFill>
              </a:rPr>
              <a:t>残したテスト</a:t>
            </a:r>
            <a:endParaRPr lang="ja-JP" sz="1800" dirty="0"/>
          </a:p>
        </p:txBody>
      </p:sp>
      <p:sp>
        <p:nvSpPr>
          <p:cNvPr id="15" name="Text 12"/>
          <p:cNvSpPr txBox="1"/>
          <p:nvPr/>
        </p:nvSpPr>
        <p:spPr>
          <a:xfrm>
            <a:off x="8610448" y="2240280"/>
            <a:ext cx="2712568" cy="2103120"/>
          </a:xfrm>
          <a:prstGeom prst="rect">
            <a:avLst/>
          </a:prstGeom>
          <a:noFill/>
          <a:ln/>
        </p:spPr>
        <p:txBody>
          <a:bodyPr wrap="square" lIns="0" tIns="0" rIns="0" bIns="0" rtlCol="0" anchor="t"/>
          <a:lstStyle/>
          <a:p>
            <a:pPr marL="342900" indent="-342900">
              <a:spcAft>
                <a:spcPts val="800"/>
              </a:spcAft>
              <a:buSzPct val="100000"/>
              <a:buChar char="•"/>
            </a:pPr>
            <a:r>
              <a:rPr lang="ja-JP" altLang="en-US" sz="1500" dirty="0">
                <a:solidFill>
                  <a:schemeClr val="tx2"/>
                </a:solidFill>
              </a:rPr>
              <a:t>何度でも同じ手順で動かせる</a:t>
            </a:r>
            <a:endParaRPr lang="ja-JP" sz="1500" dirty="0"/>
          </a:p>
          <a:p>
            <a:pPr marL="342900" indent="-342900">
              <a:spcAft>
                <a:spcPts val="800"/>
              </a:spcAft>
              <a:buSzPct val="100000"/>
              <a:buChar char="•"/>
            </a:pPr>
            <a:r>
              <a:rPr lang="ja-JP" altLang="en-US" sz="1500" dirty="0">
                <a:solidFill>
                  <a:schemeClr val="tx2"/>
                </a:solidFill>
              </a:rPr>
              <a:t>誰が動かしても同じ結果になる</a:t>
            </a:r>
            <a:endParaRPr lang="ja-JP" sz="1500" dirty="0"/>
          </a:p>
          <a:p>
            <a:pPr marL="342900" indent="-342900">
              <a:spcAft>
                <a:spcPts val="800"/>
              </a:spcAft>
              <a:buSzPct val="100000"/>
              <a:buChar char="•"/>
            </a:pPr>
            <a:r>
              <a:rPr lang="ja-JP" altLang="en-US" sz="1500" dirty="0">
                <a:solidFill>
                  <a:schemeClr val="tx2"/>
                </a:solidFill>
              </a:rPr>
              <a:t>データがファイルにあるので、条件が毎回同じ</a:t>
            </a:r>
            <a:endParaRPr lang="ja-JP" sz="1500" dirty="0"/>
          </a:p>
        </p:txBody>
      </p:sp>
      <p:sp>
        <p:nvSpPr>
          <p:cNvPr id="16" name="Shape 13"/>
          <p:cNvSpPr/>
          <p:nvPr/>
        </p:nvSpPr>
        <p:spPr>
          <a:xfrm>
            <a:off x="548640" y="4709160"/>
            <a:ext cx="11094415" cy="1051560"/>
          </a:xfrm>
          <a:prstGeom prst="roundRect">
            <a:avLst>
              <a:gd name="adj" fmla="val 8696"/>
            </a:avLst>
          </a:prstGeom>
          <a:solidFill>
            <a:schemeClr val="bg2"/>
          </a:solidFill>
          <a:ln/>
        </p:spPr>
      </p:sp>
      <p:sp>
        <p:nvSpPr>
          <p:cNvPr id="17" name="Text 14"/>
          <p:cNvSpPr txBox="1"/>
          <p:nvPr/>
        </p:nvSpPr>
        <p:spPr>
          <a:xfrm>
            <a:off x="960120" y="4709160"/>
            <a:ext cx="10271455" cy="1051560"/>
          </a:xfrm>
          <a:prstGeom prst="rect">
            <a:avLst/>
          </a:prstGeom>
          <a:noFill/>
          <a:ln/>
        </p:spPr>
        <p:txBody>
          <a:bodyPr wrap="square" lIns="0" tIns="0" rIns="0" bIns="0" rtlCol="0" anchor="ctr"/>
          <a:lstStyle/>
          <a:p>
            <a:pPr indent="0" marL="0">
              <a:buNone/>
            </a:pPr>
            <a:r>
              <a:rPr lang="ja-JP" altLang="en-US" sz="1600" b="1" dirty="0">
                <a:solidFill>
                  <a:schemeClr val="tx1"/>
                </a:solidFill>
              </a:rPr>
              <a:t>たとえば：</a:t>
            </a:r>
            <a:pPr indent="0" marL="0">
              <a:buNone/>
            </a:pPr>
            <a:r>
              <a:rPr lang="ja-JP" altLang="en-US" sz="1600" dirty="0">
                <a:solidFill>
                  <a:schemeClr val="tx2"/>
                </a:solidFill>
              </a:rPr>
              <a:t>Java やフレームワークの版を上げたとき、テストが残っていれば、壊れた箇所がすぐに分かります。</a:t>
            </a:r>
            <a:endParaRPr lang="ja-JP"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4</a:t>
            </a:fld>
            <a:endParaRPr lang="ja-JP"/>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DbJigu は何をするものか</a:t>
            </a:r>
            <a:endParaRPr lang="ja-JP" sz="3000" dirty="0"/>
          </a:p>
        </p:txBody>
      </p:sp>
      <p:sp>
        <p:nvSpPr>
          <p:cNvPr id="4" name="Shape 1"/>
          <p:cNvSpPr/>
          <p:nvPr/>
        </p:nvSpPr>
        <p:spPr>
          <a:xfrm>
            <a:off x="548640" y="1325880"/>
            <a:ext cx="685800" cy="685800"/>
          </a:xfrm>
          <a:prstGeom prst="ellipse">
            <a:avLst/>
          </a:prstGeom>
          <a:solidFill>
            <a:schemeClr val="accent1"/>
          </a:solidFill>
          <a:ln/>
        </p:spPr>
      </p:sp>
      <p:sp>
        <p:nvSpPr>
          <p:cNvPr id="5" name="Text 2"/>
          <p:cNvSpPr txBox="1"/>
          <p:nvPr/>
        </p:nvSpPr>
        <p:spPr>
          <a:xfrm>
            <a:off x="548640" y="1325880"/>
            <a:ext cx="685800" cy="685800"/>
          </a:xfrm>
          <a:prstGeom prst="rect">
            <a:avLst/>
          </a:prstGeom>
          <a:noFill/>
          <a:ln/>
        </p:spPr>
        <p:txBody>
          <a:bodyPr wrap="square" lIns="0" tIns="0" rIns="0" bIns="0" rtlCol="0" anchor="ctr"/>
          <a:lstStyle/>
          <a:p>
            <a:pPr algn="ctr" indent="0" marL="0">
              <a:buNone/>
            </a:pPr>
            <a:r>
              <a:rPr lang="ja-JP" altLang="en-US" sz="2400" b="1" dirty="0">
                <a:solidFill>
                  <a:schemeClr val="tx1"/>
                </a:solidFill>
              </a:rPr>
              <a:t>1</a:t>
            </a:r>
            <a:endParaRPr lang="ja-JP" sz="2400" dirty="0"/>
          </a:p>
        </p:txBody>
      </p:sp>
      <p:sp>
        <p:nvSpPr>
          <p:cNvPr id="6" name="Text 3"/>
          <p:cNvSpPr txBox="1"/>
          <p:nvPr/>
        </p:nvSpPr>
        <p:spPr>
          <a:xfrm>
            <a:off x="1600200" y="1307592"/>
            <a:ext cx="4572000" cy="82296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テストの前に</a:t>
            </a:r>
            <a:endParaRPr lang="ja-JP" sz="1500" dirty="0"/>
          </a:p>
          <a:p>
            <a:pPr indent="0" marL="0">
              <a:buNone/>
            </a:pPr>
            <a:r>
              <a:rPr lang="ja-JP" altLang="en-US" sz="1700" dirty="0">
                <a:solidFill>
                  <a:schemeClr val="tx2"/>
                </a:solidFill>
              </a:rPr>
              <a:t>決まったデータを DB に入れる</a:t>
            </a:r>
            <a:endParaRPr lang="ja-JP" sz="1500" dirty="0"/>
          </a:p>
        </p:txBody>
      </p:sp>
      <p:sp>
        <p:nvSpPr>
          <p:cNvPr id="7" name="Shape 4"/>
          <p:cNvSpPr/>
          <p:nvPr/>
        </p:nvSpPr>
        <p:spPr>
          <a:xfrm>
            <a:off x="548640" y="2468880"/>
            <a:ext cx="685800" cy="685800"/>
          </a:xfrm>
          <a:prstGeom prst="ellipse">
            <a:avLst/>
          </a:prstGeom>
          <a:solidFill>
            <a:schemeClr val="accent5"/>
          </a:solidFill>
          <a:ln/>
        </p:spPr>
      </p:sp>
      <p:sp>
        <p:nvSpPr>
          <p:cNvPr id="8" name="Text 5"/>
          <p:cNvSpPr txBox="1"/>
          <p:nvPr/>
        </p:nvSpPr>
        <p:spPr>
          <a:xfrm>
            <a:off x="548640" y="2468880"/>
            <a:ext cx="685800" cy="685800"/>
          </a:xfrm>
          <a:prstGeom prst="rect">
            <a:avLst/>
          </a:prstGeom>
          <a:noFill/>
          <a:ln/>
        </p:spPr>
        <p:txBody>
          <a:bodyPr wrap="square" lIns="0" tIns="0" rIns="0" bIns="0" rtlCol="0" anchor="ctr"/>
          <a:lstStyle/>
          <a:p>
            <a:pPr algn="ctr" indent="0" marL="0">
              <a:buNone/>
            </a:pPr>
            <a:r>
              <a:rPr lang="ja-JP" altLang="en-US" sz="2400" b="1" dirty="0">
                <a:solidFill>
                  <a:schemeClr val="tx1"/>
                </a:solidFill>
              </a:rPr>
              <a:t>2</a:t>
            </a:r>
            <a:endParaRPr lang="ja-JP" sz="2400" dirty="0"/>
          </a:p>
        </p:txBody>
      </p:sp>
      <p:sp>
        <p:nvSpPr>
          <p:cNvPr id="9" name="Text 6"/>
          <p:cNvSpPr txBox="1"/>
          <p:nvPr/>
        </p:nvSpPr>
        <p:spPr>
          <a:xfrm>
            <a:off x="1600200" y="2450592"/>
            <a:ext cx="4572000" cy="82296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テスト対象を</a:t>
            </a:r>
            <a:endParaRPr lang="ja-JP" sz="1500" dirty="0"/>
          </a:p>
          <a:p>
            <a:pPr indent="0" marL="0">
              <a:buNone/>
            </a:pPr>
            <a:r>
              <a:rPr lang="ja-JP" altLang="en-US" sz="1700" dirty="0">
                <a:solidFill>
                  <a:schemeClr val="tx2"/>
                </a:solidFill>
              </a:rPr>
              <a:t>動かす（DbJigu は関わらない）</a:t>
            </a:r>
            <a:endParaRPr lang="ja-JP" sz="1500" dirty="0"/>
          </a:p>
        </p:txBody>
      </p:sp>
      <p:sp>
        <p:nvSpPr>
          <p:cNvPr id="10" name="Shape 7"/>
          <p:cNvSpPr/>
          <p:nvPr/>
        </p:nvSpPr>
        <p:spPr>
          <a:xfrm>
            <a:off x="548640" y="3611880"/>
            <a:ext cx="685800" cy="685800"/>
          </a:xfrm>
          <a:prstGeom prst="ellipse">
            <a:avLst/>
          </a:prstGeom>
          <a:solidFill>
            <a:schemeClr val="accent1"/>
          </a:solidFill>
          <a:ln/>
        </p:spPr>
      </p:sp>
      <p:sp>
        <p:nvSpPr>
          <p:cNvPr id="11" name="Text 8"/>
          <p:cNvSpPr txBox="1"/>
          <p:nvPr/>
        </p:nvSpPr>
        <p:spPr>
          <a:xfrm>
            <a:off x="548640" y="3611880"/>
            <a:ext cx="685800" cy="685800"/>
          </a:xfrm>
          <a:prstGeom prst="rect">
            <a:avLst/>
          </a:prstGeom>
          <a:noFill/>
          <a:ln/>
        </p:spPr>
        <p:txBody>
          <a:bodyPr wrap="square" lIns="0" tIns="0" rIns="0" bIns="0" rtlCol="0" anchor="ctr"/>
          <a:lstStyle/>
          <a:p>
            <a:pPr algn="ctr" indent="0" marL="0">
              <a:buNone/>
            </a:pPr>
            <a:r>
              <a:rPr lang="ja-JP" altLang="en-US" sz="2400" b="1" dirty="0">
                <a:solidFill>
                  <a:schemeClr val="tx1"/>
                </a:solidFill>
              </a:rPr>
              <a:t>3</a:t>
            </a:r>
            <a:endParaRPr lang="ja-JP" sz="2400" dirty="0"/>
          </a:p>
        </p:txBody>
      </p:sp>
      <p:sp>
        <p:nvSpPr>
          <p:cNvPr id="12" name="Text 9"/>
          <p:cNvSpPr txBox="1"/>
          <p:nvPr/>
        </p:nvSpPr>
        <p:spPr>
          <a:xfrm>
            <a:off x="1600200" y="3593592"/>
            <a:ext cx="4572000" cy="82296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処理のあとに</a:t>
            </a:r>
            <a:endParaRPr lang="ja-JP" sz="1500" dirty="0"/>
          </a:p>
          <a:p>
            <a:pPr indent="0" marL="0">
              <a:buNone/>
            </a:pPr>
            <a:r>
              <a:rPr lang="ja-JP" altLang="en-US" sz="1700" dirty="0">
                <a:solidFill>
                  <a:schemeClr val="tx2"/>
                </a:solidFill>
              </a:rPr>
              <a:t>DB が期待どおりの状態かを確かめる</a:t>
            </a:r>
            <a:endParaRPr lang="ja-JP" sz="1500" dirty="0"/>
          </a:p>
        </p:txBody>
      </p:sp>
      <p:sp>
        <p:nvSpPr>
          <p:cNvPr id="13" name="Text 10"/>
          <p:cNvSpPr txBox="1"/>
          <p:nvPr/>
        </p:nvSpPr>
        <p:spPr>
          <a:xfrm>
            <a:off x="548640" y="4846320"/>
            <a:ext cx="5120640" cy="914400"/>
          </a:xfrm>
          <a:prstGeom prst="rect">
            <a:avLst/>
          </a:prstGeom>
          <a:noFill/>
          <a:ln/>
        </p:spPr>
        <p:txBody>
          <a:bodyPr wrap="square" lIns="0" tIns="0" rIns="0" bIns="0" rtlCol="0" anchor="t"/>
          <a:lstStyle/>
          <a:p>
            <a:pPr indent="0" marL="0">
              <a:buNone/>
            </a:pPr>
            <a:r>
              <a:rPr lang="ja-JP" altLang="en-US" sz="1600" b="1" dirty="0">
                <a:solidFill>
                  <a:schemeClr val="tx1"/>
                </a:solidFill>
              </a:rPr>
              <a:t>1 と 3 を、INSERT 文や比較のコードの代わりに、テキストのファイルで書きます。</a:t>
            </a:r>
            <a:endParaRPr lang="ja-JP" sz="1600" dirty="0"/>
          </a:p>
          <a:p>
            <a:pPr indent="0" marL="0">
              <a:buNone/>
            </a:pPr>
            <a:r>
              <a:rPr lang="ja-JP" altLang="en-US" sz="1400" dirty="0">
                <a:solidFill>
                  <a:schemeClr val="tx2"/>
                </a:solidFill>
              </a:rPr>
              <a:t>テーブルを作る手順（DDL）は、今までどおりです。</a:t>
            </a:r>
            <a:endParaRPr lang="ja-JP" sz="1600" dirty="0"/>
          </a:p>
        </p:txBody>
      </p:sp>
      <p:sp>
        <p:nvSpPr>
          <p:cNvPr id="14" name="Shape 11"/>
          <p:cNvSpPr/>
          <p:nvPr/>
        </p:nvSpPr>
        <p:spPr>
          <a:xfrm>
            <a:off x="6355080" y="1325880"/>
            <a:ext cx="2377440" cy="420624"/>
          </a:xfrm>
          <a:prstGeom prst="roundRect">
            <a:avLst>
              <a:gd name="adj" fmla="val 13043"/>
            </a:avLst>
          </a:prstGeom>
          <a:solidFill>
            <a:schemeClr val="tx2"/>
          </a:solidFill>
          <a:ln/>
        </p:spPr>
      </p:sp>
      <p:sp>
        <p:nvSpPr>
          <p:cNvPr id="15" name="Text 12"/>
          <p:cNvSpPr txBox="1"/>
          <p:nvPr/>
        </p:nvSpPr>
        <p:spPr>
          <a:xfrm>
            <a:off x="6492240" y="1325880"/>
            <a:ext cx="2194560" cy="310896"/>
          </a:xfrm>
          <a:prstGeom prst="rect">
            <a:avLst/>
          </a:prstGeom>
          <a:noFill/>
          <a:ln/>
        </p:spPr>
        <p:txBody>
          <a:bodyPr wrap="square" lIns="0" tIns="0" rIns="0" bIns="0" rtlCol="0" anchor="ctr"/>
          <a:lstStyle/>
          <a:p>
            <a:pPr indent="0" marL="0">
              <a:buNone/>
            </a:pPr>
            <a:r>
              <a:rPr lang="ja-JP" altLang="en-US" sz="1100" dirty="0">
                <a:solidFill>
                  <a:schemeClr val="bg1"/>
                </a:solidFill>
                <a:latin typeface="Consolas" pitchFamily="34" charset="0"/>
                <a:ea typeface="メイリオ" pitchFamily="34" charset="-122"/>
                <a:cs typeface="Consolas" pitchFamily="34" charset="-120"/>
              </a:rPr>
              <a:t>restock/expected.txt</a:t>
            </a:r>
            <a:endParaRPr lang="ja-JP" sz="1100" dirty="0"/>
          </a:p>
        </p:txBody>
      </p:sp>
      <p:sp>
        <p:nvSpPr>
          <p:cNvPr id="16" name="Shape 13"/>
          <p:cNvSpPr/>
          <p:nvPr/>
        </p:nvSpPr>
        <p:spPr>
          <a:xfrm>
            <a:off x="6355080" y="1636776"/>
            <a:ext cx="5287975" cy="1381760"/>
          </a:xfrm>
          <a:prstGeom prst="roundRect">
            <a:avLst>
              <a:gd name="adj" fmla="val 5294"/>
            </a:avLst>
          </a:prstGeom>
          <a:solidFill>
            <a:schemeClr val="tx1"/>
          </a:solidFill>
          <a:ln/>
        </p:spPr>
      </p:sp>
      <p:sp>
        <p:nvSpPr>
          <p:cNvPr id="17" name="Text 14"/>
          <p:cNvSpPr txBox="1"/>
          <p:nvPr/>
        </p:nvSpPr>
        <p:spPr>
          <a:xfrm>
            <a:off x="6537960" y="1819656"/>
            <a:ext cx="4922215" cy="1016000"/>
          </a:xfrm>
          <a:prstGeom prst="rect">
            <a:avLst/>
          </a:prstGeom>
          <a:noFill/>
          <a:ln/>
        </p:spPr>
        <p:txBody>
          <a:bodyPr wrap="square" lIns="0" tIns="0" rIns="0" bIns="0" rtlCol="0" anchor="t"/>
          <a:lstStyle/>
          <a:p>
            <a:pPr indent="0" marL="0">
              <a:lnSpc>
                <a:spcPct val="100000"/>
              </a:lnSpc>
              <a:buNone/>
            </a:pPr>
            <a:r>
              <a:rPr lang="ja-JP" altLang="en-US" sz="1600" b="1" dirty="0">
                <a:solidFill>
                  <a:schemeClr val="accent1"/>
                </a:solidFill>
                <a:latin typeface="Consolas" pitchFamily="34" charset="0"/>
                <a:ea typeface="メイリオ" pitchFamily="34" charset="-122"/>
                <a:cs typeface="Consolas" pitchFamily="34" charset="-120"/>
              </a:rPr>
              <a:t>[product]</a:t>
            </a:r>
            <a:endParaRPr lang="ja-JP" sz="1600" dirty="0"/>
          </a:p>
          <a:p>
            <a:pPr indent="0" marL="0">
              <a:lnSpc>
                <a:spcPct val="100000"/>
              </a:lnSpc>
              <a:buNone/>
            </a:pPr>
            <a:r>
              <a:rPr lang="ja-JP" altLang="en-US" sz="16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600" dirty="0">
                <a:solidFill>
                  <a:schemeClr val="accent4"/>
                </a:solidFill>
                <a:latin typeface="Consolas" pitchFamily="34" charset="0"/>
                <a:ea typeface="メイリオ" pitchFamily="34" charset="-122"/>
                <a:cs typeface="Consolas" pitchFamily="34" charset="-120"/>
              </a:rPr>
              <a:t>product_code</a:t>
            </a:r>
            <a:pPr indent="0" marL="0">
              <a:lnSpc>
                <a:spcPct val="100000"/>
              </a:lnSpc>
              <a:buNone/>
            </a:pPr>
            <a:r>
              <a:rPr lang="ja-JP" altLang="en-US" sz="16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600" dirty="0">
                <a:solidFill>
                  <a:schemeClr val="accent4"/>
                </a:solidFill>
                <a:latin typeface="Consolas" pitchFamily="34" charset="0"/>
                <a:ea typeface="メイリオ" pitchFamily="34" charset="-122"/>
                <a:cs typeface="Consolas" pitchFamily="34" charset="-120"/>
              </a:rPr>
              <a:t>stock</a:t>
            </a:r>
            <a:pPr indent="0" marL="0">
              <a:lnSpc>
                <a:spcPct val="100000"/>
              </a:lnSpc>
              <a:buNone/>
            </a:pPr>
            <a:r>
              <a:rPr lang="ja-JP" altLang="en-US" sz="1600" dirty="0">
                <a:solidFill>
                  <a:schemeClr val="accent5"/>
                </a:solidFill>
                <a:latin typeface="Consolas" pitchFamily="34" charset="0"/>
                <a:ea typeface="メイリオ" pitchFamily="34" charset="-122"/>
                <a:cs typeface="Consolas" pitchFamily="34" charset="-120"/>
              </a:rPr>
              <a:t>}</a:t>
            </a:r>
            <a:endParaRPr lang="ja-JP" sz="1600" dirty="0"/>
          </a:p>
          <a:p>
            <a:pPr indent="0" marL="0">
              <a:lnSpc>
                <a:spcPct val="100000"/>
              </a:lnSpc>
              <a:buNone/>
            </a:pPr>
            <a:r>
              <a:rPr lang="ja-JP" altLang="en-US" sz="1600" b="1" dirty="0">
                <a:solidFill>
                  <a:schemeClr val="bg1"/>
                </a:solidFill>
                <a:latin typeface="Consolas" pitchFamily="34" charset="0"/>
                <a:ea typeface="メイリオ" pitchFamily="34" charset="-122"/>
                <a:cs typeface="Consolas" pitchFamily="34" charset="-120"/>
              </a:rPr>
              <a:t>P001</a:t>
            </a:r>
            <a:pPr indent="0" marL="0">
              <a:lnSpc>
                <a:spcPct val="100000"/>
              </a:lnSpc>
              <a:buNone/>
            </a:pPr>
            <a:r>
              <a:rPr lang="ja-JP" altLang="en-US" sz="16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600" b="1" dirty="0">
                <a:solidFill>
                  <a:schemeClr val="bg1"/>
                </a:solidFill>
                <a:latin typeface="Consolas" pitchFamily="34" charset="0"/>
                <a:ea typeface="メイリオ" pitchFamily="34" charset="-122"/>
                <a:cs typeface="Consolas" pitchFamily="34" charset="-120"/>
              </a:rPr>
              <a:t>100</a:t>
            </a:r>
            <a:endParaRPr lang="ja-JP" sz="1600" dirty="0"/>
          </a:p>
          <a:p>
            <a:pPr indent="0" marL="0">
              <a:lnSpc>
                <a:spcPct val="100000"/>
              </a:lnSpc>
              <a:buNone/>
            </a:pPr>
            <a:r>
              <a:rPr lang="ja-JP" altLang="en-US" sz="1600" b="1" dirty="0">
                <a:solidFill>
                  <a:schemeClr val="bg1"/>
                </a:solidFill>
                <a:latin typeface="Consolas" pitchFamily="34" charset="0"/>
                <a:ea typeface="メイリオ" pitchFamily="34" charset="-122"/>
                <a:cs typeface="Consolas" pitchFamily="34" charset="-120"/>
              </a:rPr>
              <a:t>P002</a:t>
            </a:r>
            <a:pPr indent="0" marL="0">
              <a:lnSpc>
                <a:spcPct val="100000"/>
              </a:lnSpc>
              <a:buNone/>
            </a:pPr>
            <a:r>
              <a:rPr lang="ja-JP" altLang="en-US" sz="16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600" b="1" dirty="0">
                <a:solidFill>
                  <a:schemeClr val="bg1"/>
                </a:solidFill>
                <a:latin typeface="Consolas" pitchFamily="34" charset="0"/>
                <a:ea typeface="メイリオ" pitchFamily="34" charset="-122"/>
                <a:cs typeface="Consolas" pitchFamily="34" charset="-120"/>
              </a:rPr>
              <a:t>80</a:t>
            </a:r>
            <a:endParaRPr lang="ja-JP" sz="1600" dirty="0"/>
          </a:p>
        </p:txBody>
      </p:sp>
      <p:sp>
        <p:nvSpPr>
          <p:cNvPr id="18" name="Text 15"/>
          <p:cNvSpPr txBox="1"/>
          <p:nvPr/>
        </p:nvSpPr>
        <p:spPr>
          <a:xfrm>
            <a:off x="6355080" y="3201416"/>
            <a:ext cx="5287975" cy="822960"/>
          </a:xfrm>
          <a:prstGeom prst="rect">
            <a:avLst/>
          </a:prstGeom>
          <a:noFill/>
          <a:ln/>
        </p:spPr>
        <p:txBody>
          <a:bodyPr wrap="square" lIns="0" tIns="0" rIns="0" bIns="0" rtlCol="0" anchor="t"/>
          <a:lstStyle/>
          <a:p>
            <a:pPr indent="0" marL="0">
              <a:buNone/>
            </a:pPr>
            <a:r>
              <a:rPr lang="ja-JP" altLang="en-US" sz="1500" dirty="0">
                <a:solidFill>
                  <a:schemeClr val="tx2"/>
                </a:solidFill>
              </a:rPr>
              <a:t>例：入荷のあと、商品 P002 の在庫が 80 になっていることを確かめるファイル。1行目がテーブル名、2行目が列名、3行目からが値です。</a:t>
            </a:r>
            <a:endParaRPr lang="ja-JP" sz="1500" dirty="0"/>
          </a:p>
        </p:txBody>
      </p:sp>
      <p:sp>
        <p:nvSpPr>
          <p:cNvPr id="19" name="Shape 16"/>
          <p:cNvSpPr/>
          <p:nvPr/>
        </p:nvSpPr>
        <p:spPr>
          <a:xfrm>
            <a:off x="6355080" y="4572000"/>
            <a:ext cx="5287975" cy="1188720"/>
          </a:xfrm>
          <a:prstGeom prst="roundRect">
            <a:avLst>
              <a:gd name="adj" fmla="val 7692"/>
            </a:avLst>
          </a:prstGeom>
          <a:solidFill>
            <a:schemeClr val="bg2"/>
          </a:solidFill>
          <a:ln/>
        </p:spPr>
      </p:sp>
      <p:sp>
        <p:nvSpPr>
          <p:cNvPr id="20" name="Text 17"/>
          <p:cNvSpPr txBox="1"/>
          <p:nvPr/>
        </p:nvSpPr>
        <p:spPr>
          <a:xfrm>
            <a:off x="6675120" y="4709160"/>
            <a:ext cx="4647895" cy="960120"/>
          </a:xfrm>
          <a:prstGeom prst="rect">
            <a:avLst/>
          </a:prstGeom>
          <a:noFill/>
          <a:ln/>
        </p:spPr>
        <p:txBody>
          <a:bodyPr wrap="square" lIns="0" tIns="0" rIns="0" bIns="0" rtlCol="0" anchor="t"/>
          <a:lstStyle/>
          <a:p>
            <a:pPr indent="0" marL="0">
              <a:spcAft>
                <a:spcPts val="600"/>
              </a:spcAft>
              <a:buNone/>
            </a:pPr>
            <a:r>
              <a:rPr lang="ja-JP" altLang="en-US" sz="1600" b="1" dirty="0">
                <a:solidFill>
                  <a:schemeClr val="tx1"/>
                </a:solidFill>
              </a:rPr>
              <a:t>前提となる環境</a:t>
            </a:r>
            <a:endParaRPr lang="ja-JP" sz="1500" dirty="0"/>
          </a:p>
          <a:p>
            <a:pPr indent="0" marL="0">
              <a:buNone/>
            </a:pPr>
            <a:r>
              <a:rPr lang="ja-JP" altLang="en-US" sz="1500" dirty="0">
                <a:solidFill>
                  <a:schemeClr val="tx2"/>
                </a:solidFill>
              </a:rPr>
              <a:t>Java 17 以上と、JDBC で接続する DB（主に PostgreSQL。Oracle でも使われています）</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5</a:t>
            </a:fld>
            <a:endParaRPr lang="ja-JP"/>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機能と目的（1）データを書く</a:t>
            </a:r>
            <a:endParaRPr lang="ja-JP"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743200"/>
                <a:gridCol w="5120640"/>
                <a:gridCol w="3230575"/>
              </a:tblGrid>
              <a:tr h="457200">
                <a:tc>
                  <a:txBody>
                    <a:bodyPr/>
                    <a:lstStyle/>
                    <a:p>
                      <a:pPr indent="0" marL="0">
                        <a:buNone/>
                      </a:pPr>
                      <a:r>
                        <a:rPr lang="ja-JP" altLang="en-US" sz="1400" b="1" dirty="0">
                          <a:solidFill>
                            <a:schemeClr val="bg1"/>
                          </a:solidFill>
                        </a:rPr>
                        <a:t>機能</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何のためにあるか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効く状況</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r>
              <a:tr h="804672">
                <a:tc>
                  <a:txBody>
                    <a:bodyPr/>
                    <a:lstStyle/>
                    <a:p>
                      <a:pPr indent="0" marL="0">
                        <a:buNone/>
                      </a:pPr>
                      <a:r>
                        <a:rPr lang="ja-JP" altLang="en-US" sz="1400" b="1" dirty="0">
                          <a:solidFill>
                            <a:schemeClr val="tx1"/>
                          </a:solidFill>
                        </a:rPr>
                        <a:t>表の形のテキスト</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準備と確認のデータを、コードを読まずにレビューできるようにする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INSERT 文と確認のコード</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04672">
                <a:tc>
                  <a:txBody>
                    <a:bodyPr/>
                    <a:lstStyle/>
                    <a:p>
                      <a:pPr indent="0" marL="0">
                        <a:buNone/>
                      </a:pPr>
                      <a:r>
                        <a:rPr lang="ja-JP" altLang="en-US" sz="1400" b="1" dirty="0">
                          <a:solidFill>
                            <a:schemeClr val="tx1"/>
                          </a:solidFill>
                        </a:rPr>
                        <a:t>複数のテーブルを1ファイルに</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関係するテーブルのデータを並べて見て、テーブル間の整合を保つ</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ファイルが増える、テーブル間の食い違い</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04672">
                <a:tc>
                  <a:txBody>
                    <a:bodyPr/>
                    <a:lstStyle/>
                    <a:p>
                      <a:pPr indent="0" marL="0">
                        <a:buNone/>
                      </a:pPr>
                      <a:r>
                        <a:rPr lang="ja-JP" altLang="en-US" sz="1400" b="1" dirty="0">
                          <a:solidFill>
                            <a:schemeClr val="tx1"/>
                          </a:solidFill>
                        </a:rPr>
                        <a:t>パターン（番号・名前）</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1つのファイルに複数のケースを持たせ、JUnit のパラメータテストで同じテストを繰り返す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似たテストコードの重複、工数</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04672">
                <a:tc>
                  <a:txBody>
                    <a:bodyPr/>
                    <a:lstStyle/>
                    <a:p>
                      <a:pPr indent="0" marL="0">
                        <a:buNone/>
                      </a:pPr>
                      <a:r>
                        <a:rPr lang="ja-JP" altLang="en-US" sz="1400" b="1" dirty="0">
                          <a:solidFill>
                            <a:schemeClr val="tx1"/>
                          </a:solidFill>
                        </a:rPr>
                        <a:t>コメント（// の行）</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どのケースのためのデータかを、ファイルの中に残す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あとから意図が分からなくなる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04672">
                <a:tc>
                  <a:txBody>
                    <a:bodyPr/>
                    <a:lstStyle/>
                    <a:p>
                      <a:pPr indent="0" marL="0">
                        <a:buNone/>
                      </a:pPr>
                      <a:r>
                        <a:rPr lang="ja-JP" altLang="en-US" sz="1400" b="1" dirty="0">
                          <a:solidFill>
                            <a:schemeClr val="tx1"/>
                          </a:solidFill>
                        </a:rPr>
                        <a:t>比較の記号（比較しない、範囲など）</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日時のように毎回変わる値があっても、確かめたい列だけを比べる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実行のたびに結果が変わるテスト</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6</a:t>
            </a:fld>
            <a:endParaRPr lang="ja-JP"/>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工夫の例：投入と期待を並べて書く</a:t>
            </a:r>
            <a:endParaRPr lang="ja-JP" sz="3000" dirty="0"/>
          </a:p>
        </p:txBody>
      </p:sp>
      <p:sp>
        <p:nvSpPr>
          <p:cNvPr id="4" name="Shape 1"/>
          <p:cNvSpPr/>
          <p:nvPr/>
        </p:nvSpPr>
        <p:spPr>
          <a:xfrm>
            <a:off x="548640" y="1280160"/>
            <a:ext cx="2377440" cy="420624"/>
          </a:xfrm>
          <a:prstGeom prst="roundRect">
            <a:avLst>
              <a:gd name="adj" fmla="val 13043"/>
            </a:avLst>
          </a:prstGeom>
          <a:solidFill>
            <a:schemeClr val="tx2"/>
          </a:solidFill>
          <a:ln/>
        </p:spPr>
      </p:sp>
      <p:sp>
        <p:nvSpPr>
          <p:cNvPr id="5" name="Text 2"/>
          <p:cNvSpPr txBox="1"/>
          <p:nvPr/>
        </p:nvSpPr>
        <p:spPr>
          <a:xfrm>
            <a:off x="685800" y="1280160"/>
            <a:ext cx="2194560" cy="310896"/>
          </a:xfrm>
          <a:prstGeom prst="rect">
            <a:avLst/>
          </a:prstGeom>
          <a:noFill/>
          <a:ln/>
        </p:spPr>
        <p:txBody>
          <a:bodyPr wrap="square" lIns="0" tIns="0" rIns="0" bIns="0" rtlCol="0" anchor="ctr"/>
          <a:lstStyle/>
          <a:p>
            <a:pPr indent="0" marL="0">
              <a:buNone/>
            </a:pPr>
            <a:r>
              <a:rPr lang="ja-JP" altLang="en-US" sz="1100" dirty="0">
                <a:solidFill>
                  <a:schemeClr val="bg1"/>
                </a:solidFill>
                <a:latin typeface="Consolas" pitchFamily="34" charset="0"/>
                <a:ea typeface="メイリオ" pitchFamily="34" charset="-122"/>
                <a:cs typeface="Consolas" pitchFamily="34" charset="-120"/>
              </a:rPr>
              <a:t>cases.txt（例）</a:t>
            </a:r>
            <a:endParaRPr lang="ja-JP" sz="1100" dirty="0"/>
          </a:p>
        </p:txBody>
      </p:sp>
      <p:sp>
        <p:nvSpPr>
          <p:cNvPr id="6" name="Shape 3"/>
          <p:cNvSpPr/>
          <p:nvPr/>
        </p:nvSpPr>
        <p:spPr>
          <a:xfrm>
            <a:off x="548640" y="1591056"/>
            <a:ext cx="5120640" cy="1921510"/>
          </a:xfrm>
          <a:prstGeom prst="roundRect">
            <a:avLst>
              <a:gd name="adj" fmla="val 3807"/>
            </a:avLst>
          </a:prstGeom>
          <a:solidFill>
            <a:schemeClr val="tx1"/>
          </a:solidFill>
          <a:ln/>
        </p:spPr>
      </p:sp>
      <p:sp>
        <p:nvSpPr>
          <p:cNvPr id="7" name="Text 4"/>
          <p:cNvSpPr txBox="1"/>
          <p:nvPr/>
        </p:nvSpPr>
        <p:spPr>
          <a:xfrm>
            <a:off x="731520" y="1773936"/>
            <a:ext cx="4754880" cy="1555750"/>
          </a:xfrm>
          <a:prstGeom prst="rect">
            <a:avLst/>
          </a:prstGeom>
          <a:noFill/>
          <a:ln/>
        </p:spPr>
        <p:txBody>
          <a:bodyPr wrap="square" lIns="0" tIns="0" rIns="0" bIns="0" rtlCol="0" anchor="t"/>
          <a:lstStyle/>
          <a:p>
            <a:pPr indent="0" marL="0">
              <a:lnSpc>
                <a:spcPct val="100000"/>
              </a:lnSpc>
              <a:buNone/>
            </a:pPr>
            <a:r>
              <a:rPr lang="ja-JP" altLang="en-US" sz="1400" b="1" dirty="0">
                <a:solidFill>
                  <a:schemeClr val="accent1"/>
                </a:solidFill>
                <a:latin typeface="Consolas" pitchFamily="34" charset="0"/>
                <a:ea typeface="メイリオ" pitchFamily="34" charset="-122"/>
                <a:cs typeface="Consolas" pitchFamily="34" charset="-120"/>
              </a:rPr>
              <a:t>[product]</a:t>
            </a:r>
            <a:endParaRPr lang="ja-JP" sz="1400" dirty="0"/>
          </a:p>
          <a:p>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4"/>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4"/>
                </a:solidFill>
                <a:latin typeface="Consolas" pitchFamily="34" charset="0"/>
                <a:ea typeface="メイリオ" pitchFamily="34" charset="-122"/>
                <a:cs typeface="Consolas" pitchFamily="34" charset="-120"/>
              </a:rPr>
              <a:t>product_code</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4"/>
                </a:solidFill>
                <a:latin typeface="Consolas" pitchFamily="34" charset="0"/>
                <a:ea typeface="メイリオ" pitchFamily="34" charset="-122"/>
                <a:cs typeface="Consolas" pitchFamily="34" charset="-120"/>
              </a:rPr>
              <a:t>unit_price</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4"/>
                </a:solidFill>
                <a:latin typeface="Consolas" pitchFamily="34" charset="0"/>
                <a:ea typeface="メイリオ" pitchFamily="34" charset="-122"/>
                <a:cs typeface="Consolas" pitchFamily="34" charset="-120"/>
              </a:rPr>
              <a:t>stock</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dirty="0">
                <a:solidFill>
                  <a:schemeClr val="accent4"/>
                </a:solidFill>
                <a:latin typeface="Consolas" pitchFamily="34" charset="0"/>
                <a:ea typeface="メイリオ" pitchFamily="34" charset="-122"/>
                <a:cs typeface="Consolas" pitchFamily="34" charset="-120"/>
              </a:rPr>
              <a:t>product_name</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endParaRPr lang="ja-JP" sz="1400" dirty="0"/>
          </a:p>
          <a:p>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 入荷：P002 に 30 個入る</a:t>
            </a:r>
            <a:endParaRPr lang="ja-JP" sz="1400" dirty="0"/>
          </a:p>
          <a:p>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INPUT001 </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P001</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120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100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ボールペン</a:t>
            </a:r>
            <a:endParaRPr lang="ja-JP" sz="1400" dirty="0"/>
          </a:p>
          <a:p>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INPUT001 </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P002</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300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50 </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ノート</a:t>
            </a:r>
            <a:endParaRPr lang="ja-JP" sz="1400" dirty="0"/>
          </a:p>
          <a:p>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OUTPUT001</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P001</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120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100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ボールペン</a:t>
            </a:r>
            <a:endParaRPr lang="ja-JP" sz="1400" dirty="0"/>
          </a:p>
          <a:p>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OUTPUT001</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P002</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300</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80 </a:t>
            </a:r>
            <a:pPr indent="0" marL="0">
              <a:lnSpc>
                <a:spcPct val="100000"/>
              </a:lnSpc>
              <a:buNone/>
            </a:pPr>
            <a:r>
              <a:rPr lang="ja-JP" altLang="en-US" sz="1400" dirty="0">
                <a:solidFill>
                  <a:schemeClr val="accent5"/>
                </a:solidFill>
                <a:latin typeface="Consolas" pitchFamily="34" charset="0"/>
                <a:ea typeface="メイリオ" pitchFamily="34" charset="-122"/>
                <a:cs typeface="Consolas" pitchFamily="34" charset="-120"/>
              </a:rPr>
              <a:t>|</a:t>
            </a:r>
            <a:pPr indent="0" marL="0">
              <a:lnSpc>
                <a:spcPct val="100000"/>
              </a:lnSpc>
              <a:buNone/>
            </a:pPr>
            <a:r>
              <a:rPr lang="ja-JP" altLang="en-US" sz="1400" b="1" dirty="0">
                <a:solidFill>
                  <a:schemeClr val="bg1"/>
                </a:solidFill>
                <a:latin typeface="Consolas" pitchFamily="34" charset="0"/>
                <a:ea typeface="メイリオ" pitchFamily="34" charset="-122"/>
                <a:cs typeface="Consolas" pitchFamily="34" charset="-120"/>
              </a:rPr>
              <a:t>ノート</a:t>
            </a:r>
            <a:endParaRPr lang="ja-JP" sz="1400" dirty="0"/>
          </a:p>
        </p:txBody>
      </p:sp>
      <p:sp>
        <p:nvSpPr>
          <p:cNvPr id="8" name="Text 5"/>
          <p:cNvSpPr txBox="1"/>
          <p:nvPr/>
        </p:nvSpPr>
        <p:spPr>
          <a:xfrm>
            <a:off x="548640" y="3741166"/>
            <a:ext cx="5120640" cy="365760"/>
          </a:xfrm>
          <a:prstGeom prst="rect">
            <a:avLst/>
          </a:prstGeom>
          <a:noFill/>
          <a:ln/>
        </p:spPr>
        <p:txBody>
          <a:bodyPr wrap="square" lIns="0" tIns="0" rIns="0" bIns="0" rtlCol="0" anchor="t"/>
          <a:lstStyle/>
          <a:p>
            <a:pPr indent="0" marL="0">
              <a:buNone/>
            </a:pPr>
            <a:r>
              <a:rPr lang="ja-JP" altLang="en-US" sz="1400" dirty="0">
                <a:solidFill>
                  <a:schemeClr val="tx2"/>
                </a:solidFill>
              </a:rPr>
              <a:t>INPUT と OUTPUT の組を、パラメータテストの引数にします。</a:t>
            </a:r>
            <a:endParaRPr lang="ja-JP" sz="1400" dirty="0"/>
          </a:p>
        </p:txBody>
      </p:sp>
      <p:sp>
        <p:nvSpPr>
          <p:cNvPr id="9" name="Shape 6"/>
          <p:cNvSpPr/>
          <p:nvPr/>
        </p:nvSpPr>
        <p:spPr>
          <a:xfrm>
            <a:off x="548640" y="4152646"/>
            <a:ext cx="5120640" cy="777240"/>
          </a:xfrm>
          <a:prstGeom prst="roundRect">
            <a:avLst>
              <a:gd name="adj" fmla="val 7059"/>
            </a:avLst>
          </a:prstGeom>
          <a:solidFill>
            <a:schemeClr val="bg2"/>
          </a:solidFill>
          <a:ln/>
        </p:spPr>
      </p:sp>
      <p:sp>
        <p:nvSpPr>
          <p:cNvPr id="10" name="Text 7"/>
          <p:cNvSpPr txBox="1"/>
          <p:nvPr/>
        </p:nvSpPr>
        <p:spPr>
          <a:xfrm>
            <a:off x="731520" y="4152646"/>
            <a:ext cx="4846320" cy="777240"/>
          </a:xfrm>
          <a:prstGeom prst="rect">
            <a:avLst/>
          </a:prstGeom>
          <a:noFill/>
          <a:ln/>
        </p:spPr>
        <p:txBody>
          <a:bodyPr wrap="square" lIns="0" tIns="0" rIns="0" bIns="0" rtlCol="0" anchor="ctr"/>
          <a:lstStyle/>
          <a:p>
            <a:pPr indent="0" marL="0">
              <a:buNone/>
            </a:pPr>
            <a:r>
              <a:rPr lang="ja-JP" altLang="en-US" sz="1300" dirty="0">
                <a:solidFill>
                  <a:schemeClr val="tx1"/>
                </a:solidFill>
                <a:latin typeface="Consolas" pitchFamily="34" charset="0"/>
                <a:ea typeface="メイリオ" pitchFamily="34" charset="-122"/>
                <a:cs typeface="Consolas" pitchFamily="34" charset="-120"/>
              </a:rPr>
              <a:t>@CsvSource({"INPUT001, OUTPUT001",</a:t>
            </a:r>
            <a:endParaRPr lang="ja-JP" sz="1300" dirty="0"/>
          </a:p>
          <a:p>
            <a:pPr indent="0" marL="0">
              <a:buNone/>
            </a:pPr>
            <a:r>
              <a:rPr lang="ja-JP" altLang="en-US" sz="1300" dirty="0">
                <a:solidFill>
                  <a:schemeClr val="tx1"/>
                </a:solidFill>
                <a:latin typeface="Consolas" pitchFamily="34" charset="0"/>
                <a:ea typeface="メイリオ" pitchFamily="34" charset="-122"/>
                <a:cs typeface="Consolas" pitchFamily="34" charset="-120"/>
              </a:rPr>
              <a:t>            "INPUT002, OUTPUT002"})</a:t>
            </a:r>
            <a:endParaRPr lang="ja-JP" sz="1300" dirty="0"/>
          </a:p>
        </p:txBody>
      </p:sp>
      <p:sp>
        <p:nvSpPr>
          <p:cNvPr id="11" name="Shape 8"/>
          <p:cNvSpPr/>
          <p:nvPr/>
        </p:nvSpPr>
        <p:spPr>
          <a:xfrm>
            <a:off x="6355080" y="1280160"/>
            <a:ext cx="5287975" cy="1325880"/>
          </a:xfrm>
          <a:prstGeom prst="roundRect">
            <a:avLst>
              <a:gd name="adj" fmla="val 6897"/>
            </a:avLst>
          </a:prstGeom>
          <a:solidFill>
            <a:schemeClr val="bg2"/>
          </a:solidFill>
          <a:ln/>
        </p:spPr>
      </p:sp>
      <p:sp>
        <p:nvSpPr>
          <p:cNvPr id="12" name="Shape 9"/>
          <p:cNvSpPr/>
          <p:nvPr/>
        </p:nvSpPr>
        <p:spPr>
          <a:xfrm>
            <a:off x="6629400" y="1554480"/>
            <a:ext cx="457200" cy="457200"/>
          </a:xfrm>
          <a:prstGeom prst="ellipse">
            <a:avLst/>
          </a:prstGeom>
          <a:solidFill>
            <a:schemeClr val="accent1"/>
          </a:solidFill>
          <a:ln/>
        </p:spPr>
      </p:sp>
      <p:sp>
        <p:nvSpPr>
          <p:cNvPr id="13" name="Text 10"/>
          <p:cNvSpPr txBox="1"/>
          <p:nvPr/>
        </p:nvSpPr>
        <p:spPr>
          <a:xfrm>
            <a:off x="6629400" y="1554480"/>
            <a:ext cx="457200" cy="457200"/>
          </a:xfrm>
          <a:prstGeom prst="rect">
            <a:avLst/>
          </a:prstGeom>
          <a:noFill/>
          <a:ln/>
        </p:spPr>
        <p:txBody>
          <a:bodyPr wrap="square" lIns="0" tIns="0" rIns="0" bIns="0" rtlCol="0" anchor="ctr"/>
          <a:lstStyle/>
          <a:p>
            <a:pPr algn="ctr" indent="0" marL="0">
              <a:buNone/>
            </a:pPr>
            <a:r>
              <a:rPr lang="ja-JP" altLang="en-US" sz="1600" b="1" dirty="0">
                <a:solidFill>
                  <a:schemeClr val="tx1"/>
                </a:solidFill>
              </a:rPr>
              <a:t>1</a:t>
            </a:r>
            <a:endParaRPr lang="ja-JP" sz="1600" dirty="0"/>
          </a:p>
        </p:txBody>
      </p:sp>
      <p:sp>
        <p:nvSpPr>
          <p:cNvPr id="14" name="Text 11"/>
          <p:cNvSpPr txBox="1"/>
          <p:nvPr/>
        </p:nvSpPr>
        <p:spPr>
          <a:xfrm>
            <a:off x="7315200" y="1536192"/>
            <a:ext cx="4053535" cy="1005840"/>
          </a:xfrm>
          <a:prstGeom prst="rect">
            <a:avLst/>
          </a:prstGeom>
          <a:noFill/>
          <a:ln/>
        </p:spPr>
        <p:txBody>
          <a:bodyPr wrap="square" lIns="0" tIns="0" rIns="0" bIns="0" rtlCol="0" anchor="t"/>
          <a:lstStyle/>
          <a:p>
            <a:pPr indent="0" marL="0">
              <a:spcAft>
                <a:spcPts val="600"/>
              </a:spcAft>
              <a:buNone/>
            </a:pPr>
            <a:r>
              <a:rPr lang="ja-JP" altLang="en-US" sz="1600" b="1" dirty="0">
                <a:solidFill>
                  <a:schemeClr val="tx1"/>
                </a:solidFill>
              </a:rPr>
              <a:t>投入は INPUT001、確認は OUTPUT001</a:t>
            </a:r>
            <a:endParaRPr lang="ja-JP" sz="1500" dirty="0"/>
          </a:p>
          <a:p>
            <a:pPr indent="0" marL="0">
              <a:buNone/>
            </a:pPr>
            <a:r>
              <a:rPr lang="ja-JP" altLang="en-US" sz="1400" dirty="0">
                <a:solidFill>
                  <a:schemeClr val="tx2"/>
                </a:solidFill>
              </a:rPr>
              <a:t>テストでは、投入するときと確かめるときに、別のパターン名を渡します。</a:t>
            </a:r>
            <a:endParaRPr lang="ja-JP" sz="1500" dirty="0"/>
          </a:p>
        </p:txBody>
      </p:sp>
      <p:sp>
        <p:nvSpPr>
          <p:cNvPr id="15" name="Shape 12"/>
          <p:cNvSpPr/>
          <p:nvPr/>
        </p:nvSpPr>
        <p:spPr>
          <a:xfrm>
            <a:off x="6355080" y="2788920"/>
            <a:ext cx="5287975" cy="1325880"/>
          </a:xfrm>
          <a:prstGeom prst="roundRect">
            <a:avLst>
              <a:gd name="adj" fmla="val 6897"/>
            </a:avLst>
          </a:prstGeom>
          <a:solidFill>
            <a:schemeClr val="bg2"/>
          </a:solidFill>
          <a:ln/>
        </p:spPr>
      </p:sp>
      <p:sp>
        <p:nvSpPr>
          <p:cNvPr id="16" name="Shape 13"/>
          <p:cNvSpPr/>
          <p:nvPr/>
        </p:nvSpPr>
        <p:spPr>
          <a:xfrm>
            <a:off x="6629400" y="3063240"/>
            <a:ext cx="457200" cy="457200"/>
          </a:xfrm>
          <a:prstGeom prst="ellipse">
            <a:avLst/>
          </a:prstGeom>
          <a:solidFill>
            <a:schemeClr val="accent1"/>
          </a:solidFill>
          <a:ln/>
        </p:spPr>
      </p:sp>
      <p:sp>
        <p:nvSpPr>
          <p:cNvPr id="17" name="Text 14"/>
          <p:cNvSpPr txBox="1"/>
          <p:nvPr/>
        </p:nvSpPr>
        <p:spPr>
          <a:xfrm>
            <a:off x="6629400" y="3063240"/>
            <a:ext cx="457200" cy="457200"/>
          </a:xfrm>
          <a:prstGeom prst="rect">
            <a:avLst/>
          </a:prstGeom>
          <a:noFill/>
          <a:ln/>
        </p:spPr>
        <p:txBody>
          <a:bodyPr wrap="square" lIns="0" tIns="0" rIns="0" bIns="0" rtlCol="0" anchor="ctr"/>
          <a:lstStyle/>
          <a:p>
            <a:pPr algn="ctr" indent="0" marL="0">
              <a:buNone/>
            </a:pPr>
            <a:r>
              <a:rPr lang="ja-JP" altLang="en-US" sz="1600" b="1" dirty="0">
                <a:solidFill>
                  <a:schemeClr val="tx1"/>
                </a:solidFill>
              </a:rPr>
              <a:t>2</a:t>
            </a:r>
            <a:endParaRPr lang="ja-JP" sz="1600" dirty="0"/>
          </a:p>
        </p:txBody>
      </p:sp>
      <p:sp>
        <p:nvSpPr>
          <p:cNvPr id="18" name="Text 15"/>
          <p:cNvSpPr txBox="1"/>
          <p:nvPr/>
        </p:nvSpPr>
        <p:spPr>
          <a:xfrm>
            <a:off x="7315200" y="3044952"/>
            <a:ext cx="4053535" cy="1005840"/>
          </a:xfrm>
          <a:prstGeom prst="rect">
            <a:avLst/>
          </a:prstGeom>
          <a:noFill/>
          <a:ln/>
        </p:spPr>
        <p:txBody>
          <a:bodyPr wrap="square" lIns="0" tIns="0" rIns="0" bIns="0" rtlCol="0" anchor="t"/>
          <a:lstStyle/>
          <a:p>
            <a:pPr indent="0" marL="0">
              <a:spcAft>
                <a:spcPts val="600"/>
              </a:spcAft>
              <a:buNone/>
            </a:pPr>
            <a:r>
              <a:rPr lang="ja-JP" altLang="en-US" sz="1600" b="1" dirty="0">
                <a:solidFill>
                  <a:schemeClr val="tx1"/>
                </a:solidFill>
              </a:rPr>
              <a:t>変わる値がひと目で分かる</a:t>
            </a:r>
            <a:endParaRPr lang="ja-JP" sz="1500" dirty="0"/>
          </a:p>
          <a:p>
            <a:pPr indent="0" marL="0">
              <a:buNone/>
            </a:pPr>
            <a:r>
              <a:rPr lang="ja-JP" altLang="en-US" sz="1400" dirty="0">
                <a:solidFill>
                  <a:schemeClr val="tx2"/>
                </a:solidFill>
              </a:rPr>
              <a:t>上下に並ぶので、処理で変わる値（P002 の在庫 50 → 80）を見比べやすくなります。</a:t>
            </a:r>
            <a:endParaRPr lang="ja-JP" sz="1500" dirty="0"/>
          </a:p>
        </p:txBody>
      </p:sp>
      <p:sp>
        <p:nvSpPr>
          <p:cNvPr id="19" name="Shape 16"/>
          <p:cNvSpPr/>
          <p:nvPr/>
        </p:nvSpPr>
        <p:spPr>
          <a:xfrm>
            <a:off x="6355080" y="4297680"/>
            <a:ext cx="5287975" cy="1325880"/>
          </a:xfrm>
          <a:prstGeom prst="roundRect">
            <a:avLst>
              <a:gd name="adj" fmla="val 6897"/>
            </a:avLst>
          </a:prstGeom>
          <a:solidFill>
            <a:schemeClr val="bg2"/>
          </a:solidFill>
          <a:ln/>
        </p:spPr>
      </p:sp>
      <p:sp>
        <p:nvSpPr>
          <p:cNvPr id="20" name="Shape 17"/>
          <p:cNvSpPr/>
          <p:nvPr/>
        </p:nvSpPr>
        <p:spPr>
          <a:xfrm>
            <a:off x="6629400" y="4572000"/>
            <a:ext cx="457200" cy="457200"/>
          </a:xfrm>
          <a:prstGeom prst="ellipse">
            <a:avLst/>
          </a:prstGeom>
          <a:solidFill>
            <a:schemeClr val="accent1"/>
          </a:solidFill>
          <a:ln/>
        </p:spPr>
      </p:sp>
      <p:sp>
        <p:nvSpPr>
          <p:cNvPr id="21" name="Text 18"/>
          <p:cNvSpPr txBox="1"/>
          <p:nvPr/>
        </p:nvSpPr>
        <p:spPr>
          <a:xfrm>
            <a:off x="6629400" y="4572000"/>
            <a:ext cx="457200" cy="457200"/>
          </a:xfrm>
          <a:prstGeom prst="rect">
            <a:avLst/>
          </a:prstGeom>
          <a:noFill/>
          <a:ln/>
        </p:spPr>
        <p:txBody>
          <a:bodyPr wrap="square" lIns="0" tIns="0" rIns="0" bIns="0" rtlCol="0" anchor="ctr"/>
          <a:lstStyle/>
          <a:p>
            <a:pPr algn="ctr" indent="0" marL="0">
              <a:buNone/>
            </a:pPr>
            <a:r>
              <a:rPr lang="ja-JP" altLang="en-US" sz="1600" b="1" dirty="0">
                <a:solidFill>
                  <a:schemeClr val="tx1"/>
                </a:solidFill>
              </a:rPr>
              <a:t>3</a:t>
            </a:r>
            <a:endParaRPr lang="ja-JP" sz="1600" dirty="0"/>
          </a:p>
        </p:txBody>
      </p:sp>
      <p:sp>
        <p:nvSpPr>
          <p:cNvPr id="22" name="Text 19"/>
          <p:cNvSpPr txBox="1"/>
          <p:nvPr/>
        </p:nvSpPr>
        <p:spPr>
          <a:xfrm>
            <a:off x="7315200" y="4553712"/>
            <a:ext cx="4053535" cy="1005840"/>
          </a:xfrm>
          <a:prstGeom prst="rect">
            <a:avLst/>
          </a:prstGeom>
          <a:noFill/>
          <a:ln/>
        </p:spPr>
        <p:txBody>
          <a:bodyPr wrap="square" lIns="0" tIns="0" rIns="0" bIns="0" rtlCol="0" anchor="t"/>
          <a:lstStyle/>
          <a:p>
            <a:pPr indent="0" marL="0">
              <a:spcAft>
                <a:spcPts val="600"/>
              </a:spcAft>
              <a:buNone/>
            </a:pPr>
            <a:r>
              <a:rPr lang="ja-JP" altLang="en-US" sz="1600" b="1" dirty="0">
                <a:solidFill>
                  <a:schemeClr val="tx1"/>
                </a:solidFill>
              </a:rPr>
              <a:t>ケースを足すのは行を足すだけ</a:t>
            </a:r>
            <a:endParaRPr lang="ja-JP" sz="1500" dirty="0"/>
          </a:p>
          <a:p>
            <a:pPr indent="0" marL="0">
              <a:buNone/>
            </a:pPr>
            <a:r>
              <a:rPr lang="ja-JP" altLang="en-US" sz="1400" dirty="0">
                <a:solidFill>
                  <a:schemeClr val="tx2"/>
                </a:solidFill>
              </a:rPr>
              <a:t>INPUT002 と OUTPUT002 の行を書き、引数を1つ足せば、テストのコードはそのままです。</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7</a:t>
            </a:fld>
            <a:endParaRPr lang="ja-JP"/>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機能と目的（2）テストを動かし、続ける</a:t>
            </a:r>
            <a:endParaRPr lang="ja-JP" sz="3000" dirty="0"/>
          </a:p>
        </p:txBody>
      </p:sp>
      <p:sp>
        <p:nvSpPr>
          <p:cNvPr id="4" name="Shape 1"/>
          <p:cNvSpPr/>
          <p:nvPr/>
        </p:nvSpPr>
        <p:spPr>
          <a:xfrm>
            <a:off x="548640" y="1234440"/>
            <a:ext cx="5364328" cy="2148840"/>
          </a:xfrm>
          <a:prstGeom prst="roundRect">
            <a:avLst>
              <a:gd name="adj" fmla="val 4255"/>
            </a:avLst>
          </a:prstGeom>
          <a:solidFill>
            <a:schemeClr val="bg2"/>
          </a:solidFill>
          <a:ln/>
        </p:spPr>
      </p:sp>
      <p:sp>
        <p:nvSpPr>
          <p:cNvPr id="5" name="Shape 2"/>
          <p:cNvSpPr/>
          <p:nvPr/>
        </p:nvSpPr>
        <p:spPr>
          <a:xfrm>
            <a:off x="868680" y="1554480"/>
            <a:ext cx="502920" cy="502920"/>
          </a:xfrm>
          <a:prstGeom prst="ellipse">
            <a:avLst/>
          </a:prstGeom>
          <a:solidFill>
            <a:schemeClr val="accent2"/>
          </a:solidFill>
          <a:ln/>
        </p:spPr>
      </p:sp>
      <p:sp>
        <p:nvSpPr>
          <p:cNvPr id="6" name="Text 3"/>
          <p:cNvSpPr txBox="1"/>
          <p:nvPr/>
        </p:nvSpPr>
        <p:spPr>
          <a:xfrm>
            <a:off x="868680" y="155448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7" name="Text 4"/>
          <p:cNvSpPr txBox="1"/>
          <p:nvPr/>
        </p:nvSpPr>
        <p:spPr>
          <a:xfrm>
            <a:off x="1600200" y="1581912"/>
            <a:ext cx="3992728" cy="160020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テストのロールバックで元に戻る</a:t>
            </a:r>
            <a:endParaRPr lang="ja-JP" sz="1500" dirty="0"/>
          </a:p>
          <a:p>
            <a:pPr indent="0" marL="0">
              <a:buNone/>
            </a:pPr>
            <a:r>
              <a:rPr lang="ja-JP" altLang="en-US" sz="1500" dirty="0">
                <a:solidFill>
                  <a:schemeClr val="tx2"/>
                </a:solidFill>
              </a:rPr>
              <a:t>投入したデータが次のテストや共有の DB に残らないので、何度でも同じ条件で動かせます。</a:t>
            </a:r>
            <a:endParaRPr lang="ja-JP" sz="1500" dirty="0"/>
          </a:p>
        </p:txBody>
      </p:sp>
      <p:sp>
        <p:nvSpPr>
          <p:cNvPr id="8" name="Shape 5"/>
          <p:cNvSpPr/>
          <p:nvPr/>
        </p:nvSpPr>
        <p:spPr>
          <a:xfrm>
            <a:off x="6278728" y="1234440"/>
            <a:ext cx="5364328" cy="2148840"/>
          </a:xfrm>
          <a:prstGeom prst="roundRect">
            <a:avLst>
              <a:gd name="adj" fmla="val 4255"/>
            </a:avLst>
          </a:prstGeom>
          <a:solidFill>
            <a:schemeClr val="bg2"/>
          </a:solidFill>
          <a:ln/>
        </p:spPr>
      </p:sp>
      <p:sp>
        <p:nvSpPr>
          <p:cNvPr id="9" name="Shape 6"/>
          <p:cNvSpPr/>
          <p:nvPr/>
        </p:nvSpPr>
        <p:spPr>
          <a:xfrm>
            <a:off x="6598768" y="1554480"/>
            <a:ext cx="502920" cy="502920"/>
          </a:xfrm>
          <a:prstGeom prst="ellipse">
            <a:avLst/>
          </a:prstGeom>
          <a:solidFill>
            <a:schemeClr val="accent2"/>
          </a:solidFill>
          <a:ln/>
        </p:spPr>
      </p:sp>
      <p:sp>
        <p:nvSpPr>
          <p:cNvPr id="10" name="Text 7"/>
          <p:cNvSpPr txBox="1"/>
          <p:nvPr/>
        </p:nvSpPr>
        <p:spPr>
          <a:xfrm>
            <a:off x="6598768" y="155448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11" name="Text 8"/>
          <p:cNvSpPr txBox="1"/>
          <p:nvPr/>
        </p:nvSpPr>
        <p:spPr>
          <a:xfrm>
            <a:off x="7330288" y="1581912"/>
            <a:ext cx="3992728" cy="160020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失敗したときに原因を示す</a:t>
            </a:r>
            <a:endParaRPr lang="ja-JP" sz="1500" dirty="0"/>
          </a:p>
          <a:p>
            <a:pPr indent="0" marL="0">
              <a:buNone/>
            </a:pPr>
            <a:r>
              <a:rPr lang="ja-JP" altLang="en-US" sz="1500" dirty="0">
                <a:solidFill>
                  <a:schemeClr val="tx2"/>
                </a:solidFill>
              </a:rPr>
              <a:t>どのファイルの何行目が、どの列で違ったかを表示します。書き間違いはエラーになり、気づかずに成功することはありません。</a:t>
            </a:r>
            <a:endParaRPr lang="ja-JP" sz="1500" dirty="0"/>
          </a:p>
        </p:txBody>
      </p:sp>
      <p:sp>
        <p:nvSpPr>
          <p:cNvPr id="12" name="Shape 9"/>
          <p:cNvSpPr/>
          <p:nvPr/>
        </p:nvSpPr>
        <p:spPr>
          <a:xfrm>
            <a:off x="548640" y="3657600"/>
            <a:ext cx="5364328" cy="2148840"/>
          </a:xfrm>
          <a:prstGeom prst="roundRect">
            <a:avLst>
              <a:gd name="adj" fmla="val 4255"/>
            </a:avLst>
          </a:prstGeom>
          <a:solidFill>
            <a:schemeClr val="bg2"/>
          </a:solidFill>
          <a:ln/>
        </p:spPr>
      </p:sp>
      <p:sp>
        <p:nvSpPr>
          <p:cNvPr id="13" name="Shape 10"/>
          <p:cNvSpPr/>
          <p:nvPr/>
        </p:nvSpPr>
        <p:spPr>
          <a:xfrm>
            <a:off x="868680" y="3977640"/>
            <a:ext cx="502920" cy="502920"/>
          </a:xfrm>
          <a:prstGeom prst="ellipse">
            <a:avLst/>
          </a:prstGeom>
          <a:solidFill>
            <a:schemeClr val="accent2"/>
          </a:solidFill>
          <a:ln/>
        </p:spPr>
      </p:sp>
      <p:sp>
        <p:nvSpPr>
          <p:cNvPr id="14" name="Text 11"/>
          <p:cNvSpPr txBox="1"/>
          <p:nvPr/>
        </p:nvSpPr>
        <p:spPr>
          <a:xfrm>
            <a:off x="868680" y="397764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15" name="Text 12"/>
          <p:cNvSpPr txBox="1"/>
          <p:nvPr/>
        </p:nvSpPr>
        <p:spPr>
          <a:xfrm>
            <a:off x="1600200" y="4005072"/>
            <a:ext cx="3992728" cy="160020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1ファイルで、テスト専用</a:t>
            </a:r>
            <a:endParaRPr lang="ja-JP" sz="1500" dirty="0"/>
          </a:p>
          <a:p>
            <a:pPr indent="0" marL="0">
              <a:buNone/>
            </a:pPr>
            <a:r>
              <a:rPr lang="ja-JP" altLang="en-US" sz="1500" dirty="0">
                <a:solidFill>
                  <a:schemeClr val="tx2"/>
                </a:solidFill>
              </a:rPr>
              <a:t>依存するライブラリを増やさずに導入でき、リリースする成果物に影響しません。約900行なので、中身を確かめられます。</a:t>
            </a:r>
            <a:endParaRPr lang="ja-JP" sz="1500" dirty="0"/>
          </a:p>
        </p:txBody>
      </p:sp>
      <p:sp>
        <p:nvSpPr>
          <p:cNvPr id="16" name="Shape 13"/>
          <p:cNvSpPr/>
          <p:nvPr/>
        </p:nvSpPr>
        <p:spPr>
          <a:xfrm>
            <a:off x="6278728" y="3657600"/>
            <a:ext cx="5364328" cy="2148840"/>
          </a:xfrm>
          <a:prstGeom prst="roundRect">
            <a:avLst>
              <a:gd name="adj" fmla="val 4255"/>
            </a:avLst>
          </a:prstGeom>
          <a:solidFill>
            <a:schemeClr val="bg2"/>
          </a:solidFill>
          <a:ln/>
        </p:spPr>
      </p:sp>
      <p:sp>
        <p:nvSpPr>
          <p:cNvPr id="17" name="Shape 14"/>
          <p:cNvSpPr/>
          <p:nvPr/>
        </p:nvSpPr>
        <p:spPr>
          <a:xfrm>
            <a:off x="6598768" y="3977640"/>
            <a:ext cx="502920" cy="502920"/>
          </a:xfrm>
          <a:prstGeom prst="ellipse">
            <a:avLst/>
          </a:prstGeom>
          <a:solidFill>
            <a:schemeClr val="accent2"/>
          </a:solidFill>
          <a:ln/>
        </p:spPr>
      </p:sp>
      <p:sp>
        <p:nvSpPr>
          <p:cNvPr id="18" name="Text 15"/>
          <p:cNvSpPr txBox="1"/>
          <p:nvPr/>
        </p:nvSpPr>
        <p:spPr>
          <a:xfrm>
            <a:off x="6598768" y="397764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19" name="Text 16"/>
          <p:cNvSpPr txBox="1"/>
          <p:nvPr/>
        </p:nvSpPr>
        <p:spPr>
          <a:xfrm>
            <a:off x="7330288" y="4005072"/>
            <a:ext cx="3992728" cy="1600200"/>
          </a:xfrm>
          <a:prstGeom prst="rect">
            <a:avLst/>
          </a:prstGeom>
          <a:noFill/>
          <a:ln/>
        </p:spPr>
        <p:txBody>
          <a:bodyPr wrap="square" lIns="0" tIns="0" rIns="0" bIns="0" rtlCol="0" anchor="t"/>
          <a:lstStyle/>
          <a:p>
            <a:pPr indent="0" marL="0">
              <a:spcAft>
                <a:spcPts val="600"/>
              </a:spcAft>
              <a:buNone/>
            </a:pPr>
            <a:r>
              <a:rPr lang="ja-JP" altLang="en-US" sz="1800" b="1" dirty="0">
                <a:solidFill>
                  <a:schemeClr val="tx1"/>
                </a:solidFill>
              </a:rPr>
              <a:t>フィクスチャエディタ</a:t>
            </a:r>
            <a:endParaRPr lang="ja-JP" sz="1500" dirty="0"/>
          </a:p>
          <a:p>
            <a:pPr indent="0" marL="0">
              <a:buNone/>
            </a:pPr>
            <a:r>
              <a:rPr lang="ja-JP" altLang="en-US" sz="1500" dirty="0">
                <a:solidFill>
                  <a:schemeClr val="tx2"/>
                </a:solidFill>
              </a:rPr>
              <a:t>Excel からの貼り付け、DDL を取り込んでの列の展開や型の確認で、作る手間を減らします。ブラウザで開くだけで使え、ネットワークには接続しません。</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8</a:t>
            </a:fld>
            <a:endParaRPr lang="ja-JP"/>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使いどころ</a:t>
            </a:r>
            <a:endParaRPr lang="ja-JP" sz="3000" dirty="0"/>
          </a:p>
        </p:txBody>
      </p:sp>
      <p:sp>
        <p:nvSpPr>
          <p:cNvPr id="4" name="Shape 1"/>
          <p:cNvSpPr/>
          <p:nvPr/>
        </p:nvSpPr>
        <p:spPr>
          <a:xfrm>
            <a:off x="548640" y="1234440"/>
            <a:ext cx="2567864" cy="3108960"/>
          </a:xfrm>
          <a:prstGeom prst="roundRect">
            <a:avLst>
              <a:gd name="adj" fmla="val 3561"/>
            </a:avLst>
          </a:prstGeom>
          <a:solidFill>
            <a:schemeClr val="bg2"/>
          </a:solidFill>
          <a:ln/>
        </p:spPr>
      </p:sp>
      <p:sp>
        <p:nvSpPr>
          <p:cNvPr id="5" name="Shape 2"/>
          <p:cNvSpPr/>
          <p:nvPr/>
        </p:nvSpPr>
        <p:spPr>
          <a:xfrm>
            <a:off x="868680" y="1508760"/>
            <a:ext cx="548640" cy="548640"/>
          </a:xfrm>
          <a:prstGeom prst="ellipse">
            <a:avLst/>
          </a:prstGeom>
          <a:solidFill>
            <a:schemeClr val="accent1"/>
          </a:solidFill>
          <a:ln/>
        </p:spPr>
      </p:sp>
      <p:sp>
        <p:nvSpPr>
          <p:cNvPr id="6" name="Text 3"/>
          <p:cNvSpPr txBox="1"/>
          <p:nvPr/>
        </p:nvSpPr>
        <p:spPr>
          <a:xfrm>
            <a:off x="868680" y="1508760"/>
            <a:ext cx="548640" cy="548640"/>
          </a:xfrm>
          <a:prstGeom prst="rect">
            <a:avLst/>
          </a:prstGeom>
          <a:noFill/>
          <a:ln/>
        </p:spPr>
        <p:txBody>
          <a:bodyPr wrap="square" lIns="0" tIns="0" rIns="0" bIns="0" rtlCol="0" anchor="ctr"/>
          <a:lstStyle/>
          <a:p>
            <a:pPr algn="ctr" indent="0" marL="0">
              <a:buNone/>
            </a:pPr>
            <a:r>
              <a:rPr lang="ja-JP" altLang="en-US" sz="1800" b="1" dirty="0">
                <a:solidFill>
                  <a:schemeClr val="tx1"/>
                </a:solidFill>
              </a:rPr>
              <a:t>1</a:t>
            </a:r>
            <a:endParaRPr lang="ja-JP" sz="1800" dirty="0"/>
          </a:p>
        </p:txBody>
      </p:sp>
      <p:sp>
        <p:nvSpPr>
          <p:cNvPr id="7" name="Text 4"/>
          <p:cNvSpPr txBox="1"/>
          <p:nvPr/>
        </p:nvSpPr>
        <p:spPr>
          <a:xfrm>
            <a:off x="868680" y="2286000"/>
            <a:ext cx="1927784" cy="192024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バージョンアップ</a:t>
            </a:r>
            <a:endParaRPr lang="ja-JP" sz="1500" dirty="0"/>
          </a:p>
          <a:p>
            <a:pPr indent="0" marL="0">
              <a:buNone/>
            </a:pPr>
            <a:r>
              <a:rPr lang="ja-JP" altLang="en-US" sz="1400" dirty="0">
                <a:solidFill>
                  <a:schemeClr val="tx2"/>
                </a:solidFill>
              </a:rPr>
              <a:t>Java やフレームワークの版を上げたとき、残したテストを流して、壊れた箇所を見つけます。</a:t>
            </a:r>
            <a:endParaRPr lang="ja-JP" sz="1500" dirty="0"/>
          </a:p>
        </p:txBody>
      </p:sp>
      <p:sp>
        <p:nvSpPr>
          <p:cNvPr id="8" name="Shape 5"/>
          <p:cNvSpPr/>
          <p:nvPr/>
        </p:nvSpPr>
        <p:spPr>
          <a:xfrm>
            <a:off x="3390824" y="1234440"/>
            <a:ext cx="2567864" cy="3108960"/>
          </a:xfrm>
          <a:prstGeom prst="roundRect">
            <a:avLst>
              <a:gd name="adj" fmla="val 3561"/>
            </a:avLst>
          </a:prstGeom>
          <a:solidFill>
            <a:schemeClr val="bg2"/>
          </a:solidFill>
          <a:ln/>
        </p:spPr>
      </p:sp>
      <p:sp>
        <p:nvSpPr>
          <p:cNvPr id="9" name="Shape 6"/>
          <p:cNvSpPr/>
          <p:nvPr/>
        </p:nvSpPr>
        <p:spPr>
          <a:xfrm>
            <a:off x="3710864" y="1508760"/>
            <a:ext cx="548640" cy="548640"/>
          </a:xfrm>
          <a:prstGeom prst="ellipse">
            <a:avLst/>
          </a:prstGeom>
          <a:solidFill>
            <a:schemeClr val="accent1"/>
          </a:solidFill>
          <a:ln/>
        </p:spPr>
      </p:sp>
      <p:sp>
        <p:nvSpPr>
          <p:cNvPr id="10" name="Text 7"/>
          <p:cNvSpPr txBox="1"/>
          <p:nvPr/>
        </p:nvSpPr>
        <p:spPr>
          <a:xfrm>
            <a:off x="3710864" y="1508760"/>
            <a:ext cx="548640" cy="548640"/>
          </a:xfrm>
          <a:prstGeom prst="rect">
            <a:avLst/>
          </a:prstGeom>
          <a:noFill/>
          <a:ln/>
        </p:spPr>
        <p:txBody>
          <a:bodyPr wrap="square" lIns="0" tIns="0" rIns="0" bIns="0" rtlCol="0" anchor="ctr"/>
          <a:lstStyle/>
          <a:p>
            <a:pPr algn="ctr" indent="0" marL="0">
              <a:buNone/>
            </a:pPr>
            <a:r>
              <a:rPr lang="ja-JP" altLang="en-US" sz="1800" b="1" dirty="0">
                <a:solidFill>
                  <a:schemeClr val="tx1"/>
                </a:solidFill>
              </a:rPr>
              <a:t>2</a:t>
            </a:r>
            <a:endParaRPr lang="ja-JP" sz="1800" dirty="0"/>
          </a:p>
        </p:txBody>
      </p:sp>
      <p:sp>
        <p:nvSpPr>
          <p:cNvPr id="11" name="Text 8"/>
          <p:cNvSpPr txBox="1"/>
          <p:nvPr/>
        </p:nvSpPr>
        <p:spPr>
          <a:xfrm>
            <a:off x="3710864" y="2286000"/>
            <a:ext cx="1927784" cy="192024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不具合の再発防止</a:t>
            </a:r>
            <a:endParaRPr lang="ja-JP" sz="1500" dirty="0"/>
          </a:p>
          <a:p>
            <a:pPr indent="0" marL="0">
              <a:buNone/>
            </a:pPr>
            <a:r>
              <a:rPr lang="ja-JP" altLang="en-US" sz="1400" dirty="0">
                <a:solidFill>
                  <a:schemeClr val="tx2"/>
                </a:solidFill>
              </a:rPr>
              <a:t>不具合が起きたときのデータを投入のファイルにし、正しい結果を期待のファイルに書きます。直したあとも残します。</a:t>
            </a:r>
            <a:endParaRPr lang="ja-JP" sz="1500" dirty="0"/>
          </a:p>
        </p:txBody>
      </p:sp>
      <p:sp>
        <p:nvSpPr>
          <p:cNvPr id="12" name="Shape 9"/>
          <p:cNvSpPr/>
          <p:nvPr/>
        </p:nvSpPr>
        <p:spPr>
          <a:xfrm>
            <a:off x="6233008" y="1234440"/>
            <a:ext cx="2567864" cy="3108960"/>
          </a:xfrm>
          <a:prstGeom prst="roundRect">
            <a:avLst>
              <a:gd name="adj" fmla="val 3561"/>
            </a:avLst>
          </a:prstGeom>
          <a:solidFill>
            <a:schemeClr val="bg2"/>
          </a:solidFill>
          <a:ln/>
        </p:spPr>
      </p:sp>
      <p:sp>
        <p:nvSpPr>
          <p:cNvPr id="13" name="Shape 10"/>
          <p:cNvSpPr/>
          <p:nvPr/>
        </p:nvSpPr>
        <p:spPr>
          <a:xfrm>
            <a:off x="6553048" y="1508760"/>
            <a:ext cx="548640" cy="548640"/>
          </a:xfrm>
          <a:prstGeom prst="ellipse">
            <a:avLst/>
          </a:prstGeom>
          <a:solidFill>
            <a:schemeClr val="accent1"/>
          </a:solidFill>
          <a:ln/>
        </p:spPr>
      </p:sp>
      <p:sp>
        <p:nvSpPr>
          <p:cNvPr id="14" name="Text 11"/>
          <p:cNvSpPr txBox="1"/>
          <p:nvPr/>
        </p:nvSpPr>
        <p:spPr>
          <a:xfrm>
            <a:off x="6553048" y="1508760"/>
            <a:ext cx="548640" cy="548640"/>
          </a:xfrm>
          <a:prstGeom prst="rect">
            <a:avLst/>
          </a:prstGeom>
          <a:noFill/>
          <a:ln/>
        </p:spPr>
        <p:txBody>
          <a:bodyPr wrap="square" lIns="0" tIns="0" rIns="0" bIns="0" rtlCol="0" anchor="ctr"/>
          <a:lstStyle/>
          <a:p>
            <a:pPr algn="ctr" indent="0" marL="0">
              <a:buNone/>
            </a:pPr>
            <a:r>
              <a:rPr lang="ja-JP" altLang="en-US" sz="1800" b="1" dirty="0">
                <a:solidFill>
                  <a:schemeClr val="tx1"/>
                </a:solidFill>
              </a:rPr>
              <a:t>3</a:t>
            </a:r>
            <a:endParaRPr lang="ja-JP" sz="1800" dirty="0"/>
          </a:p>
        </p:txBody>
      </p:sp>
      <p:sp>
        <p:nvSpPr>
          <p:cNvPr id="15" name="Text 12"/>
          <p:cNvSpPr txBox="1"/>
          <p:nvPr/>
        </p:nvSpPr>
        <p:spPr>
          <a:xfrm>
            <a:off x="6553048" y="2286000"/>
            <a:ext cx="1927784" cy="192024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粒度を問わない</a:t>
            </a:r>
            <a:endParaRPr lang="ja-JP" sz="1500" dirty="0"/>
          </a:p>
          <a:p>
            <a:pPr indent="0" marL="0">
              <a:buNone/>
            </a:pPr>
            <a:r>
              <a:rPr lang="ja-JP" altLang="en-US" sz="1400" dirty="0">
                <a:solidFill>
                  <a:schemeClr val="tx2"/>
                </a:solidFill>
              </a:rPr>
              <a:t>メソッド単位でも、業務のユースケース単位でも、データと期待する結果という同じ書き方で書けます。</a:t>
            </a:r>
            <a:endParaRPr lang="ja-JP" sz="1500" dirty="0"/>
          </a:p>
        </p:txBody>
      </p:sp>
      <p:sp>
        <p:nvSpPr>
          <p:cNvPr id="16" name="Shape 13"/>
          <p:cNvSpPr/>
          <p:nvPr/>
        </p:nvSpPr>
        <p:spPr>
          <a:xfrm>
            <a:off x="9075191" y="1234440"/>
            <a:ext cx="2567864" cy="3108960"/>
          </a:xfrm>
          <a:prstGeom prst="roundRect">
            <a:avLst>
              <a:gd name="adj" fmla="val 3561"/>
            </a:avLst>
          </a:prstGeom>
          <a:solidFill>
            <a:schemeClr val="bg2"/>
          </a:solidFill>
          <a:ln/>
        </p:spPr>
      </p:sp>
      <p:sp>
        <p:nvSpPr>
          <p:cNvPr id="17" name="Shape 14"/>
          <p:cNvSpPr/>
          <p:nvPr/>
        </p:nvSpPr>
        <p:spPr>
          <a:xfrm>
            <a:off x="9395231" y="1508760"/>
            <a:ext cx="548640" cy="548640"/>
          </a:xfrm>
          <a:prstGeom prst="ellipse">
            <a:avLst/>
          </a:prstGeom>
          <a:solidFill>
            <a:schemeClr val="accent5"/>
          </a:solidFill>
          <a:ln/>
        </p:spPr>
      </p:sp>
      <p:sp>
        <p:nvSpPr>
          <p:cNvPr id="18" name="Text 15"/>
          <p:cNvSpPr txBox="1"/>
          <p:nvPr/>
        </p:nvSpPr>
        <p:spPr>
          <a:xfrm>
            <a:off x="9395231" y="1508760"/>
            <a:ext cx="548640" cy="548640"/>
          </a:xfrm>
          <a:prstGeom prst="rect">
            <a:avLst/>
          </a:prstGeom>
          <a:noFill/>
          <a:ln/>
        </p:spPr>
        <p:txBody>
          <a:bodyPr wrap="square" lIns="0" tIns="0" rIns="0" bIns="0" rtlCol="0" anchor="ctr"/>
          <a:lstStyle/>
          <a:p>
            <a:pPr algn="ctr" indent="0" marL="0">
              <a:buNone/>
            </a:pPr>
            <a:r>
              <a:rPr lang="ja-JP" altLang="en-US" sz="1800" b="1" dirty="0">
                <a:solidFill>
                  <a:schemeClr val="tx1"/>
                </a:solidFill>
              </a:rPr>
              <a:t>4</a:t>
            </a:r>
            <a:endParaRPr lang="ja-JP" sz="1800" dirty="0"/>
          </a:p>
        </p:txBody>
      </p:sp>
      <p:sp>
        <p:nvSpPr>
          <p:cNvPr id="19" name="Text 16"/>
          <p:cNvSpPr txBox="1"/>
          <p:nvPr/>
        </p:nvSpPr>
        <p:spPr>
          <a:xfrm>
            <a:off x="9395231" y="2286000"/>
            <a:ext cx="1927784" cy="192024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今後：AI に任せる</a:t>
            </a:r>
            <a:endParaRPr lang="ja-JP" sz="1500" dirty="0"/>
          </a:p>
          <a:p>
            <a:pPr indent="0" marL="0">
              <a:buNone/>
            </a:pPr>
            <a:r>
              <a:rPr lang="ja-JP" altLang="en-US" sz="1400" dirty="0">
                <a:solidFill>
                  <a:schemeClr val="tx2"/>
                </a:solidFill>
              </a:rPr>
              <a:t>AI にコードの変更を任せるときも、テストがあれば、その変更が正しいかを確かめられます。</a:t>
            </a:r>
            <a:endParaRPr lang="ja-JP" sz="1500" dirty="0"/>
          </a:p>
        </p:txBody>
      </p:sp>
      <p:sp>
        <p:nvSpPr>
          <p:cNvPr id="20" name="Shape 17"/>
          <p:cNvSpPr/>
          <p:nvPr/>
        </p:nvSpPr>
        <p:spPr>
          <a:xfrm>
            <a:off x="548640" y="4572000"/>
            <a:ext cx="11094415" cy="1188720"/>
          </a:xfrm>
          <a:prstGeom prst="roundRect">
            <a:avLst>
              <a:gd name="adj" fmla="val 7692"/>
            </a:avLst>
          </a:prstGeom>
          <a:solidFill>
            <a:schemeClr val="tx1"/>
          </a:solidFill>
          <a:ln/>
        </p:spPr>
      </p:sp>
      <p:sp>
        <p:nvSpPr>
          <p:cNvPr id="21" name="Text 18"/>
          <p:cNvSpPr txBox="1"/>
          <p:nvPr/>
        </p:nvSpPr>
        <p:spPr>
          <a:xfrm>
            <a:off x="960120" y="4736592"/>
            <a:ext cx="10271455" cy="914400"/>
          </a:xfrm>
          <a:prstGeom prst="rect">
            <a:avLst/>
          </a:prstGeom>
          <a:noFill/>
          <a:ln/>
        </p:spPr>
        <p:txBody>
          <a:bodyPr wrap="square" lIns="0" tIns="0" rIns="0" bIns="0" rtlCol="0" anchor="t"/>
          <a:lstStyle/>
          <a:p>
            <a:pPr indent="0" marL="0">
              <a:spcAft>
                <a:spcPts val="600"/>
              </a:spcAft>
              <a:buNone/>
            </a:pPr>
            <a:r>
              <a:rPr lang="ja-JP" altLang="en-US" sz="1500" b="1" dirty="0">
                <a:solidFill>
                  <a:schemeClr val="accent1"/>
                </a:solidFill>
              </a:rPr>
              <a:t>不具合のデータを使うときの注意</a:t>
            </a:r>
            <a:endParaRPr lang="ja-JP" sz="1500" dirty="0"/>
          </a:p>
          <a:p>
            <a:pPr indent="0" marL="0">
              <a:buNone/>
            </a:pPr>
            <a:r>
              <a:rPr lang="ja-JP" altLang="en-US" sz="1400" dirty="0">
                <a:solidFill>
                  <a:schemeClr val="bg1"/>
                </a:solidFill>
              </a:rPr>
              <a:t>DB から書き出す機能は無いので、ファイルにするのは手作業です。本番のデータなら個人情報を伏せます。期待する結果は、不具合のあるコードの出力ではなく、正しい仕様から書きます。</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9</a:t>
            </a:fld>
            <a:endParaRPr lang="ja-JP"/>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コスト：何に手間がかかるか</a:t>
            </a:r>
            <a:endParaRPr lang="ja-JP"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463040"/>
                <a:gridCol w="5394960"/>
                <a:gridCol w="4236415"/>
              </a:tblGrid>
              <a:tr h="457200">
                <a:tc>
                  <a:txBody>
                    <a:bodyPr/>
                    <a:lstStyle/>
                    <a:p>
                      <a:pPr indent="0" marL="0">
                        <a:buNone/>
                      </a:pPr>
                      <a:r>
                        <a:rPr lang="ja-JP" altLang="en-US" sz="1400" b="1" dirty="0">
                          <a:solidFill>
                            <a:schemeClr val="bg1"/>
                          </a:solidFill>
                        </a:rPr>
                        <a:t>区分</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かかる手間</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軽くする手段</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r>
              <a:tr h="777240">
                <a:tc>
                  <a:txBody>
                    <a:bodyPr/>
                    <a:lstStyle/>
                    <a:p>
                      <a:pPr indent="0" marL="0">
                        <a:buNone/>
                      </a:pPr>
                      <a:r>
                        <a:rPr lang="ja-JP" altLang="en-US" sz="1400" b="1" dirty="0">
                          <a:solidFill>
                            <a:schemeClr val="tx1"/>
                          </a:solidFill>
                        </a:rPr>
                        <a:t>導入</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ファイルをコピーし、先頭の package の1行を書き換えます。JDBC ドライバは、いま使っているものをそのまま使います。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685800">
                <a:tc>
                  <a:txBody>
                    <a:bodyPr/>
                    <a:lstStyle/>
                    <a:p>
                      <a:pPr indent="0" marL="0">
                        <a:buNone/>
                      </a:pPr>
                      <a:r>
                        <a:rPr lang="ja-JP" altLang="en-US" sz="1400" b="1" dirty="0">
                          <a:solidFill>
                            <a:schemeClr val="tx1"/>
                          </a:solidFill>
                        </a:rPr>
                        <a:t>学習</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フィクスチャの書式（テーブル名・列名・値、比較の記号、パターン）を覚えます。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テスト実装ガイド、動くサンプル、開発者向けの資料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777240">
                <a:tc>
                  <a:txBody>
                    <a:bodyPr/>
                    <a:lstStyle/>
                    <a:p>
                      <a:pPr indent="0" marL="0">
                        <a:buNone/>
                      </a:pPr>
                      <a:r>
                        <a:rPr lang="ja-JP" altLang="en-US" sz="1400" b="1" dirty="0">
                          <a:solidFill>
                            <a:schemeClr val="tx1"/>
                          </a:solidFill>
                        </a:rPr>
                        <a:t>作成</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テストデータを書く手間そのものは残ります。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フィクスチャエディタ（表で編集、Excel から貼り付け、DDL から列を展開）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685800">
                <a:tc>
                  <a:txBody>
                    <a:bodyPr/>
                    <a:lstStyle/>
                    <a:p>
                      <a:pPr indent="0" marL="0">
                        <a:buNone/>
                      </a:pPr>
                      <a:r>
                        <a:rPr lang="ja-JP" altLang="en-US" sz="1400" b="1" dirty="0">
                          <a:solidFill>
                            <a:schemeClr val="tx1"/>
                          </a:solidFill>
                        </a:rPr>
                        <a:t>保守</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仕様が変わったら、フィクスチャも直します。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パターンで1つのファイルにまとめ、直す場所を減らす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777240">
                <a:tc>
                  <a:txBody>
                    <a:bodyPr/>
                    <a:lstStyle/>
                    <a:p>
                      <a:pPr indent="0" marL="0">
                        <a:buNone/>
                      </a:pPr>
                      <a:r>
                        <a:rPr lang="ja-JP" altLang="en-US" sz="1400" b="1" dirty="0">
                          <a:solidFill>
                            <a:schemeClr val="tx1"/>
                          </a:solidFill>
                        </a:rPr>
                        <a:t>更新</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新しい版にするときは、ファイルを置き換えて package を書き換えます（手作業）。</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クラスの説明に書かれた版番号で、どの版を使っているかが分かる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bl>
          </a:graphicData>
        </a:graphic>
      </p:graphicFrame>
      <p:sp>
        <p:nvSpPr>
          <p:cNvPr id="5" name="Text 1"/>
          <p:cNvSpPr txBox="1"/>
          <p:nvPr/>
        </p:nvSpPr>
        <p:spPr>
          <a:xfrm>
            <a:off x="548640" y="5897880"/>
            <a:ext cx="11094415" cy="365760"/>
          </a:xfrm>
          <a:prstGeom prst="rect">
            <a:avLst/>
          </a:prstGeom>
          <a:noFill/>
          <a:ln/>
        </p:spPr>
        <p:txBody>
          <a:bodyPr wrap="square" lIns="0" tIns="0" rIns="0" bIns="0" rtlCol="0" anchor="t"/>
          <a:lstStyle/>
          <a:p>
            <a:pPr indent="0" marL="0">
              <a:buNone/>
            </a:pPr>
            <a:r>
              <a:rPr lang="ja-JP" altLang="en-US" sz="1400" dirty="0">
                <a:solidFill>
                  <a:schemeClr val="tx2"/>
                </a:solidFill>
              </a:rPr>
              <a:t>ライセンスは MIT です。ファイル先頭の著作権表示を残せば、業務でも使えます。費用はかかりません。</a:t>
            </a:r>
            <a:endParaRPr lang="ja-JP"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10</a:t>
            </a:fld>
            <a:endParaRPr lang="ja-JP"/>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デメリットとリスク（1）確かめられる範囲</a:t>
            </a:r>
            <a:endParaRPr lang="ja-JP"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743200"/>
                <a:gridCol w="4754880"/>
                <a:gridCol w="3596335"/>
              </a:tblGrid>
              <a:tr h="457200">
                <a:tc>
                  <a:txBody>
                    <a:bodyPr/>
                    <a:lstStyle/>
                    <a:p>
                      <a:pPr indent="0" marL="0">
                        <a:buNone/>
                      </a:pPr>
                      <a:r>
                        <a:rPr lang="ja-JP" altLang="en-US" sz="1400" b="1" dirty="0">
                          <a:solidFill>
                            <a:schemeClr val="bg1"/>
                          </a:solidFill>
                        </a:rPr>
                        <a:t>項目</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起きること</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対策</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r>
              <a:tr h="1051560">
                <a:tc>
                  <a:txBody>
                    <a:bodyPr/>
                    <a:lstStyle/>
                    <a:p>
                      <a:pPr indent="0" marL="0">
                        <a:buNone/>
                      </a:pPr>
                      <a:r>
                        <a:rPr lang="ja-JP" altLang="en-US" sz="1400" b="1" dirty="0">
                          <a:solidFill>
                            <a:schemeClr val="tx1"/>
                          </a:solidFill>
                        </a:rPr>
                        <a:t>確かめるのは DB の状態だけ</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検索処理の戻り値や画面の表示は確かめられません。検索処理でも、準備のデータを入れるのには使えます。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戻り値は、今までどおりコードで確かめる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1051560">
                <a:tc>
                  <a:txBody>
                    <a:bodyPr/>
                    <a:lstStyle/>
                    <a:p>
                      <a:pPr indent="0" marL="0">
                        <a:buNone/>
                      </a:pPr>
                      <a:r>
                        <a:rPr lang="ja-JP" altLang="en-US" sz="1400" b="1" dirty="0">
                          <a:solidFill>
                            <a:schemeClr val="tx1"/>
                          </a:solidFill>
                        </a:rPr>
                        <a:t>「ある」ことだけを確かめる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書いた行があるかを確かめる仕組みなので、余計な行が増えても、それだけでは失敗しません。件数を確かめる機能もありません。</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「あってはいけない行」のファイルも書く。件数は、必要ならコードで確かめる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22960">
                <a:tc>
                  <a:txBody>
                    <a:bodyPr/>
                    <a:lstStyle/>
                    <a:p>
                      <a:pPr indent="0" marL="0">
                        <a:buNone/>
                      </a:pPr>
                      <a:r>
                        <a:rPr lang="ja-JP" altLang="en-US" sz="1400" b="1" dirty="0">
                          <a:solidFill>
                            <a:schemeClr val="tx1"/>
                          </a:solidFill>
                        </a:rPr>
                        <a:t>書けない値がある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 や改行を含む値、前後の空白、文字列の &lt;null&gt; は書けません。</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そうした値が多いテストは、別の方法で準備する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822960">
                <a:tc>
                  <a:txBody>
                    <a:bodyPr/>
                    <a:lstStyle/>
                    <a:p>
                      <a:pPr indent="0" marL="0">
                        <a:buNone/>
                      </a:pPr>
                      <a:r>
                        <a:rPr lang="ja-JP" altLang="en-US" sz="1400" b="1" dirty="0">
                          <a:solidFill>
                            <a:schemeClr val="tx1"/>
                          </a:solidFill>
                        </a:rPr>
                        <a:t>トランザクションの外</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別スレッドなどでテストのトランザクションの外から DB を更新すると、データが残ります。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その部分は、テストの後にデータを消す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11</a:t>
            </a:fld>
            <a:endParaRPr lang="ja-JP"/>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デメリットとリスク（2）運用と環境</a:t>
            </a:r>
            <a:endParaRPr lang="ja-JP"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377440"/>
                <a:gridCol w="4937760"/>
                <a:gridCol w="3779215"/>
              </a:tblGrid>
              <a:tr h="457200">
                <a:tc>
                  <a:txBody>
                    <a:bodyPr/>
                    <a:lstStyle/>
                    <a:p>
                      <a:pPr indent="0" marL="0">
                        <a:buNone/>
                      </a:pPr>
                      <a:r>
                        <a:rPr lang="ja-JP" altLang="en-US" sz="1400" b="1" dirty="0">
                          <a:solidFill>
                            <a:schemeClr val="bg1"/>
                          </a:solidFill>
                        </a:rPr>
                        <a:t>項目</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起きること</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c>
                  <a:txBody>
                    <a:bodyPr/>
                    <a:lstStyle/>
                    <a:p>
                      <a:pPr indent="0" marL="0">
                        <a:buNone/>
                      </a:pPr>
                      <a:r>
                        <a:rPr lang="ja-JP" altLang="en-US" sz="1400" b="1" dirty="0">
                          <a:solidFill>
                            <a:schemeClr val="bg1"/>
                          </a:solidFill>
                        </a:rPr>
                        <a:t>対策</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solidFill>
                      <a:schemeClr val="tx2"/>
                    </a:solidFill>
                  </a:tcPr>
                </a:tc>
              </a:tr>
              <a:tr h="1097280">
                <a:tc>
                  <a:txBody>
                    <a:bodyPr/>
                    <a:lstStyle/>
                    <a:p>
                      <a:pPr indent="0" marL="0">
                        <a:buNone/>
                      </a:pPr>
                      <a:r>
                        <a:rPr lang="ja-JP" altLang="en-US" sz="1400" b="1" dirty="0">
                          <a:solidFill>
                            <a:schemeClr val="tx1"/>
                          </a:solidFill>
                        </a:rPr>
                        <a:t>更新が手作業</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チームやモジュールごとにコピーが分かれ、版がそろわなくなります。手を加えると新しい版に上げにくくなります。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コピーした版を記録し、ファイルには手を加えない</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1097280">
                <a:tc>
                  <a:txBody>
                    <a:bodyPr/>
                    <a:lstStyle/>
                    <a:p>
                      <a:pPr indent="0" marL="0">
                        <a:buNone/>
                      </a:pPr>
                      <a:r>
                        <a:rPr lang="ja-JP" altLang="en-US" sz="1400" b="1" dirty="0">
                          <a:solidFill>
                            <a:schemeClr val="tx1"/>
                          </a:solidFill>
                        </a:rPr>
                        <a:t>サポートが無い</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ベンダーのサポートはありません。保守が止まってもコピーしたものは動きますが、不具合は自分たちで直します。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約900行の1ファイルなので、中身を読んで直せる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r h="1097280">
                <a:tc>
                  <a:txBody>
                    <a:bodyPr/>
                    <a:lstStyle/>
                    <a:p>
                      <a:pPr indent="0" marL="0">
                        <a:buNone/>
                      </a:pPr>
                      <a:r>
                        <a:rPr lang="ja-JP" altLang="en-US" sz="1400" b="1" dirty="0">
                          <a:solidFill>
                            <a:schemeClr val="tx1"/>
                          </a:solidFill>
                        </a:rPr>
                        <a:t>自動テストの対象</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自動テストは PostgreSQL だけです。Oracle は使われた実績がありますが、自動テストはしていません。H2 は確認中です。</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c>
                  <a:txBody>
                    <a:bodyPr/>
                    <a:lstStyle/>
                    <a:p>
                      <a:pPr indent="0" marL="0">
                        <a:buNone/>
                      </a:pPr>
                      <a:r>
                        <a:rPr lang="ja-JP" altLang="en-US" sz="1400" dirty="0">
                          <a:solidFill>
                            <a:schemeClr val="tx2"/>
                          </a:solidFill>
                        </a:rPr>
                        <a:t>使う DB で、最初に動作を確かめる</a:t>
                      </a:r>
                      <a:endParaRPr lang="ja-JP" sz="1400" dirty="0"/>
                    </a:p>
                  </a:txBody>
                  <a:tcPr marL="100584" marR="100584" marT="64008" marB="64008" anchor="ctr">
                    <a:lnL w="9525" cap="flat" cmpd="sng" algn="ctr">
                      <a:solidFill>
                        <a:srgbClr val="EEF2F3"/>
                      </a:solidFill>
                      <a:prstDash val="solid"/>
                      <a:round/>
                      <a:headEnd type="none" w="med" len="med"/>
                      <a:tailEnd type="none" w="med" len="med"/>
                    </a:lnL>
                    <a:lnR w="9525" cap="flat" cmpd="sng" algn="ctr">
                      <a:solidFill>
                        <a:srgbClr val="EEF2F3"/>
                      </a:solidFill>
                      <a:prstDash val="solid"/>
                      <a:round/>
                      <a:headEnd type="none" w="med" len="med"/>
                      <a:tailEnd type="none" w="med" len="med"/>
                    </a:lnR>
                    <a:lnT w="9525" cap="flat" cmpd="sng" algn="ctr">
                      <a:solidFill>
                        <a:srgbClr val="EEF2F3"/>
                      </a:solidFill>
                      <a:prstDash val="solid"/>
                      <a:round/>
                      <a:headEnd type="none" w="med" len="med"/>
                      <a:tailEnd type="none" w="med" len="med"/>
                    </a:lnT>
                    <a:lnB w="9525" cap="flat" cmpd="sng" algn="ctr">
                      <a:solidFill>
                        <a:srgbClr val="EEF2F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12</a:t>
            </a:fld>
            <a:endParaRPr lang="ja-JP"/>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向いているプロジェクト、向かないプロジェクト</a:t>
            </a:r>
            <a:endParaRPr lang="ja-JP" sz="3000" dirty="0"/>
          </a:p>
        </p:txBody>
      </p:sp>
      <p:sp>
        <p:nvSpPr>
          <p:cNvPr id="4" name="Shape 1"/>
          <p:cNvSpPr/>
          <p:nvPr/>
        </p:nvSpPr>
        <p:spPr>
          <a:xfrm>
            <a:off x="548640" y="1234440"/>
            <a:ext cx="5364328" cy="3246120"/>
          </a:xfrm>
          <a:prstGeom prst="roundRect">
            <a:avLst>
              <a:gd name="adj" fmla="val 2817"/>
            </a:avLst>
          </a:prstGeom>
          <a:solidFill>
            <a:schemeClr val="bg2"/>
          </a:solidFill>
          <a:ln/>
        </p:spPr>
      </p:sp>
      <p:sp>
        <p:nvSpPr>
          <p:cNvPr id="5" name="Shape 2"/>
          <p:cNvSpPr/>
          <p:nvPr/>
        </p:nvSpPr>
        <p:spPr>
          <a:xfrm>
            <a:off x="868680" y="1463040"/>
            <a:ext cx="502920" cy="502920"/>
          </a:xfrm>
          <a:prstGeom prst="ellipse">
            <a:avLst/>
          </a:prstGeom>
          <a:solidFill>
            <a:schemeClr val="accent2"/>
          </a:solidFill>
          <a:ln/>
        </p:spPr>
      </p:sp>
      <p:sp>
        <p:nvSpPr>
          <p:cNvPr id="6" name="Text 3"/>
          <p:cNvSpPr txBox="1"/>
          <p:nvPr/>
        </p:nvSpPr>
        <p:spPr>
          <a:xfrm>
            <a:off x="868680" y="146304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7" name="Text 4"/>
          <p:cNvSpPr txBox="1"/>
          <p:nvPr/>
        </p:nvSpPr>
        <p:spPr>
          <a:xfrm>
            <a:off x="1600200" y="1463040"/>
            <a:ext cx="3992728" cy="502920"/>
          </a:xfrm>
          <a:prstGeom prst="rect">
            <a:avLst/>
          </a:prstGeom>
          <a:noFill/>
          <a:ln/>
        </p:spPr>
        <p:txBody>
          <a:bodyPr wrap="square" lIns="0" tIns="0" rIns="0" bIns="0" rtlCol="0" anchor="ctr"/>
          <a:lstStyle/>
          <a:p>
            <a:pPr indent="0" marL="0">
              <a:buNone/>
            </a:pPr>
            <a:r>
              <a:rPr lang="ja-JP" altLang="en-US" sz="1800" b="1" dirty="0">
                <a:solidFill>
                  <a:schemeClr val="tx1"/>
                </a:solidFill>
              </a:rPr>
              <a:t>向いている</a:t>
            </a:r>
            <a:endParaRPr lang="ja-JP" sz="1800" dirty="0"/>
          </a:p>
        </p:txBody>
      </p:sp>
      <p:sp>
        <p:nvSpPr>
          <p:cNvPr id="8" name="Text 5"/>
          <p:cNvSpPr txBox="1"/>
          <p:nvPr/>
        </p:nvSpPr>
        <p:spPr>
          <a:xfrm>
            <a:off x="868680" y="2148840"/>
            <a:ext cx="4724248" cy="2240280"/>
          </a:xfrm>
          <a:prstGeom prst="rect">
            <a:avLst/>
          </a:prstGeom>
          <a:noFill/>
          <a:ln/>
        </p:spPr>
        <p:txBody>
          <a:bodyPr wrap="square" lIns="0" tIns="0" rIns="0" bIns="0" rtlCol="0" anchor="t"/>
          <a:lstStyle/>
          <a:p>
            <a:pPr marL="342900" indent="-342900">
              <a:spcAft>
                <a:spcPts val="800"/>
              </a:spcAft>
              <a:buSzPct val="100000"/>
              <a:buChar char="•"/>
            </a:pPr>
            <a:r>
              <a:rPr lang="ja-JP" altLang="en-US" sz="1400" dirty="0">
                <a:solidFill>
                  <a:schemeClr val="tx2"/>
                </a:solidFill>
              </a:rPr>
              <a:t>Java 17 以上で、JUnit のテストを書いている（一部のチームだけでもよい）</a:t>
            </a:r>
            <a:endParaRPr lang="ja-JP" sz="1400" dirty="0"/>
          </a:p>
          <a:p>
            <a:pPr marL="342900" indent="-342900">
              <a:spcAft>
                <a:spcPts val="800"/>
              </a:spcAft>
              <a:buSzPct val="100000"/>
              <a:buChar char="•"/>
            </a:pPr>
            <a:r>
              <a:rPr lang="ja-JP" altLang="en-US" sz="1400" dirty="0">
                <a:solidFill>
                  <a:schemeClr val="tx2"/>
                </a:solidFill>
              </a:rPr>
              <a:t>JDBC で接続する DB を使い、DB を更新する処理のテストが多い</a:t>
            </a:r>
            <a:endParaRPr lang="ja-JP" sz="1400" dirty="0"/>
          </a:p>
          <a:p>
            <a:pPr marL="342900" indent="-342900">
              <a:spcAft>
                <a:spcPts val="800"/>
              </a:spcAft>
              <a:buSzPct val="100000"/>
              <a:buChar char="•"/>
            </a:pPr>
            <a:r>
              <a:rPr lang="ja-JP" altLang="en-US" sz="1400" dirty="0">
                <a:solidFill>
                  <a:schemeClr val="tx2"/>
                </a:solidFill>
              </a:rPr>
              <a:t>テストの後にロールバックで DB を元に戻せる（Spring の @Transactional なテストなど）</a:t>
            </a:r>
            <a:endParaRPr lang="ja-JP" sz="1400" dirty="0"/>
          </a:p>
          <a:p>
            <a:pPr marL="342900" indent="-342900">
              <a:spcAft>
                <a:spcPts val="800"/>
              </a:spcAft>
              <a:buSzPct val="100000"/>
              <a:buChar char="•"/>
            </a:pPr>
            <a:r>
              <a:rPr lang="ja-JP" altLang="en-US" sz="1400" dirty="0">
                <a:solidFill>
                  <a:schemeClr val="tx2"/>
                </a:solidFill>
              </a:rPr>
              <a:t>テストデータの内容をレビューで確かめたい</a:t>
            </a:r>
            <a:endParaRPr lang="ja-JP" sz="1400" dirty="0"/>
          </a:p>
        </p:txBody>
      </p:sp>
      <p:sp>
        <p:nvSpPr>
          <p:cNvPr id="9" name="Shape 6"/>
          <p:cNvSpPr/>
          <p:nvPr/>
        </p:nvSpPr>
        <p:spPr>
          <a:xfrm>
            <a:off x="6278728" y="1234440"/>
            <a:ext cx="5364328" cy="3246120"/>
          </a:xfrm>
          <a:prstGeom prst="roundRect">
            <a:avLst>
              <a:gd name="adj" fmla="val 2817"/>
            </a:avLst>
          </a:prstGeom>
          <a:solidFill>
            <a:schemeClr val="bg2"/>
          </a:solidFill>
          <a:ln/>
        </p:spPr>
      </p:sp>
      <p:sp>
        <p:nvSpPr>
          <p:cNvPr id="10" name="Shape 7"/>
          <p:cNvSpPr/>
          <p:nvPr/>
        </p:nvSpPr>
        <p:spPr>
          <a:xfrm>
            <a:off x="6598768" y="1463040"/>
            <a:ext cx="502920" cy="502920"/>
          </a:xfrm>
          <a:prstGeom prst="ellipse">
            <a:avLst/>
          </a:prstGeom>
          <a:solidFill>
            <a:schemeClr val="tx2"/>
          </a:solidFill>
          <a:ln/>
        </p:spPr>
      </p:sp>
      <p:sp>
        <p:nvSpPr>
          <p:cNvPr id="11" name="Text 8"/>
          <p:cNvSpPr txBox="1"/>
          <p:nvPr/>
        </p:nvSpPr>
        <p:spPr>
          <a:xfrm>
            <a:off x="6598768" y="1463040"/>
            <a:ext cx="502920" cy="502920"/>
          </a:xfrm>
          <a:prstGeom prst="rect">
            <a:avLst/>
          </a:prstGeom>
          <a:noFill/>
          <a:ln/>
        </p:spPr>
        <p:txBody>
          <a:bodyPr wrap="square" lIns="0" tIns="0" rIns="0" bIns="0" rtlCol="0" anchor="ctr"/>
          <a:lstStyle/>
          <a:p>
            <a:pPr algn="ctr" indent="0" marL="0">
              <a:buNone/>
            </a:pPr>
            <a:r>
              <a:rPr lang="ja-JP" altLang="en-US" sz="1800" b="1" dirty="0">
                <a:solidFill>
                  <a:schemeClr val="bg1"/>
                </a:solidFill>
              </a:rPr>
              <a:t>×</a:t>
            </a:r>
            <a:endParaRPr lang="ja-JP" sz="1800" dirty="0"/>
          </a:p>
        </p:txBody>
      </p:sp>
      <p:sp>
        <p:nvSpPr>
          <p:cNvPr id="12" name="Text 9"/>
          <p:cNvSpPr txBox="1"/>
          <p:nvPr/>
        </p:nvSpPr>
        <p:spPr>
          <a:xfrm>
            <a:off x="7330288" y="1463040"/>
            <a:ext cx="3992728" cy="502920"/>
          </a:xfrm>
          <a:prstGeom prst="rect">
            <a:avLst/>
          </a:prstGeom>
          <a:noFill/>
          <a:ln/>
        </p:spPr>
        <p:txBody>
          <a:bodyPr wrap="square" lIns="0" tIns="0" rIns="0" bIns="0" rtlCol="0" anchor="ctr"/>
          <a:lstStyle/>
          <a:p>
            <a:pPr indent="0" marL="0">
              <a:buNone/>
            </a:pPr>
            <a:r>
              <a:rPr lang="ja-JP" altLang="en-US" sz="1800" b="1" dirty="0">
                <a:solidFill>
                  <a:schemeClr val="tx1"/>
                </a:solidFill>
              </a:rPr>
              <a:t>向かない</a:t>
            </a:r>
            <a:endParaRPr lang="ja-JP" sz="1800" dirty="0"/>
          </a:p>
        </p:txBody>
      </p:sp>
      <p:sp>
        <p:nvSpPr>
          <p:cNvPr id="13" name="Text 10"/>
          <p:cNvSpPr txBox="1"/>
          <p:nvPr/>
        </p:nvSpPr>
        <p:spPr>
          <a:xfrm>
            <a:off x="6598768" y="2148840"/>
            <a:ext cx="4724248" cy="2240280"/>
          </a:xfrm>
          <a:prstGeom prst="rect">
            <a:avLst/>
          </a:prstGeom>
          <a:noFill/>
          <a:ln/>
        </p:spPr>
        <p:txBody>
          <a:bodyPr wrap="square" lIns="0" tIns="0" rIns="0" bIns="0" rtlCol="0" anchor="t"/>
          <a:lstStyle/>
          <a:p>
            <a:pPr marL="342900" indent="-342900">
              <a:spcAft>
                <a:spcPts val="800"/>
              </a:spcAft>
              <a:buSzPct val="100000"/>
              <a:buChar char="•"/>
            </a:pPr>
            <a:r>
              <a:rPr lang="ja-JP" altLang="en-US" sz="1400" dirty="0">
                <a:solidFill>
                  <a:schemeClr val="tx2"/>
                </a:solidFill>
              </a:rPr>
              <a:t>Java 17 より前の版を使っている</a:t>
            </a:r>
            <a:endParaRPr lang="ja-JP" sz="1400" dirty="0"/>
          </a:p>
          <a:p>
            <a:pPr marL="342900" indent="-342900">
              <a:spcAft>
                <a:spcPts val="800"/>
              </a:spcAft>
              <a:buSzPct val="100000"/>
              <a:buChar char="•"/>
            </a:pPr>
            <a:r>
              <a:rPr lang="ja-JP" altLang="en-US" sz="1400" dirty="0">
                <a:solidFill>
                  <a:schemeClr val="tx2"/>
                </a:solidFill>
              </a:rPr>
              <a:t>JDBC で接続しない DB（NoSQL など）が中心</a:t>
            </a:r>
            <a:endParaRPr lang="ja-JP" sz="1400" dirty="0"/>
          </a:p>
          <a:p>
            <a:pPr marL="342900" indent="-342900">
              <a:spcAft>
                <a:spcPts val="800"/>
              </a:spcAft>
              <a:buSzPct val="100000"/>
              <a:buChar char="•"/>
            </a:pPr>
            <a:r>
              <a:rPr lang="ja-JP" altLang="en-US" sz="1400" dirty="0">
                <a:solidFill>
                  <a:schemeClr val="tx2"/>
                </a:solidFill>
              </a:rPr>
              <a:t>改行や | を含む値（複数行の JSON など）を多く扱う</a:t>
            </a:r>
            <a:endParaRPr lang="ja-JP" sz="1400" dirty="0"/>
          </a:p>
          <a:p>
            <a:pPr marL="342900" indent="-342900">
              <a:spcAft>
                <a:spcPts val="800"/>
              </a:spcAft>
              <a:buSzPct val="100000"/>
              <a:buChar char="•"/>
            </a:pPr>
            <a:r>
              <a:rPr lang="ja-JP" altLang="en-US" sz="1400" dirty="0">
                <a:solidFill>
                  <a:schemeClr val="tx2"/>
                </a:solidFill>
              </a:rPr>
              <a:t>テスト対象が、別スレッドや別のトランザクションで DB を更新することが多い</a:t>
            </a:r>
            <a:endParaRPr lang="ja-JP" sz="1400" dirty="0"/>
          </a:p>
        </p:txBody>
      </p:sp>
      <p:sp>
        <p:nvSpPr>
          <p:cNvPr id="14" name="Shape 11"/>
          <p:cNvSpPr/>
          <p:nvPr/>
        </p:nvSpPr>
        <p:spPr>
          <a:xfrm>
            <a:off x="548640" y="4709160"/>
            <a:ext cx="11094415" cy="1097280"/>
          </a:xfrm>
          <a:prstGeom prst="roundRect">
            <a:avLst>
              <a:gd name="adj" fmla="val 8333"/>
            </a:avLst>
          </a:prstGeom>
          <a:solidFill>
            <a:schemeClr val="tx1"/>
          </a:solidFill>
          <a:ln/>
        </p:spPr>
      </p:sp>
      <p:sp>
        <p:nvSpPr>
          <p:cNvPr id="15" name="Text 12"/>
          <p:cNvSpPr txBox="1"/>
          <p:nvPr/>
        </p:nvSpPr>
        <p:spPr>
          <a:xfrm>
            <a:off x="960120" y="4709160"/>
            <a:ext cx="10271455" cy="1097280"/>
          </a:xfrm>
          <a:prstGeom prst="rect">
            <a:avLst/>
          </a:prstGeom>
          <a:noFill/>
          <a:ln/>
        </p:spPr>
        <p:txBody>
          <a:bodyPr wrap="square" lIns="0" tIns="0" rIns="0" bIns="0" rtlCol="0" anchor="ctr"/>
          <a:lstStyle/>
          <a:p>
            <a:pPr indent="0" marL="0">
              <a:buNone/>
            </a:pPr>
            <a:r>
              <a:rPr lang="ja-JP" altLang="en-US" sz="1600" b="1" dirty="0">
                <a:solidFill>
                  <a:schemeClr val="accent1"/>
                </a:solidFill>
              </a:rPr>
              <a:t>体制：</a:t>
            </a:r>
            <a:pPr indent="0" marL="0">
              <a:buNone/>
            </a:pPr>
            <a:r>
              <a:rPr lang="ja-JP" altLang="en-US" sz="1600" dirty="0">
                <a:solidFill>
                  <a:schemeClr val="bg1"/>
                </a:solidFill>
              </a:rPr>
              <a:t>新しい版への更新と、テストデータのレビューを、誰が担当するか決められるか</a:t>
            </a:r>
            <a:endParaRPr lang="ja-JP"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13</a:t>
            </a:fld>
            <a:endParaRPr lang="ja-JP"/>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ja-JP" altLang="en-US" sz="3000" b="1" dirty="0">
                <a:solidFill>
                  <a:schemeClr val="tx1"/>
                </a:solidFill>
              </a:rPr>
              <a:t>導入の進め方（例）</a:t>
            </a:r>
            <a:endParaRPr lang="ja-JP" sz="3000" dirty="0"/>
          </a:p>
        </p:txBody>
      </p:sp>
      <p:sp>
        <p:nvSpPr>
          <p:cNvPr id="4" name="Shape 1"/>
          <p:cNvSpPr/>
          <p:nvPr/>
        </p:nvSpPr>
        <p:spPr>
          <a:xfrm>
            <a:off x="548640" y="1325880"/>
            <a:ext cx="2396414" cy="3108960"/>
          </a:xfrm>
          <a:prstGeom prst="roundRect">
            <a:avLst>
              <a:gd name="adj" fmla="val 3816"/>
            </a:avLst>
          </a:prstGeom>
          <a:solidFill>
            <a:schemeClr val="bg2"/>
          </a:solidFill>
          <a:ln/>
        </p:spPr>
      </p:sp>
      <p:sp>
        <p:nvSpPr>
          <p:cNvPr id="5" name="Shape 2"/>
          <p:cNvSpPr/>
          <p:nvPr/>
        </p:nvSpPr>
        <p:spPr>
          <a:xfrm>
            <a:off x="868680" y="1645920"/>
            <a:ext cx="640080" cy="640080"/>
          </a:xfrm>
          <a:prstGeom prst="ellipse">
            <a:avLst/>
          </a:prstGeom>
          <a:solidFill>
            <a:schemeClr val="accent1"/>
          </a:solidFill>
          <a:ln/>
        </p:spPr>
      </p:sp>
      <p:sp>
        <p:nvSpPr>
          <p:cNvPr id="6" name="Text 3"/>
          <p:cNvSpPr txBox="1"/>
          <p:nvPr/>
        </p:nvSpPr>
        <p:spPr>
          <a:xfrm>
            <a:off x="868680" y="1645920"/>
            <a:ext cx="640080" cy="640080"/>
          </a:xfrm>
          <a:prstGeom prst="rect">
            <a:avLst/>
          </a:prstGeom>
          <a:noFill/>
          <a:ln/>
        </p:spPr>
        <p:txBody>
          <a:bodyPr wrap="square" lIns="0" tIns="0" rIns="0" bIns="0" rtlCol="0" anchor="ctr"/>
          <a:lstStyle/>
          <a:p>
            <a:pPr algn="ctr" indent="0" marL="0">
              <a:buNone/>
            </a:pPr>
            <a:r>
              <a:rPr lang="ja-JP" altLang="en-US" sz="2000" b="1" dirty="0">
                <a:solidFill>
                  <a:schemeClr val="tx1"/>
                </a:solidFill>
              </a:rPr>
              <a:t>1</a:t>
            </a:r>
            <a:endParaRPr lang="ja-JP" sz="2000" dirty="0"/>
          </a:p>
        </p:txBody>
      </p:sp>
      <p:sp>
        <p:nvSpPr>
          <p:cNvPr id="7" name="Text 4"/>
          <p:cNvSpPr txBox="1"/>
          <p:nvPr/>
        </p:nvSpPr>
        <p:spPr>
          <a:xfrm>
            <a:off x="868680" y="2514600"/>
            <a:ext cx="1847774" cy="182880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小さく始める</a:t>
            </a:r>
            <a:endParaRPr lang="ja-JP" sz="1500" dirty="0"/>
          </a:p>
          <a:p>
            <a:pPr indent="0" marL="0">
              <a:buNone/>
            </a:pPr>
            <a:r>
              <a:rPr lang="ja-JP" altLang="en-US" sz="1500" dirty="0">
                <a:solidFill>
                  <a:schemeClr val="tx2"/>
                </a:solidFill>
              </a:rPr>
              <a:t>次に直す不具合で、再発防止のテストを1本書いてみる</a:t>
            </a:r>
            <a:endParaRPr lang="ja-JP" sz="1500" dirty="0"/>
          </a:p>
        </p:txBody>
      </p:sp>
      <p:sp>
        <p:nvSpPr>
          <p:cNvPr id="8" name="Text 5"/>
          <p:cNvSpPr txBox="1"/>
          <p:nvPr/>
        </p:nvSpPr>
        <p:spPr>
          <a:xfrm>
            <a:off x="2945054" y="1325880"/>
            <a:ext cx="502920" cy="3108960"/>
          </a:xfrm>
          <a:prstGeom prst="rect">
            <a:avLst/>
          </a:prstGeom>
          <a:noFill/>
          <a:ln/>
        </p:spPr>
        <p:txBody>
          <a:bodyPr wrap="square" lIns="0" tIns="0" rIns="0" bIns="0" rtlCol="0" anchor="ctr"/>
          <a:lstStyle/>
          <a:p>
            <a:pPr algn="ctr" indent="0" marL="0">
              <a:buNone/>
            </a:pPr>
            <a:r>
              <a:rPr lang="ja-JP" altLang="en-US" sz="3600" b="1" dirty="0">
                <a:solidFill>
                  <a:schemeClr val="accent5"/>
                </a:solidFill>
              </a:rPr>
              <a:t>›</a:t>
            </a:r>
            <a:endParaRPr lang="ja-JP" sz="3600" dirty="0"/>
          </a:p>
        </p:txBody>
      </p:sp>
      <p:sp>
        <p:nvSpPr>
          <p:cNvPr id="9" name="Shape 6"/>
          <p:cNvSpPr/>
          <p:nvPr/>
        </p:nvSpPr>
        <p:spPr>
          <a:xfrm>
            <a:off x="3447974" y="1325880"/>
            <a:ext cx="2396414" cy="3108960"/>
          </a:xfrm>
          <a:prstGeom prst="roundRect">
            <a:avLst>
              <a:gd name="adj" fmla="val 3816"/>
            </a:avLst>
          </a:prstGeom>
          <a:solidFill>
            <a:schemeClr val="bg2"/>
          </a:solidFill>
          <a:ln/>
        </p:spPr>
      </p:sp>
      <p:sp>
        <p:nvSpPr>
          <p:cNvPr id="10" name="Shape 7"/>
          <p:cNvSpPr/>
          <p:nvPr/>
        </p:nvSpPr>
        <p:spPr>
          <a:xfrm>
            <a:off x="3768014" y="1645920"/>
            <a:ext cx="640080" cy="640080"/>
          </a:xfrm>
          <a:prstGeom prst="ellipse">
            <a:avLst/>
          </a:prstGeom>
          <a:solidFill>
            <a:schemeClr val="accent1"/>
          </a:solidFill>
          <a:ln/>
        </p:spPr>
      </p:sp>
      <p:sp>
        <p:nvSpPr>
          <p:cNvPr id="11" name="Text 8"/>
          <p:cNvSpPr txBox="1"/>
          <p:nvPr/>
        </p:nvSpPr>
        <p:spPr>
          <a:xfrm>
            <a:off x="3768014" y="1645920"/>
            <a:ext cx="640080" cy="640080"/>
          </a:xfrm>
          <a:prstGeom prst="rect">
            <a:avLst/>
          </a:prstGeom>
          <a:noFill/>
          <a:ln/>
        </p:spPr>
        <p:txBody>
          <a:bodyPr wrap="square" lIns="0" tIns="0" rIns="0" bIns="0" rtlCol="0" anchor="ctr"/>
          <a:lstStyle/>
          <a:p>
            <a:pPr algn="ctr" indent="0" marL="0">
              <a:buNone/>
            </a:pPr>
            <a:r>
              <a:rPr lang="ja-JP" altLang="en-US" sz="2000" b="1" dirty="0">
                <a:solidFill>
                  <a:schemeClr val="tx1"/>
                </a:solidFill>
              </a:rPr>
              <a:t>2</a:t>
            </a:r>
            <a:endParaRPr lang="ja-JP" sz="2000" dirty="0"/>
          </a:p>
        </p:txBody>
      </p:sp>
      <p:sp>
        <p:nvSpPr>
          <p:cNvPr id="12" name="Text 9"/>
          <p:cNvSpPr txBox="1"/>
          <p:nvPr/>
        </p:nvSpPr>
        <p:spPr>
          <a:xfrm>
            <a:off x="3768014" y="2514600"/>
            <a:ext cx="1847774" cy="182880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書き方をそろえる</a:t>
            </a:r>
            <a:endParaRPr lang="ja-JP" sz="1500" dirty="0"/>
          </a:p>
          <a:p>
            <a:pPr indent="0" marL="0">
              <a:buNone/>
            </a:pPr>
            <a:r>
              <a:rPr lang="ja-JP" altLang="en-US" sz="1500" dirty="0">
                <a:solidFill>
                  <a:schemeClr val="tx2"/>
                </a:solidFill>
              </a:rPr>
              <a:t>ガイドに沿って、フィクスチャの置き場所と名前の付け方を決める</a:t>
            </a:r>
            <a:endParaRPr lang="ja-JP" sz="1500" dirty="0"/>
          </a:p>
        </p:txBody>
      </p:sp>
      <p:sp>
        <p:nvSpPr>
          <p:cNvPr id="13" name="Text 10"/>
          <p:cNvSpPr txBox="1"/>
          <p:nvPr/>
        </p:nvSpPr>
        <p:spPr>
          <a:xfrm>
            <a:off x="5844388" y="1325880"/>
            <a:ext cx="502920" cy="3108960"/>
          </a:xfrm>
          <a:prstGeom prst="rect">
            <a:avLst/>
          </a:prstGeom>
          <a:noFill/>
          <a:ln/>
        </p:spPr>
        <p:txBody>
          <a:bodyPr wrap="square" lIns="0" tIns="0" rIns="0" bIns="0" rtlCol="0" anchor="ctr"/>
          <a:lstStyle/>
          <a:p>
            <a:pPr algn="ctr" indent="0" marL="0">
              <a:buNone/>
            </a:pPr>
            <a:r>
              <a:rPr lang="ja-JP" altLang="en-US" sz="3600" b="1" dirty="0">
                <a:solidFill>
                  <a:schemeClr val="accent5"/>
                </a:solidFill>
              </a:rPr>
              <a:t>›</a:t>
            </a:r>
            <a:endParaRPr lang="ja-JP" sz="3600" dirty="0"/>
          </a:p>
        </p:txBody>
      </p:sp>
      <p:sp>
        <p:nvSpPr>
          <p:cNvPr id="14" name="Shape 11"/>
          <p:cNvSpPr/>
          <p:nvPr/>
        </p:nvSpPr>
        <p:spPr>
          <a:xfrm>
            <a:off x="6347308" y="1325880"/>
            <a:ext cx="2396414" cy="3108960"/>
          </a:xfrm>
          <a:prstGeom prst="roundRect">
            <a:avLst>
              <a:gd name="adj" fmla="val 3816"/>
            </a:avLst>
          </a:prstGeom>
          <a:solidFill>
            <a:schemeClr val="bg2"/>
          </a:solidFill>
          <a:ln/>
        </p:spPr>
      </p:sp>
      <p:sp>
        <p:nvSpPr>
          <p:cNvPr id="15" name="Shape 12"/>
          <p:cNvSpPr/>
          <p:nvPr/>
        </p:nvSpPr>
        <p:spPr>
          <a:xfrm>
            <a:off x="6667348" y="1645920"/>
            <a:ext cx="640080" cy="640080"/>
          </a:xfrm>
          <a:prstGeom prst="ellipse">
            <a:avLst/>
          </a:prstGeom>
          <a:solidFill>
            <a:schemeClr val="accent1"/>
          </a:solidFill>
          <a:ln/>
        </p:spPr>
      </p:sp>
      <p:sp>
        <p:nvSpPr>
          <p:cNvPr id="16" name="Text 13"/>
          <p:cNvSpPr txBox="1"/>
          <p:nvPr/>
        </p:nvSpPr>
        <p:spPr>
          <a:xfrm>
            <a:off x="6667348" y="1645920"/>
            <a:ext cx="640080" cy="640080"/>
          </a:xfrm>
          <a:prstGeom prst="rect">
            <a:avLst/>
          </a:prstGeom>
          <a:noFill/>
          <a:ln/>
        </p:spPr>
        <p:txBody>
          <a:bodyPr wrap="square" lIns="0" tIns="0" rIns="0" bIns="0" rtlCol="0" anchor="ctr"/>
          <a:lstStyle/>
          <a:p>
            <a:pPr algn="ctr" indent="0" marL="0">
              <a:buNone/>
            </a:pPr>
            <a:r>
              <a:rPr lang="ja-JP" altLang="en-US" sz="2000" b="1" dirty="0">
                <a:solidFill>
                  <a:schemeClr val="tx1"/>
                </a:solidFill>
              </a:rPr>
              <a:t>3</a:t>
            </a:r>
            <a:endParaRPr lang="ja-JP" sz="2000" dirty="0"/>
          </a:p>
        </p:txBody>
      </p:sp>
      <p:sp>
        <p:nvSpPr>
          <p:cNvPr id="17" name="Text 14"/>
          <p:cNvSpPr txBox="1"/>
          <p:nvPr/>
        </p:nvSpPr>
        <p:spPr>
          <a:xfrm>
            <a:off x="6667348" y="2514600"/>
            <a:ext cx="1847774" cy="182880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レビューの観点を決める</a:t>
            </a:r>
            <a:endParaRPr lang="ja-JP" sz="1500" dirty="0"/>
          </a:p>
          <a:p>
            <a:pPr indent="0" marL="0">
              <a:buNone/>
            </a:pPr>
            <a:r>
              <a:rPr lang="ja-JP" altLang="en-US" sz="1500" dirty="0">
                <a:solidFill>
                  <a:schemeClr val="tx2"/>
                </a:solidFill>
              </a:rPr>
              <a:t>「あってはいけない行」も確かめているか、などを決める</a:t>
            </a:r>
            <a:endParaRPr lang="ja-JP" sz="1500" dirty="0"/>
          </a:p>
        </p:txBody>
      </p:sp>
      <p:sp>
        <p:nvSpPr>
          <p:cNvPr id="18" name="Text 15"/>
          <p:cNvSpPr txBox="1"/>
          <p:nvPr/>
        </p:nvSpPr>
        <p:spPr>
          <a:xfrm>
            <a:off x="8743721" y="1325880"/>
            <a:ext cx="502920" cy="3108960"/>
          </a:xfrm>
          <a:prstGeom prst="rect">
            <a:avLst/>
          </a:prstGeom>
          <a:noFill/>
          <a:ln/>
        </p:spPr>
        <p:txBody>
          <a:bodyPr wrap="square" lIns="0" tIns="0" rIns="0" bIns="0" rtlCol="0" anchor="ctr"/>
          <a:lstStyle/>
          <a:p>
            <a:pPr algn="ctr" indent="0" marL="0">
              <a:buNone/>
            </a:pPr>
            <a:r>
              <a:rPr lang="ja-JP" altLang="en-US" sz="3600" b="1" dirty="0">
                <a:solidFill>
                  <a:schemeClr val="accent5"/>
                </a:solidFill>
              </a:rPr>
              <a:t>›</a:t>
            </a:r>
            <a:endParaRPr lang="ja-JP" sz="3600" dirty="0"/>
          </a:p>
        </p:txBody>
      </p:sp>
      <p:sp>
        <p:nvSpPr>
          <p:cNvPr id="19" name="Shape 16"/>
          <p:cNvSpPr/>
          <p:nvPr/>
        </p:nvSpPr>
        <p:spPr>
          <a:xfrm>
            <a:off x="9246641" y="1325880"/>
            <a:ext cx="2396414" cy="3108960"/>
          </a:xfrm>
          <a:prstGeom prst="roundRect">
            <a:avLst>
              <a:gd name="adj" fmla="val 3816"/>
            </a:avLst>
          </a:prstGeom>
          <a:solidFill>
            <a:schemeClr val="bg2"/>
          </a:solidFill>
          <a:ln/>
        </p:spPr>
      </p:sp>
      <p:sp>
        <p:nvSpPr>
          <p:cNvPr id="20" name="Shape 17"/>
          <p:cNvSpPr/>
          <p:nvPr/>
        </p:nvSpPr>
        <p:spPr>
          <a:xfrm>
            <a:off x="9566681" y="1645920"/>
            <a:ext cx="640080" cy="640080"/>
          </a:xfrm>
          <a:prstGeom prst="ellipse">
            <a:avLst/>
          </a:prstGeom>
          <a:solidFill>
            <a:schemeClr val="accent1"/>
          </a:solidFill>
          <a:ln/>
        </p:spPr>
      </p:sp>
      <p:sp>
        <p:nvSpPr>
          <p:cNvPr id="21" name="Text 18"/>
          <p:cNvSpPr txBox="1"/>
          <p:nvPr/>
        </p:nvSpPr>
        <p:spPr>
          <a:xfrm>
            <a:off x="9566681" y="1645920"/>
            <a:ext cx="640080" cy="640080"/>
          </a:xfrm>
          <a:prstGeom prst="rect">
            <a:avLst/>
          </a:prstGeom>
          <a:noFill/>
          <a:ln/>
        </p:spPr>
        <p:txBody>
          <a:bodyPr wrap="square" lIns="0" tIns="0" rIns="0" bIns="0" rtlCol="0" anchor="ctr"/>
          <a:lstStyle/>
          <a:p>
            <a:pPr algn="ctr" indent="0" marL="0">
              <a:buNone/>
            </a:pPr>
            <a:r>
              <a:rPr lang="ja-JP" altLang="en-US" sz="2000" b="1" dirty="0">
                <a:solidFill>
                  <a:schemeClr val="tx1"/>
                </a:solidFill>
              </a:rPr>
              <a:t>4</a:t>
            </a:r>
            <a:endParaRPr lang="ja-JP" sz="2000" dirty="0"/>
          </a:p>
        </p:txBody>
      </p:sp>
      <p:sp>
        <p:nvSpPr>
          <p:cNvPr id="22" name="Text 19"/>
          <p:cNvSpPr txBox="1"/>
          <p:nvPr/>
        </p:nvSpPr>
        <p:spPr>
          <a:xfrm>
            <a:off x="9566681" y="2514600"/>
            <a:ext cx="1847774" cy="1828800"/>
          </a:xfrm>
          <a:prstGeom prst="rect">
            <a:avLst/>
          </a:prstGeom>
          <a:noFill/>
          <a:ln/>
        </p:spPr>
        <p:txBody>
          <a:bodyPr wrap="square" lIns="0" tIns="0" rIns="0" bIns="0" rtlCol="0" anchor="t"/>
          <a:lstStyle/>
          <a:p>
            <a:pPr indent="0" marL="0">
              <a:spcAft>
                <a:spcPts val="600"/>
              </a:spcAft>
              <a:buNone/>
            </a:pPr>
            <a:r>
              <a:rPr lang="ja-JP" altLang="en-US" sz="1700" b="1" dirty="0">
                <a:solidFill>
                  <a:schemeClr val="tx1"/>
                </a:solidFill>
              </a:rPr>
              <a:t>版を記録する</a:t>
            </a:r>
            <a:endParaRPr lang="ja-JP" sz="1500" dirty="0"/>
          </a:p>
          <a:p>
            <a:pPr indent="0" marL="0">
              <a:buNone/>
            </a:pPr>
            <a:r>
              <a:rPr lang="ja-JP" altLang="en-US" sz="1500" dirty="0">
                <a:solidFill>
                  <a:schemeClr val="tx2"/>
                </a:solidFill>
              </a:rPr>
              <a:t>コピーした版（例：v2.4.0）を記録し、更新の担当を決める</a:t>
            </a:r>
            <a:endParaRPr lang="ja-JP" sz="1500" dirty="0"/>
          </a:p>
        </p:txBody>
      </p:sp>
      <p:sp>
        <p:nvSpPr>
          <p:cNvPr id="23" name="Shape 20"/>
          <p:cNvSpPr/>
          <p:nvPr/>
        </p:nvSpPr>
        <p:spPr>
          <a:xfrm>
            <a:off x="548640" y="4800600"/>
            <a:ext cx="11094415" cy="1005840"/>
          </a:xfrm>
          <a:prstGeom prst="roundRect">
            <a:avLst>
              <a:gd name="adj" fmla="val 9091"/>
            </a:avLst>
          </a:prstGeom>
          <a:solidFill>
            <a:schemeClr val="bg2"/>
          </a:solidFill>
          <a:ln/>
        </p:spPr>
      </p:sp>
      <p:sp>
        <p:nvSpPr>
          <p:cNvPr id="24" name="Text 21"/>
          <p:cNvSpPr txBox="1"/>
          <p:nvPr/>
        </p:nvSpPr>
        <p:spPr>
          <a:xfrm>
            <a:off x="960120" y="4800600"/>
            <a:ext cx="10271455" cy="1005840"/>
          </a:xfrm>
          <a:prstGeom prst="rect">
            <a:avLst/>
          </a:prstGeom>
          <a:noFill/>
          <a:ln/>
        </p:spPr>
        <p:txBody>
          <a:bodyPr wrap="square" lIns="0" tIns="0" rIns="0" bIns="0" rtlCol="0" anchor="ctr"/>
          <a:lstStyle/>
          <a:p>
            <a:pPr indent="0" marL="0">
              <a:buNone/>
            </a:pPr>
            <a:r>
              <a:rPr lang="ja-JP" altLang="en-US" sz="1500" b="1" dirty="0">
                <a:solidFill>
                  <a:schemeClr val="tx1"/>
                </a:solidFill>
              </a:rPr>
              <a:t>試したあとの判断材料：</a:t>
            </a:r>
            <a:pPr indent="0" marL="0">
              <a:buNone/>
            </a:pPr>
            <a:r>
              <a:rPr lang="ja-JP" altLang="en-US" sz="1500" dirty="0">
                <a:solidFill>
                  <a:schemeClr val="tx2"/>
                </a:solidFill>
              </a:rPr>
              <a:t>テストの読みやすさ、書く手間、レビューのしやすさ、不具合の再発を防げたかを、いまのやり方と比べます。</a:t>
            </a:r>
            <a:endParaRPr lang="ja-JP"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ja-JP"/>
              <a:t>14</a:t>
            </a:fld>
            <a:endParaRPr lang="ja-JP"/>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lIns="0" tIns="0" rIns="0" bIns="0" rtlCol="0"/>
          <a:lstStyle/>
          <a:p>
            <a:pPr algn="l" indent="0" marL="0">
              <a:buNone/>
            </a:pPr>
            <a:r>
              <a:rPr lang="ja-JP" altLang="en-US" sz="4800" b="1" dirty="0">
                <a:solidFill>
                  <a:schemeClr val="bg1"/>
                </a:solidFill>
              </a:rPr>
              <a:t>参考資料</a:t>
            </a:r>
            <a:endParaRPr lang="ja-JP" sz="4800" dirty="0"/>
          </a:p>
        </p:txBody>
      </p:sp>
      <p:sp>
        <p:nvSpPr>
          <p:cNvPr id="3" name="Text 0"/>
          <p:cNvSpPr/>
          <p:nvPr>
            <p:ph idx="101" type="body" hasCustomPrompt="1"/>
          </p:nvPr>
        </p:nvSpPr>
        <p:spPr>
          <a:xfrm>
            <a:off x="548640" y="3474720"/>
            <a:ext cx="11094415" cy="1097280"/>
          </a:xfrm>
          <a:prstGeom prst="rect">
            <a:avLst/>
          </a:prstGeom>
          <a:noFill/>
          <a:ln/>
        </p:spPr>
        <p:txBody>
          <a:bodyPr wrap="square" lIns="0" tIns="0" rIns="0" bIns="0" rtlCol="0" anchor="t"/>
          <a:lstStyle/>
          <a:p>
            <a:pPr algn="l" indent="0" marL="0">
              <a:buNone/>
            </a:pPr>
            <a:r>
              <a:rPr lang="ja-JP" altLang="en-US" sz="2200" dirty="0">
                <a:solidFill>
                  <a:schemeClr val="accent1"/>
                </a:solidFill>
              </a:rPr>
              <a:t>詳しい内容は、リポジトリの中にそろっています</a:t>
            </a:r>
            <a:endParaRPr lang="ja-JP" sz="2200" dirty="0"/>
          </a:p>
        </p:txBody>
      </p:sp>
      <p:sp>
        <p:nvSpPr>
          <p:cNvPr id="4" name="Text 2"/>
          <p:cNvSpPr txBox="1"/>
          <p:nvPr/>
        </p:nvSpPr>
        <p:spPr>
          <a:xfrm>
            <a:off x="548640" y="3977640"/>
            <a:ext cx="11094415" cy="365760"/>
          </a:xfrm>
          <a:prstGeom prst="rect">
            <a:avLst/>
          </a:prstGeom>
          <a:noFill/>
          <a:ln/>
        </p:spPr>
        <p:txBody>
          <a:bodyPr wrap="square" lIns="0" tIns="0" rIns="0" bIns="0" rtlCol="0" anchor="t"/>
          <a:lstStyle/>
          <a:p>
            <a:pPr indent="0" marL="0">
              <a:buNone/>
            </a:pPr>
            <a:r>
              <a:rPr lang="ja-JP" altLang="en-US" sz="1600" dirty="0">
                <a:solidFill>
                  <a:schemeClr val="accent4"/>
                </a:solidFill>
                <a:latin typeface="Consolas" pitchFamily="34" charset="0"/>
                <a:ea typeface="メイリオ" pitchFamily="34" charset="-122"/>
                <a:cs typeface="Consolas" pitchFamily="34" charset="-120"/>
              </a:rPr>
              <a:t>https://github.com/raindrop-aqua/java-test-toolbelt</a:t>
            </a:r>
            <a:endParaRPr lang="ja-JP" sz="1600" dirty="0"/>
          </a:p>
        </p:txBody>
      </p:sp>
      <p:sp>
        <p:nvSpPr>
          <p:cNvPr id="5" name="Shape 3"/>
          <p:cNvSpPr/>
          <p:nvPr/>
        </p:nvSpPr>
        <p:spPr>
          <a:xfrm>
            <a:off x="548640" y="4526280"/>
            <a:ext cx="2567864" cy="1737360"/>
          </a:xfrm>
          <a:prstGeom prst="roundRect">
            <a:avLst>
              <a:gd name="adj" fmla="val 5263"/>
            </a:avLst>
          </a:prstGeom>
          <a:solidFill>
            <a:schemeClr val="tx2"/>
          </a:solidFill>
          <a:ln/>
        </p:spPr>
      </p:sp>
      <p:sp>
        <p:nvSpPr>
          <p:cNvPr id="6" name="Text 4"/>
          <p:cNvSpPr txBox="1"/>
          <p:nvPr/>
        </p:nvSpPr>
        <p:spPr>
          <a:xfrm>
            <a:off x="777240" y="4709160"/>
            <a:ext cx="2110664" cy="1463040"/>
          </a:xfrm>
          <a:prstGeom prst="rect">
            <a:avLst/>
          </a:prstGeom>
          <a:noFill/>
          <a:ln/>
        </p:spPr>
        <p:txBody>
          <a:bodyPr wrap="square" lIns="0" tIns="0" rIns="0" bIns="0" rtlCol="0" anchor="t"/>
          <a:lstStyle/>
          <a:p>
            <a:pPr indent="0" marL="0">
              <a:spcAft>
                <a:spcPts val="600"/>
              </a:spcAft>
              <a:buNone/>
            </a:pPr>
            <a:r>
              <a:rPr lang="ja-JP" altLang="en-US" sz="1500" b="1" dirty="0">
                <a:solidFill>
                  <a:schemeClr val="bg1"/>
                </a:solidFill>
              </a:rPr>
              <a:t>開発者向けの紹介</a:t>
            </a:r>
            <a:endParaRPr lang="ja-JP" sz="1500" dirty="0"/>
          </a:p>
          <a:p>
            <a:pPr indent="0" marL="0">
              <a:buNone/>
            </a:pPr>
            <a:r>
              <a:rPr lang="ja-JP" altLang="en-US" sz="1100" dirty="0">
                <a:solidFill>
                  <a:schemeClr val="accent4"/>
                </a:solidFill>
                <a:latin typeface="Consolas" pitchFamily="34" charset="0"/>
                <a:ea typeface="メイリオ" pitchFamily="34" charset="-122"/>
                <a:cs typeface="Consolas" pitchFamily="34" charset="-120"/>
              </a:rPr>
              <a:t>docs/slides/</a:t>
            </a:r>
            <a:endParaRPr lang="ja-JP" sz="1500" dirty="0"/>
          </a:p>
          <a:p>
            <a:pPr indent="0" marL="0">
              <a:spcAft>
                <a:spcPts val="600"/>
              </a:spcAft>
              <a:buNone/>
            </a:pPr>
            <a:r>
              <a:rPr lang="ja-JP" altLang="en-US" sz="1100" dirty="0">
                <a:solidFill>
                  <a:schemeClr val="accent4"/>
                </a:solidFill>
                <a:latin typeface="Consolas" pitchFamily="34" charset="0"/>
                <a:ea typeface="メイリオ" pitchFamily="34" charset="-122"/>
                <a:cs typeface="Consolas" pitchFamily="34" charset="-120"/>
              </a:rPr>
              <a:t>dbjigu-for-developers.pptx</a:t>
            </a:r>
            <a:endParaRPr lang="ja-JP" sz="1500" dirty="0"/>
          </a:p>
          <a:p>
            <a:pPr indent="0" marL="0">
              <a:buNone/>
            </a:pPr>
            <a:r>
              <a:rPr lang="ja-JP" altLang="en-US" sz="1300" dirty="0">
                <a:solidFill>
                  <a:schemeClr val="bg1"/>
                </a:solidFill>
              </a:rPr>
              <a:t>用途と書き方を短く紹介</a:t>
            </a:r>
            <a:endParaRPr lang="ja-JP" sz="1500" dirty="0"/>
          </a:p>
        </p:txBody>
      </p:sp>
      <p:sp>
        <p:nvSpPr>
          <p:cNvPr id="7" name="Shape 5"/>
          <p:cNvSpPr/>
          <p:nvPr/>
        </p:nvSpPr>
        <p:spPr>
          <a:xfrm>
            <a:off x="3390824" y="4526280"/>
            <a:ext cx="2567864" cy="1737360"/>
          </a:xfrm>
          <a:prstGeom prst="roundRect">
            <a:avLst>
              <a:gd name="adj" fmla="val 5263"/>
            </a:avLst>
          </a:prstGeom>
          <a:solidFill>
            <a:schemeClr val="tx2"/>
          </a:solidFill>
          <a:ln/>
        </p:spPr>
      </p:sp>
      <p:sp>
        <p:nvSpPr>
          <p:cNvPr id="8" name="Text 6"/>
          <p:cNvSpPr txBox="1"/>
          <p:nvPr/>
        </p:nvSpPr>
        <p:spPr>
          <a:xfrm>
            <a:off x="3619424" y="4709160"/>
            <a:ext cx="2110664" cy="1463040"/>
          </a:xfrm>
          <a:prstGeom prst="rect">
            <a:avLst/>
          </a:prstGeom>
          <a:noFill/>
          <a:ln/>
        </p:spPr>
        <p:txBody>
          <a:bodyPr wrap="square" lIns="0" tIns="0" rIns="0" bIns="0" rtlCol="0" anchor="t"/>
          <a:lstStyle/>
          <a:p>
            <a:pPr indent="0" marL="0">
              <a:spcAft>
                <a:spcPts val="600"/>
              </a:spcAft>
              <a:buNone/>
            </a:pPr>
            <a:r>
              <a:rPr lang="ja-JP" altLang="en-US" sz="1500" b="1" dirty="0">
                <a:solidFill>
                  <a:schemeClr val="bg1"/>
                </a:solidFill>
              </a:rPr>
              <a:t>エディタの紹介</a:t>
            </a:r>
            <a:endParaRPr lang="ja-JP" sz="1500" dirty="0"/>
          </a:p>
          <a:p>
            <a:pPr indent="0" marL="0">
              <a:buNone/>
            </a:pPr>
            <a:r>
              <a:rPr lang="ja-JP" altLang="en-US" sz="1100" dirty="0">
                <a:solidFill>
                  <a:schemeClr val="accent4"/>
                </a:solidFill>
                <a:latin typeface="Consolas" pitchFamily="34" charset="0"/>
                <a:ea typeface="メイリオ" pitchFamily="34" charset="-122"/>
                <a:cs typeface="Consolas" pitchFamily="34" charset="-120"/>
              </a:rPr>
              <a:t>docs/slides/</a:t>
            </a:r>
            <a:endParaRPr lang="ja-JP" sz="1500" dirty="0"/>
          </a:p>
          <a:p>
            <a:pPr indent="0" marL="0">
              <a:spcAft>
                <a:spcPts val="600"/>
              </a:spcAft>
              <a:buNone/>
            </a:pPr>
            <a:r>
              <a:rPr lang="ja-JP" altLang="en-US" sz="1100" dirty="0">
                <a:solidFill>
                  <a:schemeClr val="accent4"/>
                </a:solidFill>
                <a:latin typeface="Consolas" pitchFamily="34" charset="0"/>
                <a:ea typeface="メイリオ" pitchFamily="34" charset="-122"/>
                <a:cs typeface="Consolas" pitchFamily="34" charset="-120"/>
              </a:rPr>
              <a:t>fixture-editor.pptx</a:t>
            </a:r>
            <a:endParaRPr lang="ja-JP" sz="1500" dirty="0"/>
          </a:p>
          <a:p>
            <a:pPr indent="0" marL="0">
              <a:buNone/>
            </a:pPr>
            <a:r>
              <a:rPr lang="ja-JP" altLang="en-US" sz="1300" dirty="0">
                <a:solidFill>
                  <a:schemeClr val="bg1"/>
                </a:solidFill>
              </a:rPr>
              <a:t>フィクスチャエディタの画面と使い方</a:t>
            </a:r>
            <a:endParaRPr lang="ja-JP" sz="1500" dirty="0"/>
          </a:p>
        </p:txBody>
      </p:sp>
      <p:sp>
        <p:nvSpPr>
          <p:cNvPr id="9" name="Shape 7"/>
          <p:cNvSpPr/>
          <p:nvPr/>
        </p:nvSpPr>
        <p:spPr>
          <a:xfrm>
            <a:off x="6233008" y="4526280"/>
            <a:ext cx="2567864" cy="1737360"/>
          </a:xfrm>
          <a:prstGeom prst="roundRect">
            <a:avLst>
              <a:gd name="adj" fmla="val 5263"/>
            </a:avLst>
          </a:prstGeom>
          <a:solidFill>
            <a:schemeClr val="tx2"/>
          </a:solidFill>
          <a:ln/>
        </p:spPr>
      </p:sp>
      <p:sp>
        <p:nvSpPr>
          <p:cNvPr id="10" name="Text 8"/>
          <p:cNvSpPr txBox="1"/>
          <p:nvPr/>
        </p:nvSpPr>
        <p:spPr>
          <a:xfrm>
            <a:off x="6461608" y="4709160"/>
            <a:ext cx="2110664" cy="1463040"/>
          </a:xfrm>
          <a:prstGeom prst="rect">
            <a:avLst/>
          </a:prstGeom>
          <a:noFill/>
          <a:ln/>
        </p:spPr>
        <p:txBody>
          <a:bodyPr wrap="square" lIns="0" tIns="0" rIns="0" bIns="0" rtlCol="0" anchor="t"/>
          <a:lstStyle/>
          <a:p>
            <a:pPr indent="0" marL="0">
              <a:spcAft>
                <a:spcPts val="600"/>
              </a:spcAft>
              <a:buNone/>
            </a:pPr>
            <a:r>
              <a:rPr lang="ja-JP" altLang="en-US" sz="1500" b="1" dirty="0">
                <a:solidFill>
                  <a:schemeClr val="bg1"/>
                </a:solidFill>
              </a:rPr>
              <a:t>テスト実装ガイド</a:t>
            </a:r>
            <a:endParaRPr lang="ja-JP" sz="1500" dirty="0"/>
          </a:p>
          <a:p>
            <a:pPr indent="0" marL="0">
              <a:spcAft>
                <a:spcPts val="600"/>
              </a:spcAft>
              <a:buNone/>
            </a:pPr>
            <a:r>
              <a:rPr lang="ja-JP" altLang="en-US" sz="1100" dirty="0">
                <a:solidFill>
                  <a:schemeClr val="accent4"/>
                </a:solidFill>
                <a:latin typeface="Consolas" pitchFamily="34" charset="0"/>
                <a:ea typeface="メイリオ" pitchFamily="34" charset="-122"/>
                <a:cs typeface="Consolas" pitchFamily="34" charset="-120"/>
              </a:rPr>
              <a:t>docs/guide.ja.md</a:t>
            </a:r>
            <a:endParaRPr lang="ja-JP" sz="1500" dirty="0"/>
          </a:p>
          <a:p>
            <a:pPr indent="0" marL="0">
              <a:buNone/>
            </a:pPr>
            <a:r>
              <a:rPr lang="ja-JP" altLang="en-US" sz="1300" dirty="0">
                <a:solidFill>
                  <a:schemeClr val="bg1"/>
                </a:solidFill>
              </a:rPr>
              <a:t>例を使って、書き方を順に説明</a:t>
            </a:r>
            <a:endParaRPr lang="ja-JP" sz="1500" dirty="0"/>
          </a:p>
        </p:txBody>
      </p:sp>
      <p:sp>
        <p:nvSpPr>
          <p:cNvPr id="11" name="Shape 9"/>
          <p:cNvSpPr/>
          <p:nvPr/>
        </p:nvSpPr>
        <p:spPr>
          <a:xfrm>
            <a:off x="9075191" y="4526280"/>
            <a:ext cx="2567864" cy="1737360"/>
          </a:xfrm>
          <a:prstGeom prst="roundRect">
            <a:avLst>
              <a:gd name="adj" fmla="val 5263"/>
            </a:avLst>
          </a:prstGeom>
          <a:solidFill>
            <a:schemeClr val="tx2"/>
          </a:solidFill>
          <a:ln/>
        </p:spPr>
      </p:sp>
      <p:sp>
        <p:nvSpPr>
          <p:cNvPr id="12" name="Text 10"/>
          <p:cNvSpPr txBox="1"/>
          <p:nvPr/>
        </p:nvSpPr>
        <p:spPr>
          <a:xfrm>
            <a:off x="9303791" y="4709160"/>
            <a:ext cx="2110664" cy="1463040"/>
          </a:xfrm>
          <a:prstGeom prst="rect">
            <a:avLst/>
          </a:prstGeom>
          <a:noFill/>
          <a:ln/>
        </p:spPr>
        <p:txBody>
          <a:bodyPr wrap="square" lIns="0" tIns="0" rIns="0" bIns="0" rtlCol="0" anchor="t"/>
          <a:lstStyle/>
          <a:p>
            <a:pPr indent="0" marL="0">
              <a:spcAft>
                <a:spcPts val="600"/>
              </a:spcAft>
              <a:buNone/>
            </a:pPr>
            <a:r>
              <a:rPr lang="ja-JP" altLang="en-US" sz="1500" b="1" dirty="0">
                <a:solidFill>
                  <a:schemeClr val="bg1"/>
                </a:solidFill>
              </a:rPr>
              <a:t>README・LICENSE</a:t>
            </a:r>
            <a:endParaRPr lang="ja-JP" sz="1500" dirty="0"/>
          </a:p>
          <a:p>
            <a:pPr indent="0" marL="0">
              <a:buNone/>
            </a:pPr>
            <a:r>
              <a:rPr lang="ja-JP" altLang="en-US" sz="1100" dirty="0">
                <a:solidFill>
                  <a:schemeClr val="accent4"/>
                </a:solidFill>
                <a:latin typeface="Consolas" pitchFamily="34" charset="0"/>
                <a:ea typeface="メイリオ" pitchFamily="34" charset="-122"/>
                <a:cs typeface="Consolas" pitchFamily="34" charset="-120"/>
              </a:rPr>
              <a:t>README.ja.md</a:t>
            </a:r>
            <a:endParaRPr lang="ja-JP" sz="1500" dirty="0"/>
          </a:p>
          <a:p>
            <a:pPr indent="0" marL="0">
              <a:spcAft>
                <a:spcPts val="600"/>
              </a:spcAft>
              <a:buNone/>
            </a:pPr>
            <a:r>
              <a:rPr lang="ja-JP" altLang="en-US" sz="1100" dirty="0">
                <a:solidFill>
                  <a:schemeClr val="accent4"/>
                </a:solidFill>
                <a:latin typeface="Consolas" pitchFamily="34" charset="0"/>
                <a:ea typeface="メイリオ" pitchFamily="34" charset="-122"/>
                <a:cs typeface="Consolas" pitchFamily="34" charset="-120"/>
              </a:rPr>
              <a:t>LICENSE（MIT）</a:t>
            </a:r>
            <a:endParaRPr lang="ja-JP" sz="1500" dirty="0"/>
          </a:p>
          <a:p>
            <a:pPr indent="0" marL="0">
              <a:buNone/>
            </a:pPr>
            <a:r>
              <a:rPr lang="ja-JP" altLang="en-US" sz="1300" dirty="0">
                <a:solidFill>
                  <a:schemeClr val="bg1"/>
                </a:solidFill>
              </a:rPr>
              <a:t>著作権表示を残せば業務でも使える</a:t>
            </a:r>
            <a:endParaRPr lang="ja-JP" sz="1500" dirty="0"/>
          </a:p>
        </p:txBody>
      </p:sp>
    </p:spTree>
  </p:cSld>
  <p:clrMapOvr>
    <a:masterClrMapping/>
  </p:clrMapOvr>
</p:sld>
</file>

<file path=ppt/theme/theme1.xml><?xml version="1.0" encoding="utf-8"?>
<a:theme xmlns:a="http://schemas.openxmlformats.org/drawingml/2006/main" name="DbJigu">
  <a:themeElements>
    <a:clrScheme name="DbJigu">
      <a:dk1>
        <a:srgbClr val="1D262B"/>
      </a:dk1>
      <a:lt1>
        <a:srgbClr val="FFFFFF"/>
      </a:lt1>
      <a:dk2>
        <a:srgbClr val="33505C"/>
      </a:dk2>
      <a:lt2>
        <a:srgbClr val="EEF2F3"/>
      </a:lt2>
      <a:accent1>
        <a:srgbClr val="E39B2D"/>
      </a:accent1>
      <a:accent2>
        <a:srgbClr val="2E8B6E"/>
      </a:accent2>
      <a:accent3>
        <a:srgbClr val="E8776C"/>
      </a:accent3>
      <a:accent4>
        <a:srgbClr val="7EC4E0"/>
      </a:accent4>
      <a:accent5>
        <a:srgbClr val="8C9BA3"/>
      </a:accent5>
      <a:accent6>
        <a:srgbClr val="A6D785"/>
      </a:accent6>
      <a:hlink>
        <a:srgbClr val="2F6F9F"/>
      </a:hlink>
      <a:folHlink>
        <a:srgbClr val="6B5B95"/>
      </a:folHlink>
    </a:clrScheme>
    <a:fontScheme name="DbJigu">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DbJigu 導入の判断材料</dc:title>
  <dc:subject>PptxGenJS Presentation</dc:subject>
  <dc:creator>PptxGenJS</dc:creator>
  <cp:lastModifiedBy>PptxGenJS</cp:lastModifiedBy>
  <cp:revision>1</cp:revision>
  <dcterms:created xsi:type="dcterms:W3CDTF">2026-10-21T15:57:06Z</dcterms:created>
  <dcterms:modified xsi:type="dcterms:W3CDTF">2026-10-21T15:57:06Z</dcterms:modified>
</cp:coreProperties>
</file>