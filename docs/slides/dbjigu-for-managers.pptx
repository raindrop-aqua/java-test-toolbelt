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ja-JP"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ja-JP" altLang="en-US"/>
              <a:t>7/23/19</a:t>
            </a:fld>
            <a:endParaRPr lang="ja-JP"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ja-JP" altLang="en-US"/>
              <a:t>Click to edit Master text styles</a:t>
            </a:r>
          </a:p>
          <a:p>
            <a:pPr lvl="1"/>
            <a:r>
              <a:rPr lang="ja-JP" altLang="en-US"/>
              <a:t>Second level</a:t>
            </a:r>
          </a:p>
          <a:p>
            <a:pPr lvl="2"/>
            <a:r>
              <a:rPr lang="ja-JP" altLang="en-US"/>
              <a:t>Third level</a:t>
            </a:r>
          </a:p>
          <a:p>
            <a:pPr lvl="3"/>
            <a:r>
              <a:rPr lang="ja-JP" altLang="en-US"/>
              <a:t>Fourth level</a:t>
            </a:r>
          </a:p>
          <a:p>
            <a:pPr lvl="4"/>
            <a:r>
              <a:rPr lang="ja-JP" alt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ja-JP"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ja-JP" altLang="en-US"/>
              <a:t>‹#›</a:t>
            </a:fld>
            <a:endParaRPr lang="ja-JP" alt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DbJigu をチームのテストに取り入れるかどうかを判断するための資料です。技術的な書き方には立ち入らず、効果、コスト、リスクに絞っています。書き方は開発者向けの資料とテスト実装ガイドにあります。</a:t>
            </a:r>
            <a:endParaRPr lang="ja-JP" altLang="en-US" dirty="0"/>
          </a:p>
        </p:txBody>
      </p:sp>
      <p:sp>
        <p:nvSpPr>
          <p:cNvPr id="4" name="Slide Number Placeholder 3"/>
          <p:cNvSpPr>
            <a:spLocks noGrp="1"/>
          </p:cNvSpPr>
          <p:nvPr>
            <p:ph type="sldNum" sz="quarter" idx="10"/>
          </p:nvPr>
        </p:nvSpPr>
        <p:spPr/>
        <p:txBody>
          <a:bodyPr/>
          <a:lstStyle/>
          <a:p>
            <a:fld id="{F7021451-1387-4CA6-816F-3879F97B5CBC}" type="slidenum">
              <a:rPr lang="ja-JP" altLang="en-US"/>
              <a:t>1</a:t>
            </a:fld>
            <a:endParaRPr lang="ja-JP" alt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導入そのものは軽く、本番の成果物にも影響しません。判断のポイントは、書式の学習と、版の更新を手作業で続けられるか、そして検証の仕組みを理解したうえでレビューできるかです。</a:t>
            </a:r>
            <a:endParaRPr lang="ja-JP" altLang="en-US" dirty="0"/>
          </a:p>
        </p:txBody>
      </p:sp>
      <p:sp>
        <p:nvSpPr>
          <p:cNvPr id="4" name="Slide Number Placeholder 3"/>
          <p:cNvSpPr>
            <a:spLocks noGrp="1"/>
          </p:cNvSpPr>
          <p:nvPr>
            <p:ph type="sldNum" sz="quarter" idx="10"/>
          </p:nvPr>
        </p:nvSpPr>
        <p:spPr/>
        <p:txBody>
          <a:bodyPr/>
          <a:lstStyle/>
          <a:p>
            <a:fld id="{F7021451-1387-4CA6-816F-3879F97B5CBC}" type="slidenum">
              <a:rPr lang="ja-JP" altLang="en-US"/>
              <a:t>2</a:t>
            </a:fld>
            <a:endParaRPr lang="ja-JP" alt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テスト対象のコードは変わりません。テストの準備と確認の部分を、コードではなくテキストのファイルで書けるようにする道具です。</a:t>
            </a:r>
            <a:endParaRPr lang="ja-JP" altLang="en-US" dirty="0"/>
          </a:p>
        </p:txBody>
      </p:sp>
      <p:sp>
        <p:nvSpPr>
          <p:cNvPr id="4" name="Slide Number Placeholder 3"/>
          <p:cNvSpPr>
            <a:spLocks noGrp="1"/>
          </p:cNvSpPr>
          <p:nvPr>
            <p:ph type="sldNum" sz="quarter" idx="10"/>
          </p:nvPr>
        </p:nvSpPr>
        <p:spPr/>
        <p:txBody>
          <a:bodyPr/>
          <a:lstStyle/>
          <a:p>
            <a:fld id="{F7021451-1387-4CA6-816F-3879F97B5CBC}" type="slidenum">
              <a:rPr lang="ja-JP" altLang="en-US"/>
              <a:t>3</a:t>
            </a:fld>
            <a:endParaRPr lang="ja-JP" alt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テストのロールバックで元に戻るのは、テストのトランザクションの中で動く処理だけです。例外はリスクのスライドで説明します。</a:t>
            </a:r>
            <a:endParaRPr lang="ja-JP" altLang="en-US" dirty="0"/>
          </a:p>
        </p:txBody>
      </p:sp>
      <p:sp>
        <p:nvSpPr>
          <p:cNvPr id="4" name="Slide Number Placeholder 3"/>
          <p:cNvSpPr>
            <a:spLocks noGrp="1"/>
          </p:cNvSpPr>
          <p:nvPr>
            <p:ph type="sldNum" sz="quarter" idx="10"/>
          </p:nvPr>
        </p:nvSpPr>
        <p:spPr/>
        <p:txBody>
          <a:bodyPr/>
          <a:lstStyle/>
          <a:p>
            <a:fld id="{F7021451-1387-4CA6-816F-3879F97B5CBC}" type="slidenum">
              <a:rPr lang="ja-JP" altLang="en-US"/>
              <a:t>4</a:t>
            </a:fld>
            <a:endParaRPr lang="ja-JP" alt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いちばん大きいのは学習のコストですが、書式は小さく、ガイドとサンプルがそろっています。更新は自動ではないので、誰がいつ更新するかを決めておく必要があります。</a:t>
            </a:r>
            <a:endParaRPr lang="ja-JP" altLang="en-US" dirty="0"/>
          </a:p>
        </p:txBody>
      </p:sp>
      <p:sp>
        <p:nvSpPr>
          <p:cNvPr id="4" name="Slide Number Placeholder 3"/>
          <p:cNvSpPr>
            <a:spLocks noGrp="1"/>
          </p:cNvSpPr>
          <p:nvPr>
            <p:ph type="sldNum" sz="quarter" idx="10"/>
          </p:nvPr>
        </p:nvSpPr>
        <p:spPr/>
        <p:txBody>
          <a:bodyPr/>
          <a:lstStyle/>
          <a:p>
            <a:fld id="{F7021451-1387-4CA6-816F-3879F97B5CBC}" type="slidenum">
              <a:rPr lang="ja-JP" altLang="en-US"/>
              <a:t>5</a:t>
            </a:fld>
            <a:endParaRPr lang="ja-JP" alt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いちばん注意したいのは2つ目です。検証が通っても、余計な行が無いことまでは保証されません。DbJigu には「あってはいけない行」を確かめる機能があるので、それを使っているかをレビューで見てください。</a:t>
            </a:r>
            <a:endParaRPr lang="ja-JP" altLang="en-US" dirty="0"/>
          </a:p>
        </p:txBody>
      </p:sp>
      <p:sp>
        <p:nvSpPr>
          <p:cNvPr id="4" name="Slide Number Placeholder 3"/>
          <p:cNvSpPr>
            <a:spLocks noGrp="1"/>
          </p:cNvSpPr>
          <p:nvPr>
            <p:ph type="sldNum" sz="quarter" idx="10"/>
          </p:nvPr>
        </p:nvSpPr>
        <p:spPr/>
        <p:txBody>
          <a:bodyPr/>
          <a:lstStyle/>
          <a:p>
            <a:fld id="{F7021451-1387-4CA6-816F-3879F97B5CBC}" type="slidenum">
              <a:rPr lang="ja-JP" altLang="en-US"/>
              <a:t>6</a:t>
            </a:fld>
            <a:endParaRPr lang="ja-JP" alt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向かない条件に当てはまっても、当てはまるテストだけ別の方法で書き、それ以外で DbJigu を使うこともできます。</a:t>
            </a:r>
            <a:endParaRPr lang="ja-JP" altLang="en-US" dirty="0"/>
          </a:p>
        </p:txBody>
      </p:sp>
      <p:sp>
        <p:nvSpPr>
          <p:cNvPr id="4" name="Slide Number Placeholder 3"/>
          <p:cNvSpPr>
            <a:spLocks noGrp="1"/>
          </p:cNvSpPr>
          <p:nvPr>
            <p:ph type="sldNum" sz="quarter" idx="10"/>
          </p:nvPr>
        </p:nvSpPr>
        <p:spPr/>
        <p:txBody>
          <a:bodyPr/>
          <a:lstStyle/>
          <a:p>
            <a:fld id="{F7021451-1387-4CA6-816F-3879F97B5CBC}" type="slidenum">
              <a:rPr lang="ja-JP" altLang="en-US"/>
              <a:t>7</a:t>
            </a:fld>
            <a:endParaRPr lang="ja-JP" alt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いきなり全体に広げず、1つのモジュールで試して、効果とコストを確かめてから広げることをおすすめします。</a:t>
            </a:r>
            <a:endParaRPr lang="ja-JP" altLang="en-US" dirty="0"/>
          </a:p>
        </p:txBody>
      </p:sp>
      <p:sp>
        <p:nvSpPr>
          <p:cNvPr id="4" name="Slide Number Placeholder 3"/>
          <p:cNvSpPr>
            <a:spLocks noGrp="1"/>
          </p:cNvSpPr>
          <p:nvPr>
            <p:ph type="sldNum" sz="quarter" idx="10"/>
          </p:nvPr>
        </p:nvSpPr>
        <p:spPr/>
        <p:txBody>
          <a:bodyPr/>
          <a:lstStyle/>
          <a:p>
            <a:fld id="{F7021451-1387-4CA6-816F-3879F97B5CBC}" type="slidenum">
              <a:rPr lang="ja-JP" altLang="en-US"/>
              <a:t>8</a:t>
            </a:fld>
            <a:endParaRPr lang="ja-JP" alt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上の4つは技術的な前提、下の2つは運用の体制です。体制が決まらないまま広げると、版がそろわなくなったり、レビューの観点がばらばらになったりします。</a:t>
            </a:r>
            <a:endParaRPr lang="ja-JP" altLang="en-US" dirty="0"/>
          </a:p>
        </p:txBody>
      </p:sp>
      <p:sp>
        <p:nvSpPr>
          <p:cNvPr id="4" name="Slide Number Placeholder 3"/>
          <p:cNvSpPr>
            <a:spLocks noGrp="1"/>
          </p:cNvSpPr>
          <p:nvPr>
            <p:ph type="sldNum" sz="quarter" idx="10"/>
          </p:nvPr>
        </p:nvSpPr>
        <p:spPr/>
        <p:txBody>
          <a:bodyPr/>
          <a:lstStyle/>
          <a:p>
            <a:fld id="{F7021451-1387-4CA6-816F-3879F97B5CBC}" type="slidenum">
              <a:rPr lang="ja-JP" altLang="en-US"/>
              <a:t>9</a:t>
            </a:fld>
            <a:endParaRPr lang="ja-JP" alt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開発者にはテスト実装ガイドと開発者向けの資料を案内してください。</a:t>
            </a:r>
            <a:endParaRPr lang="ja-JP" altLang="en-US" dirty="0"/>
          </a:p>
        </p:txBody>
      </p:sp>
      <p:sp>
        <p:nvSpPr>
          <p:cNvPr id="4" name="Slide Number Placeholder 3"/>
          <p:cNvSpPr>
            <a:spLocks noGrp="1"/>
          </p:cNvSpPr>
          <p:nvPr>
            <p:ph type="sldNum" sz="quarter" idx="10"/>
          </p:nvPr>
        </p:nvSpPr>
        <p:spPr/>
        <p:txBody>
          <a:bodyPr/>
          <a:lstStyle/>
          <a:p>
            <a:fld id="{F7021451-1387-4CA6-816F-3879F97B5CBC}" type="slidenum">
              <a:rPr lang="ja-JP" altLang="en-US"/>
              <a:t>10</a:t>
            </a:fld>
            <a:endParaRPr lang="ja-JP" alt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表紙">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280160"/>
          </a:xfrm>
          <a:prstGeom prst="rect">
            <a:avLst/>
          </a:prstGeom>
          <a:noFill/>
          <a:ln/>
        </p:spPr>
        <p:txBody>
          <a:bodyPr wrap="square" rtlCol="0"/>
          <a:lstStyle>
            <a:lvl1pPr algn="l" indent="0" marL="0">
              <a:buNone/>
              <a:defRPr lang="ja-JP" altLang="en-US" sz="4800" b="1" dirty="0">
                <a:solidFill>
                  <a:schemeClr val="bg1"/>
                </a:solidFill>
              </a:defRPr>
            </a:lvl1pPr>
          </a:lstStyle>
          <a:p>
            <a:pPr algn="l" indent="0" marL="0">
              <a:buNone/>
            </a:pPr>
            <a:endParaRPr lang="ja-JP" altLang="en-US" sz="4800" dirty="0"/>
          </a:p>
        </p:txBody>
      </p:sp>
      <p:sp>
        <p:nvSpPr>
          <p:cNvPr id="3" name="Text 0"/>
          <p:cNvSpPr/>
          <p:nvPr>
            <p:ph idx="101" type="body" hasCustomPrompt="1"/>
          </p:nvPr>
        </p:nvSpPr>
        <p:spPr>
          <a:xfrm>
            <a:off x="548640" y="3474720"/>
            <a:ext cx="11094415" cy="1097280"/>
          </a:xfrm>
          <a:prstGeom prst="rect">
            <a:avLst/>
          </a:prstGeom>
          <a:noFill/>
          <a:ln/>
        </p:spPr>
        <p:txBody>
          <a:bodyPr wrap="square" rtlCol="0"/>
          <a:lstStyle>
            <a:lvl1pPr algn="l" indent="0" marL="0">
              <a:buNone/>
              <a:defRPr lang="ja-JP" altLang="en-US" sz="2200" dirty="0">
                <a:solidFill>
                  <a:schemeClr val="accent1"/>
                </a:solidFill>
              </a:defRPr>
            </a:lvl1pPr>
          </a:lstStyle>
          <a:p>
            <a:pPr algn="l" indent="0" marL="0">
              <a:buNone/>
            </a:pPr>
            <a:endParaRPr lang="ja-JP" alt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本文">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rtlCol="0"/>
          <a:lstStyle>
            <a:lvl1pPr algn="l" indent="0" marL="0">
              <a:buNone/>
              <a:defRPr lang="ja-JP" altLang="en-US" sz="3000" b="1" dirty="0">
                <a:solidFill>
                  <a:schemeClr val="tx1"/>
                </a:solidFill>
              </a:defRPr>
            </a:lvl1pPr>
          </a:lstStyle>
          <a:p>
            <a:pPr algn="l" indent="0" marL="0">
              <a:buNone/>
            </a:pPr>
            <a:endParaRPr lang="ja-JP" altLang="en-US" sz="30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ja-JP" altLang="en-US" sz="1000" dirty="0">
                <a:solidFill>
                  <a:schemeClr val="accent5"/>
                </a:solidFill>
              </a:rPr>
              <a:t>DbJigu 導入の判断材料</a:t>
            </a:r>
            <a:endParaRPr lang="ja-JP" alt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ja-JP" altLang="en-US"/>
              <a:t>1003</a:t>
            </a:fld>
            <a:endParaRPr lang="ja-JP"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ja-JP" altLang="en-US"/>
              <a:t>null</a:t>
            </a:fld>
            <a:endParaRPr lang="ja-JP"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ja-JP" alt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280160"/>
          </a:xfrm>
          <a:prstGeom prst="rect">
            <a:avLst/>
          </a:prstGeom>
          <a:noFill/>
          <a:ln/>
        </p:spPr>
        <p:txBody>
          <a:bodyPr wrap="square" lIns="0" tIns="0" rIns="0" bIns="0" rtlCol="0" anchor="b"/>
          <a:lstStyle/>
          <a:p>
            <a:pPr algn="l" indent="0" marL="0">
              <a:buNone/>
            </a:pPr>
            <a:r>
              <a:rPr lang="ja-JP" altLang="en-US" sz="4800" b="1" dirty="0">
                <a:solidFill>
                  <a:schemeClr val="bg1"/>
                </a:solidFill>
              </a:rPr>
              <a:t>DbJigu 導入の判断材料</a:t>
            </a:r>
            <a:endParaRPr lang="ja-JP" altLang="en-US" sz="4800" dirty="0"/>
          </a:p>
        </p:txBody>
      </p:sp>
      <p:sp>
        <p:nvSpPr>
          <p:cNvPr id="3" name="Text 0"/>
          <p:cNvSpPr/>
          <p:nvPr>
            <p:ph idx="101" type="body" hasCustomPrompt="1"/>
          </p:nvPr>
        </p:nvSpPr>
        <p:spPr>
          <a:xfrm>
            <a:off x="548640" y="3474720"/>
            <a:ext cx="11094415" cy="1097280"/>
          </a:xfrm>
          <a:prstGeom prst="rect">
            <a:avLst/>
          </a:prstGeom>
          <a:noFill/>
          <a:ln/>
        </p:spPr>
        <p:txBody>
          <a:bodyPr wrap="square" lIns="0" tIns="0" rIns="0" bIns="0" rtlCol="0" anchor="t"/>
          <a:lstStyle/>
          <a:p>
            <a:pPr algn="l" indent="0" marL="0">
              <a:buNone/>
            </a:pPr>
            <a:r>
              <a:rPr lang="ja-JP" altLang="en-US" sz="2200" dirty="0">
                <a:solidFill>
                  <a:schemeClr val="accent1"/>
                </a:solidFill>
              </a:rPr>
              <a:t>DB を使うテストに取り入れるときの、効果・コスト・リスク</a:t>
            </a:r>
            <a:endParaRPr lang="ja-JP" altLang="en-US" sz="2200" dirty="0"/>
          </a:p>
        </p:txBody>
      </p:sp>
      <p:sp>
        <p:nvSpPr>
          <p:cNvPr id="4" name="edition"/>
          <p:cNvSpPr txBox="1"/>
          <p:nvPr/>
        </p:nvSpPr>
        <p:spPr>
          <a:xfrm>
            <a:off x="548640" y="5852160"/>
            <a:ext cx="7315200" cy="365760"/>
          </a:xfrm>
          <a:prstGeom prst="rect">
            <a:avLst/>
          </a:prstGeom>
          <a:noFill/>
          <a:ln/>
        </p:spPr>
        <p:txBody>
          <a:bodyPr wrap="square" lIns="0" tIns="0" rIns="0" bIns="0" rtlCol="0" anchor="ctr"/>
          <a:lstStyle/>
          <a:p>
            <a:pPr indent="0" marL="0">
              <a:buNone/>
            </a:pPr>
            <a:r>
              <a:rPr lang="ja-JP" altLang="en-US" sz="1400" dirty="0">
                <a:solidFill>
                  <a:schemeClr val="accent5"/>
                </a:solidFill>
              </a:rPr>
              <a:t>プロジェクトマネージャー向け　|　v2.4.0</a:t>
            </a:r>
            <a:endParaRPr lang="ja-JP" alt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要点</a:t>
            </a:r>
            <a:endParaRPr lang="ja-JP" altLang="en-US" sz="3000" dirty="0"/>
          </a:p>
        </p:txBody>
      </p:sp>
      <p:sp>
        <p:nvSpPr>
          <p:cNvPr id="3" name="point1"/>
          <p:cNvSpPr/>
          <p:nvPr/>
        </p:nvSpPr>
        <p:spPr>
          <a:xfrm>
            <a:off x="548640" y="1371600"/>
            <a:ext cx="3454298" cy="2743200"/>
          </a:xfrm>
          <a:prstGeom prst="roundRect">
            <a:avLst>
              <a:gd name="adj" fmla="val 3333"/>
            </a:avLst>
          </a:prstGeom>
          <a:solidFill>
            <a:schemeClr val="bg2"/>
          </a:solidFill>
          <a:ln/>
        </p:spPr>
      </p:sp>
      <p:sp>
        <p:nvSpPr>
          <p:cNvPr id="4" name="pointBig1"/>
          <p:cNvSpPr txBox="1"/>
          <p:nvPr/>
        </p:nvSpPr>
        <p:spPr>
          <a:xfrm>
            <a:off x="868680" y="1645920"/>
            <a:ext cx="2814218" cy="822960"/>
          </a:xfrm>
          <a:prstGeom prst="rect">
            <a:avLst/>
          </a:prstGeom>
          <a:noFill/>
          <a:ln/>
        </p:spPr>
        <p:txBody>
          <a:bodyPr wrap="square" lIns="0" tIns="0" rIns="0" bIns="0" rtlCol="0" anchor="ctr"/>
          <a:lstStyle/>
          <a:p>
            <a:pPr indent="0" marL="0">
              <a:buNone/>
            </a:pPr>
            <a:r>
              <a:rPr lang="ja-JP" altLang="en-US" sz="3600" b="1" dirty="0">
                <a:solidFill>
                  <a:schemeClr val="accent1"/>
                </a:solidFill>
              </a:rPr>
              <a:t>1ファイル</a:t>
            </a:r>
            <a:endParaRPr lang="ja-JP" altLang="en-US" sz="3600" dirty="0"/>
          </a:p>
        </p:txBody>
      </p:sp>
      <p:sp>
        <p:nvSpPr>
          <p:cNvPr id="5" name="pointText1"/>
          <p:cNvSpPr txBox="1"/>
          <p:nvPr/>
        </p:nvSpPr>
        <p:spPr>
          <a:xfrm>
            <a:off x="868680" y="2606040"/>
            <a:ext cx="2814218" cy="1280160"/>
          </a:xfrm>
          <a:prstGeom prst="rect">
            <a:avLst/>
          </a:prstGeom>
          <a:noFill/>
          <a:ln/>
        </p:spPr>
        <p:txBody>
          <a:bodyPr wrap="square" lIns="0" tIns="0" rIns="0" bIns="0" rtlCol="0" anchor="t"/>
          <a:lstStyle/>
          <a:p>
            <a:pPr indent="0" marL="0">
              <a:buNone/>
            </a:pPr>
            <a:r>
              <a:rPr lang="ja-JP" altLang="en-US" sz="1500" dirty="0">
                <a:solidFill>
                  <a:schemeClr val="tx2"/>
                </a:solidFill>
              </a:rPr>
              <a:t>導入はソースファイル1つのコピーです。追加するライブラリはありません。</a:t>
            </a:r>
            <a:endParaRPr lang="ja-JP" altLang="en-US" sz="1500" dirty="0"/>
          </a:p>
        </p:txBody>
      </p:sp>
      <p:sp>
        <p:nvSpPr>
          <p:cNvPr id="6" name="point2"/>
          <p:cNvSpPr/>
          <p:nvPr/>
        </p:nvSpPr>
        <p:spPr>
          <a:xfrm>
            <a:off x="4368698" y="1371600"/>
            <a:ext cx="3454298" cy="2743200"/>
          </a:xfrm>
          <a:prstGeom prst="roundRect">
            <a:avLst>
              <a:gd name="adj" fmla="val 3333"/>
            </a:avLst>
          </a:prstGeom>
          <a:solidFill>
            <a:schemeClr val="bg2"/>
          </a:solidFill>
          <a:ln/>
        </p:spPr>
      </p:sp>
      <p:sp>
        <p:nvSpPr>
          <p:cNvPr id="7" name="pointBig2"/>
          <p:cNvSpPr txBox="1"/>
          <p:nvPr/>
        </p:nvSpPr>
        <p:spPr>
          <a:xfrm>
            <a:off x="4688738" y="1645920"/>
            <a:ext cx="2814218" cy="822960"/>
          </a:xfrm>
          <a:prstGeom prst="rect">
            <a:avLst/>
          </a:prstGeom>
          <a:noFill/>
          <a:ln/>
        </p:spPr>
        <p:txBody>
          <a:bodyPr wrap="square" lIns="0" tIns="0" rIns="0" bIns="0" rtlCol="0" anchor="ctr"/>
          <a:lstStyle/>
          <a:p>
            <a:pPr indent="0" marL="0">
              <a:buNone/>
            </a:pPr>
            <a:r>
              <a:rPr lang="ja-JP" altLang="en-US" sz="3600" b="1" dirty="0">
                <a:solidFill>
                  <a:schemeClr val="accent1"/>
                </a:solidFill>
              </a:rPr>
              <a:t>テスト専用</a:t>
            </a:r>
            <a:endParaRPr lang="ja-JP" altLang="en-US" sz="3600" dirty="0"/>
          </a:p>
        </p:txBody>
      </p:sp>
      <p:sp>
        <p:nvSpPr>
          <p:cNvPr id="8" name="pointText2"/>
          <p:cNvSpPr txBox="1"/>
          <p:nvPr/>
        </p:nvSpPr>
        <p:spPr>
          <a:xfrm>
            <a:off x="4688738" y="2606040"/>
            <a:ext cx="2814218" cy="1280160"/>
          </a:xfrm>
          <a:prstGeom prst="rect">
            <a:avLst/>
          </a:prstGeom>
          <a:noFill/>
          <a:ln/>
        </p:spPr>
        <p:txBody>
          <a:bodyPr wrap="square" lIns="0" tIns="0" rIns="0" bIns="0" rtlCol="0" anchor="t"/>
          <a:lstStyle/>
          <a:p>
            <a:pPr indent="0" marL="0">
              <a:buNone/>
            </a:pPr>
            <a:r>
              <a:rPr lang="ja-JP" altLang="en-US" sz="1500" dirty="0">
                <a:solidFill>
                  <a:schemeClr val="tx2"/>
                </a:solidFill>
              </a:rPr>
              <a:t>テストのソースにだけ置くので、リリースする成果物には含まれません。</a:t>
            </a:r>
            <a:endParaRPr lang="ja-JP" altLang="en-US" sz="1500" dirty="0"/>
          </a:p>
        </p:txBody>
      </p:sp>
      <p:sp>
        <p:nvSpPr>
          <p:cNvPr id="9" name="point3"/>
          <p:cNvSpPr/>
          <p:nvPr/>
        </p:nvSpPr>
        <p:spPr>
          <a:xfrm>
            <a:off x="8188757" y="1371600"/>
            <a:ext cx="3454298" cy="2743200"/>
          </a:xfrm>
          <a:prstGeom prst="roundRect">
            <a:avLst>
              <a:gd name="adj" fmla="val 3333"/>
            </a:avLst>
          </a:prstGeom>
          <a:solidFill>
            <a:schemeClr val="bg2"/>
          </a:solidFill>
          <a:ln/>
        </p:spPr>
      </p:sp>
      <p:sp>
        <p:nvSpPr>
          <p:cNvPr id="10" name="pointBig3"/>
          <p:cNvSpPr txBox="1"/>
          <p:nvPr/>
        </p:nvSpPr>
        <p:spPr>
          <a:xfrm>
            <a:off x="8508797" y="1645920"/>
            <a:ext cx="2814218" cy="822960"/>
          </a:xfrm>
          <a:prstGeom prst="rect">
            <a:avLst/>
          </a:prstGeom>
          <a:noFill/>
          <a:ln/>
        </p:spPr>
        <p:txBody>
          <a:bodyPr wrap="square" lIns="0" tIns="0" rIns="0" bIns="0" rtlCol="0" anchor="ctr"/>
          <a:lstStyle/>
          <a:p>
            <a:pPr indent="0" marL="0">
              <a:buNone/>
            </a:pPr>
            <a:r>
              <a:rPr lang="ja-JP" altLang="en-US" sz="3600" b="1" dirty="0">
                <a:solidFill>
                  <a:schemeClr val="accent1"/>
                </a:solidFill>
              </a:rPr>
              <a:t>テキスト</a:t>
            </a:r>
            <a:endParaRPr lang="ja-JP" altLang="en-US" sz="3600" dirty="0"/>
          </a:p>
        </p:txBody>
      </p:sp>
      <p:sp>
        <p:nvSpPr>
          <p:cNvPr id="11" name="pointText3"/>
          <p:cNvSpPr txBox="1"/>
          <p:nvPr/>
        </p:nvSpPr>
        <p:spPr>
          <a:xfrm>
            <a:off x="8508797" y="2606040"/>
            <a:ext cx="2814218" cy="1280160"/>
          </a:xfrm>
          <a:prstGeom prst="rect">
            <a:avLst/>
          </a:prstGeom>
          <a:noFill/>
          <a:ln/>
        </p:spPr>
        <p:txBody>
          <a:bodyPr wrap="square" lIns="0" tIns="0" rIns="0" bIns="0" rtlCol="0" anchor="t"/>
          <a:lstStyle/>
          <a:p>
            <a:pPr indent="0" marL="0">
              <a:buNone/>
            </a:pPr>
            <a:r>
              <a:rPr lang="ja-JP" altLang="en-US" sz="1500" dirty="0">
                <a:solidFill>
                  <a:schemeClr val="tx2"/>
                </a:solidFill>
              </a:rPr>
              <a:t>テストデータと期待する結果を表の形のテキストで書くので、レビューできます。</a:t>
            </a:r>
            <a:endParaRPr lang="ja-JP" altLang="en-US" sz="1500" dirty="0"/>
          </a:p>
        </p:txBody>
      </p:sp>
      <p:sp>
        <p:nvSpPr>
          <p:cNvPr id="12" name="costBox"/>
          <p:cNvSpPr/>
          <p:nvPr/>
        </p:nvSpPr>
        <p:spPr>
          <a:xfrm>
            <a:off x="548640" y="4480560"/>
            <a:ext cx="11094415" cy="1371600"/>
          </a:xfrm>
          <a:prstGeom prst="roundRect">
            <a:avLst>
              <a:gd name="adj" fmla="val 6667"/>
            </a:avLst>
          </a:prstGeom>
          <a:solidFill>
            <a:schemeClr val="tx1"/>
          </a:solidFill>
          <a:ln/>
        </p:spPr>
      </p:sp>
      <p:sp>
        <p:nvSpPr>
          <p:cNvPr id="13" name="costText"/>
          <p:cNvSpPr txBox="1"/>
          <p:nvPr/>
        </p:nvSpPr>
        <p:spPr>
          <a:xfrm>
            <a:off x="914400" y="4480560"/>
            <a:ext cx="10362895" cy="1371600"/>
          </a:xfrm>
          <a:prstGeom prst="rect">
            <a:avLst/>
          </a:prstGeom>
          <a:noFill/>
          <a:ln/>
        </p:spPr>
        <p:txBody>
          <a:bodyPr wrap="square" lIns="0" tIns="0" rIns="0" bIns="0" rtlCol="0" anchor="ctr"/>
          <a:lstStyle/>
          <a:p>
            <a:pPr indent="0" marL="0">
              <a:spcAft>
                <a:spcPts val="400"/>
              </a:spcAft>
              <a:buNone/>
            </a:pPr>
            <a:r>
              <a:rPr lang="ja-JP" altLang="en-US" sz="1700" b="1" dirty="0">
                <a:solidFill>
                  <a:schemeClr val="accent1"/>
                </a:solidFill>
              </a:rPr>
              <a:t>主なコストとリスク</a:t>
            </a:r>
            <a:endParaRPr lang="ja-JP" altLang="en-US" sz="1700" dirty="0"/>
          </a:p>
          <a:p>
            <a:pPr indent="0" marL="0">
              <a:spcAft>
                <a:spcPts val="400"/>
              </a:spcAft>
              <a:buNone/>
            </a:pPr>
            <a:r>
              <a:rPr lang="ja-JP" altLang="en-US" sz="1700" dirty="0">
                <a:solidFill>
                  <a:schemeClr val="bg1"/>
                </a:solidFill>
              </a:rPr>
              <a:t>書式を覚える手間、新しい版への手作業の更新、「ある」ことだけを確かめる仕組みの理解です。</a:t>
            </a:r>
            <a:endParaRPr lang="ja-JP" alt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ja-JP" altLang="en-US"/>
              <a:t>2</a:t>
            </a:fld>
            <a:endParaRPr lang="ja-JP"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DbJigu は何をするものか</a:t>
            </a:r>
            <a:endParaRPr lang="ja-JP" altLang="en-US" sz="3000" dirty="0"/>
          </a:p>
        </p:txBody>
      </p:sp>
      <p:sp>
        <p:nvSpPr>
          <p:cNvPr id="3" name="flowNo1"/>
          <p:cNvSpPr/>
          <p:nvPr/>
        </p:nvSpPr>
        <p:spPr>
          <a:xfrm>
            <a:off x="548640" y="1463040"/>
            <a:ext cx="640080" cy="640080"/>
          </a:xfrm>
          <a:prstGeom prst="ellipse">
            <a:avLst/>
          </a:prstGeom>
          <a:solidFill>
            <a:schemeClr val="accent1"/>
          </a:solidFill>
          <a:ln/>
        </p:spPr>
      </p:sp>
      <p:sp>
        <p:nvSpPr>
          <p:cNvPr id="4" name="flowNo1Text"/>
          <p:cNvSpPr txBox="1"/>
          <p:nvPr/>
        </p:nvSpPr>
        <p:spPr>
          <a:xfrm>
            <a:off x="548640" y="1463040"/>
            <a:ext cx="640080" cy="640080"/>
          </a:xfrm>
          <a:prstGeom prst="rect">
            <a:avLst/>
          </a:prstGeom>
          <a:noFill/>
          <a:ln/>
        </p:spPr>
        <p:txBody>
          <a:bodyPr wrap="square" lIns="0" tIns="0" rIns="0" bIns="0" rtlCol="0" anchor="ctr"/>
          <a:lstStyle/>
          <a:p>
            <a:pPr algn="ctr" indent="0" marL="0">
              <a:buNone/>
            </a:pPr>
            <a:r>
              <a:rPr lang="ja-JP" altLang="en-US" sz="2200" b="1" dirty="0">
                <a:solidFill>
                  <a:schemeClr val="tx1"/>
                </a:solidFill>
              </a:rPr>
              <a:t>1</a:t>
            </a:r>
            <a:endParaRPr lang="ja-JP" altLang="en-US" sz="2200" dirty="0"/>
          </a:p>
        </p:txBody>
      </p:sp>
      <p:sp>
        <p:nvSpPr>
          <p:cNvPr id="5" name="flowText1"/>
          <p:cNvSpPr txBox="1"/>
          <p:nvPr/>
        </p:nvSpPr>
        <p:spPr>
          <a:xfrm>
            <a:off x="1417320" y="1481328"/>
            <a:ext cx="4846320" cy="914400"/>
          </a:xfrm>
          <a:prstGeom prst="rect">
            <a:avLst/>
          </a:prstGeom>
          <a:noFill/>
          <a:ln/>
        </p:spPr>
        <p:txBody>
          <a:bodyPr wrap="square" lIns="0" tIns="0" rIns="0" bIns="0" rtlCol="0" anchor="t"/>
          <a:lstStyle/>
          <a:p>
            <a:pPr indent="0" marL="0">
              <a:spcAft>
                <a:spcPts val="600"/>
              </a:spcAft>
              <a:buNone/>
            </a:pPr>
            <a:r>
              <a:rPr lang="ja-JP" altLang="en-US" sz="1700" b="1" dirty="0">
                <a:solidFill>
                  <a:schemeClr val="tx1"/>
                </a:solidFill>
              </a:rPr>
              <a:t>テストの前に</a:t>
            </a:r>
            <a:endParaRPr lang="ja-JP" altLang="en-US" sz="1700" dirty="0"/>
          </a:p>
          <a:p>
            <a:pPr indent="0" marL="0">
              <a:buNone/>
            </a:pPr>
            <a:r>
              <a:rPr lang="ja-JP" altLang="en-US" sz="1600" dirty="0">
                <a:solidFill>
                  <a:schemeClr val="tx2"/>
                </a:solidFill>
              </a:rPr>
              <a:t>決まったデータを DB に入れる</a:t>
            </a:r>
            <a:endParaRPr lang="ja-JP" altLang="en-US" sz="1700" dirty="0"/>
          </a:p>
        </p:txBody>
      </p:sp>
      <p:sp>
        <p:nvSpPr>
          <p:cNvPr id="6" name="flowNo2"/>
          <p:cNvSpPr/>
          <p:nvPr/>
        </p:nvSpPr>
        <p:spPr>
          <a:xfrm>
            <a:off x="548640" y="2606040"/>
            <a:ext cx="640080" cy="640080"/>
          </a:xfrm>
          <a:prstGeom prst="ellipse">
            <a:avLst/>
          </a:prstGeom>
          <a:solidFill>
            <a:schemeClr val="accent5"/>
          </a:solidFill>
          <a:ln/>
        </p:spPr>
      </p:sp>
      <p:sp>
        <p:nvSpPr>
          <p:cNvPr id="7" name="flowNo2Text"/>
          <p:cNvSpPr txBox="1"/>
          <p:nvPr/>
        </p:nvSpPr>
        <p:spPr>
          <a:xfrm>
            <a:off x="548640" y="2606040"/>
            <a:ext cx="640080" cy="640080"/>
          </a:xfrm>
          <a:prstGeom prst="rect">
            <a:avLst/>
          </a:prstGeom>
          <a:noFill/>
          <a:ln/>
        </p:spPr>
        <p:txBody>
          <a:bodyPr wrap="square" lIns="0" tIns="0" rIns="0" bIns="0" rtlCol="0" anchor="ctr"/>
          <a:lstStyle/>
          <a:p>
            <a:pPr algn="ctr" indent="0" marL="0">
              <a:buNone/>
            </a:pPr>
            <a:r>
              <a:rPr lang="ja-JP" altLang="en-US" sz="2200" b="1" dirty="0">
                <a:solidFill>
                  <a:schemeClr val="tx1"/>
                </a:solidFill>
              </a:rPr>
              <a:t>2</a:t>
            </a:r>
            <a:endParaRPr lang="ja-JP" altLang="en-US" sz="2200" dirty="0"/>
          </a:p>
        </p:txBody>
      </p:sp>
      <p:sp>
        <p:nvSpPr>
          <p:cNvPr id="8" name="flowText2"/>
          <p:cNvSpPr txBox="1"/>
          <p:nvPr/>
        </p:nvSpPr>
        <p:spPr>
          <a:xfrm>
            <a:off x="1417320" y="2624328"/>
            <a:ext cx="4846320" cy="914400"/>
          </a:xfrm>
          <a:prstGeom prst="rect">
            <a:avLst/>
          </a:prstGeom>
          <a:noFill/>
          <a:ln/>
        </p:spPr>
        <p:txBody>
          <a:bodyPr wrap="square" lIns="0" tIns="0" rIns="0" bIns="0" rtlCol="0" anchor="t"/>
          <a:lstStyle/>
          <a:p>
            <a:pPr indent="0" marL="0">
              <a:spcAft>
                <a:spcPts val="600"/>
              </a:spcAft>
              <a:buNone/>
            </a:pPr>
            <a:r>
              <a:rPr lang="ja-JP" altLang="en-US" sz="1700" b="1" dirty="0">
                <a:solidFill>
                  <a:schemeClr val="tx1"/>
                </a:solidFill>
              </a:rPr>
              <a:t>テスト対象を</a:t>
            </a:r>
            <a:endParaRPr lang="ja-JP" altLang="en-US" sz="1700" dirty="0"/>
          </a:p>
          <a:p>
            <a:pPr indent="0" marL="0">
              <a:buNone/>
            </a:pPr>
            <a:r>
              <a:rPr lang="ja-JP" altLang="en-US" sz="1600" dirty="0">
                <a:solidFill>
                  <a:schemeClr val="tx2"/>
                </a:solidFill>
              </a:rPr>
              <a:t>動かす（DbJigu は関わらない）</a:t>
            </a:r>
            <a:endParaRPr lang="ja-JP" altLang="en-US" sz="1700" dirty="0"/>
          </a:p>
        </p:txBody>
      </p:sp>
      <p:sp>
        <p:nvSpPr>
          <p:cNvPr id="9" name="flowNo3"/>
          <p:cNvSpPr/>
          <p:nvPr/>
        </p:nvSpPr>
        <p:spPr>
          <a:xfrm>
            <a:off x="548640" y="3749040"/>
            <a:ext cx="640080" cy="640080"/>
          </a:xfrm>
          <a:prstGeom prst="ellipse">
            <a:avLst/>
          </a:prstGeom>
          <a:solidFill>
            <a:schemeClr val="accent1"/>
          </a:solidFill>
          <a:ln/>
        </p:spPr>
      </p:sp>
      <p:sp>
        <p:nvSpPr>
          <p:cNvPr id="10" name="flowNo3Text"/>
          <p:cNvSpPr txBox="1"/>
          <p:nvPr/>
        </p:nvSpPr>
        <p:spPr>
          <a:xfrm>
            <a:off x="548640" y="3749040"/>
            <a:ext cx="640080" cy="640080"/>
          </a:xfrm>
          <a:prstGeom prst="rect">
            <a:avLst/>
          </a:prstGeom>
          <a:noFill/>
          <a:ln/>
        </p:spPr>
        <p:txBody>
          <a:bodyPr wrap="square" lIns="0" tIns="0" rIns="0" bIns="0" rtlCol="0" anchor="ctr"/>
          <a:lstStyle/>
          <a:p>
            <a:pPr algn="ctr" indent="0" marL="0">
              <a:buNone/>
            </a:pPr>
            <a:r>
              <a:rPr lang="ja-JP" altLang="en-US" sz="2200" b="1" dirty="0">
                <a:solidFill>
                  <a:schemeClr val="tx1"/>
                </a:solidFill>
              </a:rPr>
              <a:t>3</a:t>
            </a:r>
            <a:endParaRPr lang="ja-JP" altLang="en-US" sz="2200" dirty="0"/>
          </a:p>
        </p:txBody>
      </p:sp>
      <p:sp>
        <p:nvSpPr>
          <p:cNvPr id="11" name="flowText3"/>
          <p:cNvSpPr txBox="1"/>
          <p:nvPr/>
        </p:nvSpPr>
        <p:spPr>
          <a:xfrm>
            <a:off x="1417320" y="3767328"/>
            <a:ext cx="4846320" cy="914400"/>
          </a:xfrm>
          <a:prstGeom prst="rect">
            <a:avLst/>
          </a:prstGeom>
          <a:noFill/>
          <a:ln/>
        </p:spPr>
        <p:txBody>
          <a:bodyPr wrap="square" lIns="0" tIns="0" rIns="0" bIns="0" rtlCol="0" anchor="t"/>
          <a:lstStyle/>
          <a:p>
            <a:pPr indent="0" marL="0">
              <a:spcAft>
                <a:spcPts val="600"/>
              </a:spcAft>
              <a:buNone/>
            </a:pPr>
            <a:r>
              <a:rPr lang="ja-JP" altLang="en-US" sz="1700" b="1" dirty="0">
                <a:solidFill>
                  <a:schemeClr val="tx1"/>
                </a:solidFill>
              </a:rPr>
              <a:t>処理のあとに</a:t>
            </a:r>
            <a:endParaRPr lang="ja-JP" altLang="en-US" sz="1700" dirty="0"/>
          </a:p>
          <a:p>
            <a:pPr indent="0" marL="0">
              <a:buNone/>
            </a:pPr>
            <a:r>
              <a:rPr lang="ja-JP" altLang="en-US" sz="1600" dirty="0">
                <a:solidFill>
                  <a:schemeClr val="tx2"/>
                </a:solidFill>
              </a:rPr>
              <a:t>DB が期待どおりの状態かを確かめる</a:t>
            </a:r>
            <a:endParaRPr lang="ja-JP" altLang="en-US" sz="1700" dirty="0"/>
          </a:p>
        </p:txBody>
      </p:sp>
      <p:sp>
        <p:nvSpPr>
          <p:cNvPr id="12" name="flowNote"/>
          <p:cNvSpPr txBox="1"/>
          <p:nvPr/>
        </p:nvSpPr>
        <p:spPr>
          <a:xfrm>
            <a:off x="548640" y="4937760"/>
            <a:ext cx="5760720" cy="457200"/>
          </a:xfrm>
          <a:prstGeom prst="rect">
            <a:avLst/>
          </a:prstGeom>
          <a:noFill/>
          <a:ln/>
        </p:spPr>
        <p:txBody>
          <a:bodyPr wrap="square" lIns="0" tIns="0" rIns="0" bIns="0" rtlCol="0" anchor="ctr"/>
          <a:lstStyle/>
          <a:p>
            <a:pPr indent="0" marL="0">
              <a:buNone/>
            </a:pPr>
            <a:r>
              <a:rPr lang="ja-JP" altLang="en-US" sz="1600" b="1" dirty="0">
                <a:solidFill>
                  <a:schemeClr val="tx1"/>
                </a:solidFill>
              </a:rPr>
              <a:t>1 と 3 のデータを、テキストのファイルに書きます。</a:t>
            </a:r>
            <a:endParaRPr lang="ja-JP" altLang="en-US" sz="1600" dirty="0"/>
          </a:p>
        </p:txBody>
      </p:sp>
      <p:sp>
        <p:nvSpPr>
          <p:cNvPr id="13" name="tab1"/>
          <p:cNvSpPr/>
          <p:nvPr/>
        </p:nvSpPr>
        <p:spPr>
          <a:xfrm>
            <a:off x="6675120" y="1463040"/>
            <a:ext cx="1920240" cy="420624"/>
          </a:xfrm>
          <a:prstGeom prst="roundRect">
            <a:avLst>
              <a:gd name="adj" fmla="val 13043"/>
            </a:avLst>
          </a:prstGeom>
          <a:solidFill>
            <a:schemeClr val="tx2"/>
          </a:solidFill>
          <a:ln/>
        </p:spPr>
      </p:sp>
      <p:sp>
        <p:nvSpPr>
          <p:cNvPr id="14" name="tabText1"/>
          <p:cNvSpPr txBox="1"/>
          <p:nvPr/>
        </p:nvSpPr>
        <p:spPr>
          <a:xfrm>
            <a:off x="6812280" y="1463040"/>
            <a:ext cx="1737360" cy="310896"/>
          </a:xfrm>
          <a:prstGeom prst="rect">
            <a:avLst/>
          </a:prstGeom>
          <a:noFill/>
          <a:ln/>
        </p:spPr>
        <p:txBody>
          <a:bodyPr wrap="square" lIns="0" tIns="0" rIns="0" bIns="0" rtlCol="0" anchor="ctr"/>
          <a:lstStyle/>
          <a:p>
            <a:pPr indent="0" marL="0">
              <a:buNone/>
            </a:pPr>
            <a:r>
              <a:rPr lang="ja-JP" altLang="en-US" sz="1100" dirty="0">
                <a:solidFill>
                  <a:schemeClr val="bg1"/>
                </a:solidFill>
                <a:latin typeface="Consolas" pitchFamily="34" charset="0"/>
                <a:ea typeface="メイリオ" pitchFamily="34" charset="-122"/>
                <a:cs typeface="メイリオ" pitchFamily="34" charset="-120"/>
              </a:rPr>
              <a:t>restock/expected.txt</a:t>
            </a:r>
            <a:endParaRPr lang="ja-JP" altLang="en-US" sz="1100" dirty="0"/>
          </a:p>
        </p:txBody>
      </p:sp>
      <p:sp>
        <p:nvSpPr>
          <p:cNvPr id="15" name="code1"/>
          <p:cNvSpPr/>
          <p:nvPr/>
        </p:nvSpPr>
        <p:spPr>
          <a:xfrm>
            <a:off x="6675120" y="1773936"/>
            <a:ext cx="4967935" cy="1289304"/>
          </a:xfrm>
          <a:prstGeom prst="roundRect">
            <a:avLst>
              <a:gd name="adj" fmla="val 5674"/>
            </a:avLst>
          </a:prstGeom>
          <a:solidFill>
            <a:schemeClr val="tx1"/>
          </a:solidFill>
          <a:ln/>
        </p:spPr>
      </p:sp>
      <p:sp>
        <p:nvSpPr>
          <p:cNvPr id="16" name="codeText1"/>
          <p:cNvSpPr txBox="1"/>
          <p:nvPr/>
        </p:nvSpPr>
        <p:spPr>
          <a:xfrm>
            <a:off x="6720840" y="1819656"/>
            <a:ext cx="4876495" cy="1197864"/>
          </a:xfrm>
          <a:prstGeom prst="rect">
            <a:avLst/>
          </a:prstGeom>
          <a:noFill/>
          <a:ln/>
        </p:spPr>
        <p:txBody>
          <a:bodyPr wrap="square" lIns="76200" tIns="127000" rIns="127000" bIns="76200" rtlCol="0" anchor="t"/>
          <a:lstStyle/>
          <a:p>
            <a:pPr indent="0" marL="0">
              <a:buNone/>
            </a:pPr>
            <a:r>
              <a:rPr lang="ja-JP" altLang="en-US" sz="1500" b="1" dirty="0">
                <a:solidFill>
                  <a:schemeClr val="accent1"/>
                </a:solidFill>
                <a:latin typeface="Consolas" pitchFamily="34" charset="0"/>
                <a:ea typeface="メイリオ" pitchFamily="34" charset="-122"/>
                <a:cs typeface="メイリオ" pitchFamily="34" charset="-120"/>
              </a:rPr>
              <a:t>[product]</a:t>
            </a:r>
            <a:endParaRPr lang="ja-JP" altLang="en-US" sz="1500" dirty="0"/>
          </a:p>
          <a:p>
            <a:pPr indent="0" marL="0">
              <a:buNone/>
            </a:pPr>
            <a:r>
              <a:rPr lang="ja-JP" altLang="en-US" sz="1500" dirty="0">
                <a:solidFill>
                  <a:schemeClr val="accent5"/>
                </a:solidFill>
                <a:latin typeface="Consolas" pitchFamily="34" charset="0"/>
                <a:ea typeface="メイリオ" pitchFamily="34" charset="-122"/>
                <a:cs typeface="メイリオ" pitchFamily="34" charset="-120"/>
              </a:rPr>
              <a:t>{</a:t>
            </a:r>
            <a:pPr indent="0" marL="0">
              <a:buNone/>
            </a:pPr>
            <a:r>
              <a:rPr lang="ja-JP" altLang="en-US" sz="1500" dirty="0">
                <a:solidFill>
                  <a:schemeClr val="accent4"/>
                </a:solidFill>
                <a:latin typeface="Consolas" pitchFamily="34" charset="0"/>
                <a:ea typeface="メイリオ" pitchFamily="34" charset="-122"/>
                <a:cs typeface="メイリオ" pitchFamily="34" charset="-120"/>
              </a:rPr>
              <a:t>product_code</a:t>
            </a:r>
            <a:pPr indent="0" marL="0">
              <a:buNone/>
            </a:pPr>
            <a:r>
              <a:rPr lang="ja-JP" altLang="en-US" sz="1500" dirty="0">
                <a:solidFill>
                  <a:schemeClr val="accent5"/>
                </a:solidFill>
                <a:latin typeface="Consolas" pitchFamily="34" charset="0"/>
                <a:ea typeface="メイリオ" pitchFamily="34" charset="-122"/>
                <a:cs typeface="メイリオ" pitchFamily="34" charset="-120"/>
              </a:rPr>
              <a:t>|</a:t>
            </a:r>
            <a:pPr indent="0" marL="0">
              <a:buNone/>
            </a:pPr>
            <a:r>
              <a:rPr lang="ja-JP" altLang="en-US" sz="1500" dirty="0">
                <a:solidFill>
                  <a:schemeClr val="accent4"/>
                </a:solidFill>
                <a:latin typeface="Consolas" pitchFamily="34" charset="0"/>
                <a:ea typeface="メイリオ" pitchFamily="34" charset="-122"/>
                <a:cs typeface="メイリオ" pitchFamily="34" charset="-120"/>
              </a:rPr>
              <a:t>stock</a:t>
            </a:r>
            <a:pPr indent="0" marL="0">
              <a:buNone/>
            </a:pPr>
            <a:r>
              <a:rPr lang="ja-JP" altLang="en-US" sz="1500" dirty="0">
                <a:solidFill>
                  <a:schemeClr val="accent5"/>
                </a:solidFill>
                <a:latin typeface="Consolas" pitchFamily="34" charset="0"/>
                <a:ea typeface="メイリオ" pitchFamily="34" charset="-122"/>
                <a:cs typeface="メイリオ" pitchFamily="34" charset="-120"/>
              </a:rPr>
              <a:t>}</a:t>
            </a:r>
            <a:endParaRPr lang="ja-JP" altLang="en-US" sz="1500" dirty="0"/>
          </a:p>
          <a:p>
            <a:pPr indent="0" marL="0">
              <a:buNone/>
            </a:pPr>
            <a:r>
              <a:rPr lang="ja-JP" altLang="en-US" sz="1500" dirty="0">
                <a:solidFill>
                  <a:schemeClr val="bg1"/>
                </a:solidFill>
                <a:latin typeface="Consolas" pitchFamily="34" charset="0"/>
                <a:ea typeface="メイリオ" pitchFamily="34" charset="-122"/>
                <a:cs typeface="メイリオ" pitchFamily="34" charset="-120"/>
              </a:rPr>
              <a:t>P001</a:t>
            </a:r>
            <a:pPr indent="0" marL="0">
              <a:buNone/>
            </a:pPr>
            <a:r>
              <a:rPr lang="ja-JP" altLang="en-US" sz="1500" dirty="0">
                <a:solidFill>
                  <a:schemeClr val="accent5"/>
                </a:solidFill>
                <a:latin typeface="Consolas" pitchFamily="34" charset="0"/>
                <a:ea typeface="メイリオ" pitchFamily="34" charset="-122"/>
                <a:cs typeface="メイリオ" pitchFamily="34" charset="-120"/>
              </a:rPr>
              <a:t>|</a:t>
            </a:r>
            <a:pPr indent="0" marL="0">
              <a:buNone/>
            </a:pPr>
            <a:r>
              <a:rPr lang="ja-JP" altLang="en-US" sz="1500" dirty="0">
                <a:solidFill>
                  <a:schemeClr val="bg1"/>
                </a:solidFill>
                <a:latin typeface="Consolas" pitchFamily="34" charset="0"/>
                <a:ea typeface="メイリオ" pitchFamily="34" charset="-122"/>
                <a:cs typeface="メイリオ" pitchFamily="34" charset="-120"/>
              </a:rPr>
              <a:t>100</a:t>
            </a:r>
            <a:endParaRPr lang="ja-JP" altLang="en-US" sz="1500" dirty="0"/>
          </a:p>
          <a:p>
            <a:pPr indent="0" marL="0">
              <a:buNone/>
            </a:pPr>
            <a:r>
              <a:rPr lang="ja-JP" altLang="en-US" sz="1500" dirty="0">
                <a:solidFill>
                  <a:schemeClr val="bg1"/>
                </a:solidFill>
                <a:latin typeface="Consolas" pitchFamily="34" charset="0"/>
                <a:ea typeface="メイリオ" pitchFamily="34" charset="-122"/>
                <a:cs typeface="メイリオ" pitchFamily="34" charset="-120"/>
              </a:rPr>
              <a:t>P002</a:t>
            </a:r>
            <a:pPr indent="0" marL="0">
              <a:buNone/>
            </a:pPr>
            <a:r>
              <a:rPr lang="ja-JP" altLang="en-US" sz="1500" dirty="0">
                <a:solidFill>
                  <a:schemeClr val="accent5"/>
                </a:solidFill>
                <a:latin typeface="Consolas" pitchFamily="34" charset="0"/>
                <a:ea typeface="メイリオ" pitchFamily="34" charset="-122"/>
                <a:cs typeface="メイリオ" pitchFamily="34" charset="-120"/>
              </a:rPr>
              <a:t>|</a:t>
            </a:r>
            <a:pPr indent="0" marL="0">
              <a:buNone/>
            </a:pPr>
            <a:r>
              <a:rPr lang="ja-JP" altLang="en-US" sz="1500" dirty="0">
                <a:solidFill>
                  <a:schemeClr val="bg1"/>
                </a:solidFill>
                <a:latin typeface="Consolas" pitchFamily="34" charset="0"/>
                <a:ea typeface="メイリオ" pitchFamily="34" charset="-122"/>
                <a:cs typeface="メイリオ" pitchFamily="34" charset="-120"/>
              </a:rPr>
              <a:t>80</a:t>
            </a:r>
            <a:endParaRPr lang="ja-JP" altLang="en-US" sz="1500" dirty="0"/>
          </a:p>
        </p:txBody>
      </p:sp>
      <p:sp>
        <p:nvSpPr>
          <p:cNvPr id="17" name="exampleNote"/>
          <p:cNvSpPr txBox="1"/>
          <p:nvPr/>
        </p:nvSpPr>
        <p:spPr>
          <a:xfrm>
            <a:off x="6675120" y="3246120"/>
            <a:ext cx="4967935" cy="1188720"/>
          </a:xfrm>
          <a:prstGeom prst="rect">
            <a:avLst/>
          </a:prstGeom>
          <a:noFill/>
          <a:ln/>
        </p:spPr>
        <p:txBody>
          <a:bodyPr wrap="square" lIns="0" tIns="0" rIns="0" bIns="0" rtlCol="0" anchor="t"/>
          <a:lstStyle/>
          <a:p>
            <a:pPr indent="0" marL="0">
              <a:buNone/>
            </a:pPr>
            <a:r>
              <a:rPr lang="ja-JP" altLang="en-US" sz="1400" dirty="0">
                <a:solidFill>
                  <a:schemeClr val="tx2"/>
                </a:solidFill>
              </a:rPr>
              <a:t>例：入荷のあと、商品 P002 の在庫が 80 になっていることを確かめるファイル。1行目がテーブル名、2行目が列名、3行目からが値です。</a:t>
            </a:r>
            <a:endParaRPr lang="ja-JP" altLang="en-US" sz="1400" dirty="0"/>
          </a:p>
        </p:txBody>
      </p:sp>
      <p:sp>
        <p:nvSpPr>
          <p:cNvPr id="18" name="envBox"/>
          <p:cNvSpPr/>
          <p:nvPr/>
        </p:nvSpPr>
        <p:spPr>
          <a:xfrm>
            <a:off x="6675120" y="4572000"/>
            <a:ext cx="4967935" cy="1280160"/>
          </a:xfrm>
          <a:prstGeom prst="roundRect">
            <a:avLst>
              <a:gd name="adj" fmla="val 7143"/>
            </a:avLst>
          </a:prstGeom>
          <a:solidFill>
            <a:schemeClr val="bg2"/>
          </a:solidFill>
          <a:ln/>
        </p:spPr>
      </p:sp>
      <p:sp>
        <p:nvSpPr>
          <p:cNvPr id="19" name="envText"/>
          <p:cNvSpPr txBox="1"/>
          <p:nvPr/>
        </p:nvSpPr>
        <p:spPr>
          <a:xfrm>
            <a:off x="6949440" y="4709160"/>
            <a:ext cx="4419295" cy="1051560"/>
          </a:xfrm>
          <a:prstGeom prst="rect">
            <a:avLst/>
          </a:prstGeom>
          <a:noFill/>
          <a:ln/>
        </p:spPr>
        <p:txBody>
          <a:bodyPr wrap="square" lIns="0" tIns="0" rIns="0" bIns="0" rtlCol="0" anchor="t"/>
          <a:lstStyle/>
          <a:p>
            <a:pPr indent="0" marL="0">
              <a:spcAft>
                <a:spcPts val="600"/>
              </a:spcAft>
              <a:buNone/>
            </a:pPr>
            <a:r>
              <a:rPr lang="ja-JP" altLang="en-US" sz="1500" b="1" dirty="0">
                <a:solidFill>
                  <a:schemeClr val="tx1"/>
                </a:solidFill>
              </a:rPr>
              <a:t>前提となる環境</a:t>
            </a:r>
            <a:endParaRPr lang="ja-JP" altLang="en-US" sz="1500" dirty="0"/>
          </a:p>
          <a:p>
            <a:pPr indent="0" marL="0">
              <a:buNone/>
            </a:pPr>
            <a:r>
              <a:rPr lang="ja-JP" altLang="en-US" sz="1400" dirty="0">
                <a:solidFill>
                  <a:schemeClr val="tx2"/>
                </a:solidFill>
              </a:rPr>
              <a:t>Java 17 以上と、JDBC で接続する DB（主に PostgreSQL。Oracle でも使われています）</a:t>
            </a:r>
            <a:endParaRPr lang="ja-JP" alt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ja-JP" altLang="en-US"/>
              <a:t>3</a:t>
            </a:fld>
            <a:endParaRPr lang="ja-JP"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効果：導入すると何が良くなるか</a:t>
            </a:r>
            <a:endParaRPr lang="ja-JP" altLang="en-US" sz="3000" dirty="0"/>
          </a:p>
        </p:txBody>
      </p:sp>
      <p:sp>
        <p:nvSpPr>
          <p:cNvPr id="3" name="merit1"/>
          <p:cNvSpPr/>
          <p:nvPr/>
        </p:nvSpPr>
        <p:spPr>
          <a:xfrm>
            <a:off x="548640" y="1325880"/>
            <a:ext cx="5364328" cy="1965960"/>
          </a:xfrm>
          <a:prstGeom prst="roundRect">
            <a:avLst>
              <a:gd name="adj" fmla="val 4651"/>
            </a:avLst>
          </a:prstGeom>
          <a:solidFill>
            <a:schemeClr val="bg2"/>
          </a:solidFill>
          <a:ln/>
        </p:spPr>
      </p:sp>
      <p:sp>
        <p:nvSpPr>
          <p:cNvPr id="4" name="meritMark1"/>
          <p:cNvSpPr/>
          <p:nvPr/>
        </p:nvSpPr>
        <p:spPr>
          <a:xfrm>
            <a:off x="868680" y="1645920"/>
            <a:ext cx="502920" cy="502920"/>
          </a:xfrm>
          <a:prstGeom prst="ellipse">
            <a:avLst/>
          </a:prstGeom>
          <a:solidFill>
            <a:schemeClr val="accent2"/>
          </a:solidFill>
          <a:ln/>
        </p:spPr>
      </p:sp>
      <p:sp>
        <p:nvSpPr>
          <p:cNvPr id="5" name="meritMark1Text"/>
          <p:cNvSpPr txBox="1"/>
          <p:nvPr/>
        </p:nvSpPr>
        <p:spPr>
          <a:xfrm>
            <a:off x="868680" y="1645920"/>
            <a:ext cx="502920" cy="502920"/>
          </a:xfrm>
          <a:prstGeom prst="rect">
            <a:avLst/>
          </a:prstGeom>
          <a:noFill/>
          <a:ln/>
        </p:spPr>
        <p:txBody>
          <a:bodyPr wrap="square" lIns="0" tIns="0" rIns="0" bIns="0" rtlCol="0" anchor="ctr"/>
          <a:lstStyle/>
          <a:p>
            <a:pPr algn="ctr" indent="0" marL="0">
              <a:buNone/>
            </a:pPr>
            <a:r>
              <a:rPr lang="ja-JP" altLang="en-US" sz="1800" b="1" dirty="0">
                <a:solidFill>
                  <a:schemeClr val="bg1"/>
                </a:solidFill>
              </a:rPr>
              <a:t>✓</a:t>
            </a:r>
            <a:endParaRPr lang="ja-JP" altLang="en-US" sz="1800" dirty="0"/>
          </a:p>
        </p:txBody>
      </p:sp>
      <p:sp>
        <p:nvSpPr>
          <p:cNvPr id="6" name="meritText1"/>
          <p:cNvSpPr txBox="1"/>
          <p:nvPr/>
        </p:nvSpPr>
        <p:spPr>
          <a:xfrm>
            <a:off x="1600200" y="1673352"/>
            <a:ext cx="3992728" cy="1417320"/>
          </a:xfrm>
          <a:prstGeom prst="rect">
            <a:avLst/>
          </a:prstGeom>
          <a:noFill/>
          <a:ln/>
        </p:spPr>
        <p:txBody>
          <a:bodyPr wrap="square" lIns="0" tIns="0" rIns="0" bIns="0" rtlCol="0" anchor="t"/>
          <a:lstStyle/>
          <a:p>
            <a:pPr indent="0" marL="0">
              <a:spcAft>
                <a:spcPts val="600"/>
              </a:spcAft>
              <a:buNone/>
            </a:pPr>
            <a:r>
              <a:rPr lang="ja-JP" altLang="en-US" sz="1800" b="1" dirty="0">
                <a:solidFill>
                  <a:schemeClr val="tx1"/>
                </a:solidFill>
              </a:rPr>
              <a:t>テストデータをレビューできる</a:t>
            </a:r>
            <a:endParaRPr lang="ja-JP" altLang="en-US" sz="1800" dirty="0"/>
          </a:p>
          <a:p>
            <a:pPr indent="0" marL="0">
              <a:buNone/>
            </a:pPr>
            <a:r>
              <a:rPr lang="ja-JP" altLang="en-US" sz="1500" dirty="0">
                <a:solidFill>
                  <a:schemeClr val="tx2"/>
                </a:solidFill>
              </a:rPr>
              <a:t>表の形のテキストなので、変更が差分で見えます。何を前提に何を確かめているかを、コードを読まずに確認できます。</a:t>
            </a:r>
            <a:endParaRPr lang="ja-JP" altLang="en-US" sz="1800" dirty="0"/>
          </a:p>
        </p:txBody>
      </p:sp>
      <p:sp>
        <p:nvSpPr>
          <p:cNvPr id="7" name="merit2"/>
          <p:cNvSpPr/>
          <p:nvPr/>
        </p:nvSpPr>
        <p:spPr>
          <a:xfrm>
            <a:off x="6278728" y="1325880"/>
            <a:ext cx="5364328" cy="1965960"/>
          </a:xfrm>
          <a:prstGeom prst="roundRect">
            <a:avLst>
              <a:gd name="adj" fmla="val 4651"/>
            </a:avLst>
          </a:prstGeom>
          <a:solidFill>
            <a:schemeClr val="bg2"/>
          </a:solidFill>
          <a:ln/>
        </p:spPr>
      </p:sp>
      <p:sp>
        <p:nvSpPr>
          <p:cNvPr id="8" name="meritMark2"/>
          <p:cNvSpPr/>
          <p:nvPr/>
        </p:nvSpPr>
        <p:spPr>
          <a:xfrm>
            <a:off x="6598768" y="1645920"/>
            <a:ext cx="502920" cy="502920"/>
          </a:xfrm>
          <a:prstGeom prst="ellipse">
            <a:avLst/>
          </a:prstGeom>
          <a:solidFill>
            <a:schemeClr val="accent2"/>
          </a:solidFill>
          <a:ln/>
        </p:spPr>
      </p:sp>
      <p:sp>
        <p:nvSpPr>
          <p:cNvPr id="9" name="meritMark2Text"/>
          <p:cNvSpPr txBox="1"/>
          <p:nvPr/>
        </p:nvSpPr>
        <p:spPr>
          <a:xfrm>
            <a:off x="6598768" y="1645920"/>
            <a:ext cx="502920" cy="502920"/>
          </a:xfrm>
          <a:prstGeom prst="rect">
            <a:avLst/>
          </a:prstGeom>
          <a:noFill/>
          <a:ln/>
        </p:spPr>
        <p:txBody>
          <a:bodyPr wrap="square" lIns="0" tIns="0" rIns="0" bIns="0" rtlCol="0" anchor="ctr"/>
          <a:lstStyle/>
          <a:p>
            <a:pPr algn="ctr" indent="0" marL="0">
              <a:buNone/>
            </a:pPr>
            <a:r>
              <a:rPr lang="ja-JP" altLang="en-US" sz="1800" b="1" dirty="0">
                <a:solidFill>
                  <a:schemeClr val="bg1"/>
                </a:solidFill>
              </a:rPr>
              <a:t>✓</a:t>
            </a:r>
            <a:endParaRPr lang="ja-JP" altLang="en-US" sz="1800" dirty="0"/>
          </a:p>
        </p:txBody>
      </p:sp>
      <p:sp>
        <p:nvSpPr>
          <p:cNvPr id="10" name="meritText2"/>
          <p:cNvSpPr txBox="1"/>
          <p:nvPr/>
        </p:nvSpPr>
        <p:spPr>
          <a:xfrm>
            <a:off x="7330288" y="1673352"/>
            <a:ext cx="3992728" cy="1417320"/>
          </a:xfrm>
          <a:prstGeom prst="rect">
            <a:avLst/>
          </a:prstGeom>
          <a:noFill/>
          <a:ln/>
        </p:spPr>
        <p:txBody>
          <a:bodyPr wrap="square" lIns="0" tIns="0" rIns="0" bIns="0" rtlCol="0" anchor="t"/>
          <a:lstStyle/>
          <a:p>
            <a:pPr indent="0" marL="0">
              <a:spcAft>
                <a:spcPts val="600"/>
              </a:spcAft>
              <a:buNone/>
            </a:pPr>
            <a:r>
              <a:rPr lang="ja-JP" altLang="en-US" sz="1800" b="1" dirty="0">
                <a:solidFill>
                  <a:schemeClr val="tx1"/>
                </a:solidFill>
              </a:rPr>
              <a:t>導入が軽い</a:t>
            </a:r>
            <a:endParaRPr lang="ja-JP" altLang="en-US" sz="1800" dirty="0"/>
          </a:p>
          <a:p>
            <a:pPr indent="0" marL="0">
              <a:buNone/>
            </a:pPr>
            <a:r>
              <a:rPr lang="ja-JP" altLang="en-US" sz="1500" dirty="0">
                <a:solidFill>
                  <a:schemeClr val="tx2"/>
                </a:solidFill>
              </a:rPr>
              <a:t>依存するライブラリを増やさず、1ファイルのコピーで使えます。約900行の1ファイルなので、中身を確かめることもできます。</a:t>
            </a:r>
            <a:endParaRPr lang="ja-JP" altLang="en-US" sz="1800" dirty="0"/>
          </a:p>
        </p:txBody>
      </p:sp>
      <p:sp>
        <p:nvSpPr>
          <p:cNvPr id="11" name="merit3"/>
          <p:cNvSpPr/>
          <p:nvPr/>
        </p:nvSpPr>
        <p:spPr>
          <a:xfrm>
            <a:off x="548640" y="3566160"/>
            <a:ext cx="5364328" cy="1965960"/>
          </a:xfrm>
          <a:prstGeom prst="roundRect">
            <a:avLst>
              <a:gd name="adj" fmla="val 4651"/>
            </a:avLst>
          </a:prstGeom>
          <a:solidFill>
            <a:schemeClr val="bg2"/>
          </a:solidFill>
          <a:ln/>
        </p:spPr>
      </p:sp>
      <p:sp>
        <p:nvSpPr>
          <p:cNvPr id="12" name="meritMark3"/>
          <p:cNvSpPr/>
          <p:nvPr/>
        </p:nvSpPr>
        <p:spPr>
          <a:xfrm>
            <a:off x="868680" y="3886200"/>
            <a:ext cx="502920" cy="502920"/>
          </a:xfrm>
          <a:prstGeom prst="ellipse">
            <a:avLst/>
          </a:prstGeom>
          <a:solidFill>
            <a:schemeClr val="accent2"/>
          </a:solidFill>
          <a:ln/>
        </p:spPr>
      </p:sp>
      <p:sp>
        <p:nvSpPr>
          <p:cNvPr id="13" name="meritMark3Text"/>
          <p:cNvSpPr txBox="1"/>
          <p:nvPr/>
        </p:nvSpPr>
        <p:spPr>
          <a:xfrm>
            <a:off x="868680" y="3886200"/>
            <a:ext cx="502920" cy="502920"/>
          </a:xfrm>
          <a:prstGeom prst="rect">
            <a:avLst/>
          </a:prstGeom>
          <a:noFill/>
          <a:ln/>
        </p:spPr>
        <p:txBody>
          <a:bodyPr wrap="square" lIns="0" tIns="0" rIns="0" bIns="0" rtlCol="0" anchor="ctr"/>
          <a:lstStyle/>
          <a:p>
            <a:pPr algn="ctr" indent="0" marL="0">
              <a:buNone/>
            </a:pPr>
            <a:r>
              <a:rPr lang="ja-JP" altLang="en-US" sz="1800" b="1" dirty="0">
                <a:solidFill>
                  <a:schemeClr val="bg1"/>
                </a:solidFill>
              </a:rPr>
              <a:t>✓</a:t>
            </a:r>
            <a:endParaRPr lang="ja-JP" altLang="en-US" sz="1800" dirty="0"/>
          </a:p>
        </p:txBody>
      </p:sp>
      <p:sp>
        <p:nvSpPr>
          <p:cNvPr id="14" name="meritText3"/>
          <p:cNvSpPr txBox="1"/>
          <p:nvPr/>
        </p:nvSpPr>
        <p:spPr>
          <a:xfrm>
            <a:off x="1600200" y="3913632"/>
            <a:ext cx="3992728" cy="1417320"/>
          </a:xfrm>
          <a:prstGeom prst="rect">
            <a:avLst/>
          </a:prstGeom>
          <a:noFill/>
          <a:ln/>
        </p:spPr>
        <p:txBody>
          <a:bodyPr wrap="square" lIns="0" tIns="0" rIns="0" bIns="0" rtlCol="0" anchor="t"/>
          <a:lstStyle/>
          <a:p>
            <a:pPr indent="0" marL="0">
              <a:spcAft>
                <a:spcPts val="600"/>
              </a:spcAft>
              <a:buNone/>
            </a:pPr>
            <a:r>
              <a:rPr lang="ja-JP" altLang="en-US" sz="1800" b="1" dirty="0">
                <a:solidFill>
                  <a:schemeClr val="tx1"/>
                </a:solidFill>
              </a:rPr>
              <a:t>テスト同士が干渉しにくい</a:t>
            </a:r>
            <a:endParaRPr lang="ja-JP" altLang="en-US" sz="1800" dirty="0"/>
          </a:p>
          <a:p>
            <a:pPr indent="0" marL="0">
              <a:buNone/>
            </a:pPr>
            <a:r>
              <a:rPr lang="ja-JP" altLang="en-US" sz="1500" dirty="0">
                <a:solidFill>
                  <a:schemeClr val="tx2"/>
                </a:solidFill>
              </a:rPr>
              <a:t>投入したデータはテストのロールバックで元に戻るので、次のテストや共有の DB に残りません。</a:t>
            </a:r>
            <a:endParaRPr lang="ja-JP" altLang="en-US" sz="1800" dirty="0"/>
          </a:p>
        </p:txBody>
      </p:sp>
      <p:sp>
        <p:nvSpPr>
          <p:cNvPr id="15" name="merit4"/>
          <p:cNvSpPr/>
          <p:nvPr/>
        </p:nvSpPr>
        <p:spPr>
          <a:xfrm>
            <a:off x="6278728" y="3566160"/>
            <a:ext cx="5364328" cy="1965960"/>
          </a:xfrm>
          <a:prstGeom prst="roundRect">
            <a:avLst>
              <a:gd name="adj" fmla="val 4651"/>
            </a:avLst>
          </a:prstGeom>
          <a:solidFill>
            <a:schemeClr val="bg2"/>
          </a:solidFill>
          <a:ln/>
        </p:spPr>
      </p:sp>
      <p:sp>
        <p:nvSpPr>
          <p:cNvPr id="16" name="meritMark4"/>
          <p:cNvSpPr/>
          <p:nvPr/>
        </p:nvSpPr>
        <p:spPr>
          <a:xfrm>
            <a:off x="6598768" y="3886200"/>
            <a:ext cx="502920" cy="502920"/>
          </a:xfrm>
          <a:prstGeom prst="ellipse">
            <a:avLst/>
          </a:prstGeom>
          <a:solidFill>
            <a:schemeClr val="accent2"/>
          </a:solidFill>
          <a:ln/>
        </p:spPr>
      </p:sp>
      <p:sp>
        <p:nvSpPr>
          <p:cNvPr id="17" name="meritMark4Text"/>
          <p:cNvSpPr txBox="1"/>
          <p:nvPr/>
        </p:nvSpPr>
        <p:spPr>
          <a:xfrm>
            <a:off x="6598768" y="3886200"/>
            <a:ext cx="502920" cy="502920"/>
          </a:xfrm>
          <a:prstGeom prst="rect">
            <a:avLst/>
          </a:prstGeom>
          <a:noFill/>
          <a:ln/>
        </p:spPr>
        <p:txBody>
          <a:bodyPr wrap="square" lIns="0" tIns="0" rIns="0" bIns="0" rtlCol="0" anchor="ctr"/>
          <a:lstStyle/>
          <a:p>
            <a:pPr algn="ctr" indent="0" marL="0">
              <a:buNone/>
            </a:pPr>
            <a:r>
              <a:rPr lang="ja-JP" altLang="en-US" sz="1800" b="1" dirty="0">
                <a:solidFill>
                  <a:schemeClr val="bg1"/>
                </a:solidFill>
              </a:rPr>
              <a:t>✓</a:t>
            </a:r>
            <a:endParaRPr lang="ja-JP" altLang="en-US" sz="1800" dirty="0"/>
          </a:p>
        </p:txBody>
      </p:sp>
      <p:sp>
        <p:nvSpPr>
          <p:cNvPr id="18" name="meritText4"/>
          <p:cNvSpPr txBox="1"/>
          <p:nvPr/>
        </p:nvSpPr>
        <p:spPr>
          <a:xfrm>
            <a:off x="7330288" y="3913632"/>
            <a:ext cx="3992728" cy="1417320"/>
          </a:xfrm>
          <a:prstGeom prst="rect">
            <a:avLst/>
          </a:prstGeom>
          <a:noFill/>
          <a:ln/>
        </p:spPr>
        <p:txBody>
          <a:bodyPr wrap="square" lIns="0" tIns="0" rIns="0" bIns="0" rtlCol="0" anchor="t"/>
          <a:lstStyle/>
          <a:p>
            <a:pPr indent="0" marL="0">
              <a:spcAft>
                <a:spcPts val="600"/>
              </a:spcAft>
              <a:buNone/>
            </a:pPr>
            <a:r>
              <a:rPr lang="ja-JP" altLang="en-US" sz="1800" b="1" dirty="0">
                <a:solidFill>
                  <a:schemeClr val="tx1"/>
                </a:solidFill>
              </a:rPr>
              <a:t>失敗の原因を追いやすい</a:t>
            </a:r>
            <a:endParaRPr lang="ja-JP" altLang="en-US" sz="1800" dirty="0"/>
          </a:p>
          <a:p>
            <a:pPr indent="0" marL="0">
              <a:buNone/>
            </a:pPr>
            <a:r>
              <a:rPr lang="ja-JP" altLang="en-US" sz="1500" dirty="0">
                <a:solidFill>
                  <a:schemeClr val="tx2"/>
                </a:solidFill>
              </a:rPr>
              <a:t>失敗すると、どのファイルの何行目が、どの列で違ったかを表示します。書き間違いはエラーになり、気づかずに成功することはありません。</a:t>
            </a:r>
            <a:endParaRPr lang="ja-JP" altLang="en-US" sz="1800" dirty="0"/>
          </a:p>
        </p:txBody>
      </p:sp>
      <p:sp>
        <p:nvSpPr>
          <p:cNvPr id="19" name="editorNote"/>
          <p:cNvSpPr txBox="1"/>
          <p:nvPr/>
        </p:nvSpPr>
        <p:spPr>
          <a:xfrm>
            <a:off x="548640" y="5852160"/>
            <a:ext cx="11094415" cy="365760"/>
          </a:xfrm>
          <a:prstGeom prst="rect">
            <a:avLst/>
          </a:prstGeom>
          <a:noFill/>
          <a:ln/>
        </p:spPr>
        <p:txBody>
          <a:bodyPr wrap="square" lIns="0" tIns="0" rIns="0" bIns="0" rtlCol="0" anchor="ctr"/>
          <a:lstStyle/>
          <a:p>
            <a:pPr indent="0" marL="0">
              <a:buNone/>
            </a:pPr>
            <a:r>
              <a:rPr lang="ja-JP" altLang="en-US" sz="1300" dirty="0">
                <a:solidFill>
                  <a:schemeClr val="tx2"/>
                </a:solidFill>
              </a:rPr>
              <a:t>フィクスチャエディタ（ブラウザで開くだけで使え、ネットワークには接続しない）で、書き間違いをテストの前に見つけられます。</a:t>
            </a:r>
            <a:endParaRPr lang="ja-JP" alt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ja-JP" altLang="en-US"/>
              <a:t>4</a:t>
            </a:fld>
            <a:endParaRPr lang="ja-JP"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コスト：何に手間がかかるか</a:t>
            </a:r>
            <a:endParaRPr lang="ja-JP" altLang="en-US" sz="3000" dirty="0"/>
          </a:p>
        </p:txBody>
      </p:sp>
      <p:graphicFrame>
        <p:nvGraphicFramePr>
          <p:cNvPr id="6" name="cost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463040"/>
                <a:gridCol w="5120640"/>
                <a:gridCol w="4510735"/>
              </a:tblGrid>
              <a:tr h="457200">
                <a:tc>
                  <a:txBody>
                    <a:bodyPr/>
                    <a:lstStyle/>
                    <a:p>
                      <a:pPr indent="0" marL="0">
                        <a:buNone/>
                      </a:pPr>
                      <a:r>
                        <a:rPr lang="ja-JP" altLang="en-US" sz="1400" b="1" dirty="0">
                          <a:solidFill>
                            <a:schemeClr val="bg1"/>
                          </a:solidFill>
                        </a:rPr>
                        <a:t>区分</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c>
                  <a:txBody>
                    <a:bodyPr/>
                    <a:lstStyle/>
                    <a:p>
                      <a:pPr indent="0" marL="0">
                        <a:buNone/>
                      </a:pPr>
                      <a:r>
                        <a:rPr lang="ja-JP" altLang="en-US" sz="1400" b="1" dirty="0">
                          <a:solidFill>
                            <a:schemeClr val="bg1"/>
                          </a:solidFill>
                        </a:rPr>
                        <a:t>かかる手間</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c>
                  <a:txBody>
                    <a:bodyPr/>
                    <a:lstStyle/>
                    <a:p>
                      <a:pPr indent="0" marL="0">
                        <a:buNone/>
                      </a:pPr>
                      <a:r>
                        <a:rPr lang="ja-JP" altLang="en-US" sz="1400" b="1" dirty="0">
                          <a:solidFill>
                            <a:schemeClr val="bg1"/>
                          </a:solidFill>
                        </a:rPr>
                        <a:t>軽くする手段</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r>
              <a:tr h="868680">
                <a:tc>
                  <a:txBody>
                    <a:bodyPr/>
                    <a:lstStyle/>
                    <a:p>
                      <a:pPr indent="0" marL="0">
                        <a:buNone/>
                      </a:pPr>
                      <a:r>
                        <a:rPr lang="ja-JP" altLang="en-US" sz="1400" b="1" dirty="0">
                          <a:solidFill>
                            <a:schemeClr val="tx1"/>
                          </a:solidFill>
                        </a:rPr>
                        <a:t>導入</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ファイルをコピーし、先頭の package の1行を書き換えます。JDBC ドライバは、いま使っているものをそのまま使います。</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868680">
                <a:tc>
                  <a:txBody>
                    <a:bodyPr/>
                    <a:lstStyle/>
                    <a:p>
                      <a:pPr indent="0" marL="0">
                        <a:buNone/>
                      </a:pPr>
                      <a:r>
                        <a:rPr lang="ja-JP" altLang="en-US" sz="1400" b="1" dirty="0">
                          <a:solidFill>
                            <a:schemeClr val="tx1"/>
                          </a:solidFill>
                        </a:rPr>
                        <a:t>学習</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フィクスチャの書式（テーブル名・列名・値、比較の記号、パターン番号）を覚えます。</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テスト実装ガイド、動くサンプル、開発者向けの資料</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868680">
                <a:tc>
                  <a:txBody>
                    <a:bodyPr/>
                    <a:lstStyle/>
                    <a:p>
                      <a:pPr indent="0" marL="0">
                        <a:buNone/>
                      </a:pPr>
                      <a:r>
                        <a:rPr lang="ja-JP" altLang="en-US" sz="1400" b="1" dirty="0">
                          <a:solidFill>
                            <a:schemeClr val="tx1"/>
                          </a:solidFill>
                        </a:rPr>
                        <a:t>作成</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テストデータを書く手間そのものは残ります。</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フィクスチャエディタ（表で編集、Excel から貼り付け、DDL から列を展開）</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868680">
                <a:tc>
                  <a:txBody>
                    <a:bodyPr/>
                    <a:lstStyle/>
                    <a:p>
                      <a:pPr indent="0" marL="0">
                        <a:buNone/>
                      </a:pPr>
                      <a:r>
                        <a:rPr lang="ja-JP" altLang="en-US" sz="1400" b="1" dirty="0">
                          <a:solidFill>
                            <a:schemeClr val="tx1"/>
                          </a:solidFill>
                        </a:rPr>
                        <a:t>更新</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新しい版にするときは、ファイルを置き換えて package を書き換えます（手作業）。</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クラスの説明に書かれた版番号で、どの版を使っているかが分かる</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bl>
          </a:graphicData>
        </a:graphic>
      </p:graphicFrame>
      <p:sp>
        <p:nvSpPr>
          <p:cNvPr id="4" name="licenseNote"/>
          <p:cNvSpPr txBox="1"/>
          <p:nvPr/>
        </p:nvSpPr>
        <p:spPr>
          <a:xfrm>
            <a:off x="548640" y="5760720"/>
            <a:ext cx="11094415" cy="365760"/>
          </a:xfrm>
          <a:prstGeom prst="rect">
            <a:avLst/>
          </a:prstGeom>
          <a:noFill/>
          <a:ln/>
        </p:spPr>
        <p:txBody>
          <a:bodyPr wrap="square" lIns="0" tIns="0" rIns="0" bIns="0" rtlCol="0" anchor="ctr"/>
          <a:lstStyle/>
          <a:p>
            <a:pPr indent="0" marL="0">
              <a:buNone/>
            </a:pPr>
            <a:r>
              <a:rPr lang="ja-JP" altLang="en-US" sz="1400" dirty="0">
                <a:solidFill>
                  <a:schemeClr val="tx2"/>
                </a:solidFill>
              </a:rPr>
              <a:t>ライセンスは MIT です。ファイル先頭の著作権表示を残せば、業務でも使えます。費用はかかりません。</a:t>
            </a:r>
            <a:endParaRPr lang="ja-JP" alt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ja-JP" altLang="en-US"/>
              <a:t>5</a:t>
            </a:fld>
            <a:endParaRPr lang="ja-JP"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デメリットとリスク</a:t>
            </a:r>
            <a:endParaRPr lang="ja-JP" altLang="en-US" sz="3000" dirty="0"/>
          </a:p>
        </p:txBody>
      </p:sp>
      <p:graphicFrame>
        <p:nvGraphicFramePr>
          <p:cNvPr id="7" name="risk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194560"/>
                <a:gridCol w="4572000"/>
                <a:gridCol w="4327855"/>
              </a:tblGrid>
              <a:tr h="457200">
                <a:tc>
                  <a:txBody>
                    <a:bodyPr/>
                    <a:lstStyle/>
                    <a:p>
                      <a:pPr indent="0" marL="0">
                        <a:buNone/>
                      </a:pPr>
                      <a:r>
                        <a:rPr lang="ja-JP" altLang="en-US" sz="1400" b="1" dirty="0">
                          <a:solidFill>
                            <a:schemeClr val="bg1"/>
                          </a:solidFill>
                        </a:rPr>
                        <a:t>項目</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c>
                  <a:txBody>
                    <a:bodyPr/>
                    <a:lstStyle/>
                    <a:p>
                      <a:pPr indent="0" marL="0">
                        <a:buNone/>
                      </a:pPr>
                      <a:r>
                        <a:rPr lang="ja-JP" altLang="en-US" sz="1400" b="1" dirty="0">
                          <a:solidFill>
                            <a:schemeClr val="bg1"/>
                          </a:solidFill>
                        </a:rPr>
                        <a:t>起きること</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c>
                  <a:txBody>
                    <a:bodyPr/>
                    <a:lstStyle/>
                    <a:p>
                      <a:pPr indent="0" marL="0">
                        <a:buNone/>
                      </a:pPr>
                      <a:r>
                        <a:rPr lang="ja-JP" altLang="en-US" sz="1400" b="1" dirty="0">
                          <a:solidFill>
                            <a:schemeClr val="bg1"/>
                          </a:solidFill>
                        </a:rPr>
                        <a:t>対策</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solidFill>
                      <a:schemeClr val="tx2"/>
                    </a:solidFill>
                  </a:tcPr>
                </a:tc>
              </a:tr>
              <a:tr h="841248">
                <a:tc>
                  <a:txBody>
                    <a:bodyPr/>
                    <a:lstStyle/>
                    <a:p>
                      <a:pPr indent="0" marL="0">
                        <a:buNone/>
                      </a:pPr>
                      <a:r>
                        <a:rPr lang="ja-JP" altLang="en-US" sz="1400" b="1" dirty="0">
                          <a:solidFill>
                            <a:schemeClr val="tx1"/>
                          </a:solidFill>
                        </a:rPr>
                        <a:t>更新が手作業</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チームやモジュールごとにコピーが分かれ、版がそろわなくなります。手を加えると新しい版に上げにくくなります。</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コピーした版を記録し、ファイルには手を加えない</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841248">
                <a:tc>
                  <a:txBody>
                    <a:bodyPr/>
                    <a:lstStyle/>
                    <a:p>
                      <a:pPr indent="0" marL="0">
                        <a:buNone/>
                      </a:pPr>
                      <a:r>
                        <a:rPr lang="ja-JP" altLang="en-US" sz="1400" b="1" dirty="0">
                          <a:solidFill>
                            <a:schemeClr val="tx1"/>
                          </a:solidFill>
                        </a:rPr>
                        <a:t>「ある」ことだけを確かめる</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書いた行があるかを確かめる仕組みなので、余計な行が増えても、それだけでは失敗しません。</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「あってはいけない行」や件数の確認もレビューの観点に入れる</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841248">
                <a:tc>
                  <a:txBody>
                    <a:bodyPr/>
                    <a:lstStyle/>
                    <a:p>
                      <a:pPr indent="0" marL="0">
                        <a:buNone/>
                      </a:pPr>
                      <a:r>
                        <a:rPr lang="ja-JP" altLang="en-US" sz="1400" b="1" dirty="0">
                          <a:solidFill>
                            <a:schemeClr val="tx1"/>
                          </a:solidFill>
                        </a:rPr>
                        <a:t>書けない値がある</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 や改行を含む値、前後の空白、文字列の &lt;null&gt; は書けません。</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そうした値が多いテストは、別の方法で準備する</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841248">
                <a:tc>
                  <a:txBody>
                    <a:bodyPr/>
                    <a:lstStyle/>
                    <a:p>
                      <a:pPr indent="0" marL="0">
                        <a:buNone/>
                      </a:pPr>
                      <a:r>
                        <a:rPr lang="ja-JP" altLang="en-US" sz="1400" b="1" dirty="0">
                          <a:solidFill>
                            <a:schemeClr val="tx1"/>
                          </a:solidFill>
                        </a:rPr>
                        <a:t>トランザクションの外</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別スレッドなどでテストのトランザクションの外から DB を更新すると、データが残ります。</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その部分は、テストの後にデータを消す</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r h="841248">
                <a:tc>
                  <a:txBody>
                    <a:bodyPr/>
                    <a:lstStyle/>
                    <a:p>
                      <a:pPr indent="0" marL="0">
                        <a:buNone/>
                      </a:pPr>
                      <a:r>
                        <a:rPr lang="ja-JP" altLang="en-US" sz="1400" b="1" dirty="0">
                          <a:solidFill>
                            <a:schemeClr val="tx1"/>
                          </a:solidFill>
                        </a:rPr>
                        <a:t>自動テストの対象</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自動テストは PostgreSQL だけです。Oracle は使われた実績がありますが、自動テストはしていません。</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c>
                  <a:txBody>
                    <a:bodyPr/>
                    <a:lstStyle/>
                    <a:p>
                      <a:pPr indent="0" marL="0">
                        <a:buNone/>
                      </a:pPr>
                      <a:r>
                        <a:rPr lang="ja-JP" altLang="en-US" sz="1400" dirty="0">
                          <a:solidFill>
                            <a:schemeClr val="tx2"/>
                          </a:solidFill>
                        </a:rPr>
                        <a:t>Oracle で使うときは、最初に動作を確かめる</a:t>
                      </a:r>
                      <a:endParaRPr lang="ja-JP" altLang="en-US" sz="1400" dirty="0"/>
                    </a:p>
                  </a:txBody>
                  <a:tcPr marL="101600" marR="101600" marT="63500" marB="63500" anchor="ctr">
                    <a:lnL w="9525" cap="flat" cmpd="sng" algn="ctr">
                      <a:solidFill>
                        <a:srgbClr val="EEF2F3"/>
                      </a:solidFill>
                      <a:prstDash val="solid"/>
                      <a:round/>
                      <a:headEnd type="none" w="med" len="med"/>
                      <a:tailEnd type="none" w="med" len="med"/>
                    </a:lnL>
                    <a:lnR w="9525" cap="flat" cmpd="sng" algn="ctr">
                      <a:solidFill>
                        <a:srgbClr val="EEF2F3"/>
                      </a:solidFill>
                      <a:prstDash val="solid"/>
                      <a:round/>
                      <a:headEnd type="none" w="med" len="med"/>
                      <a:tailEnd type="none" w="med" len="med"/>
                    </a:lnR>
                    <a:lnT w="9525" cap="flat" cmpd="sng" algn="ctr">
                      <a:solidFill>
                        <a:srgbClr val="EEF2F3"/>
                      </a:solidFill>
                      <a:prstDash val="solid"/>
                      <a:round/>
                      <a:headEnd type="none" w="med" len="med"/>
                      <a:tailEnd type="none" w="med" len="med"/>
                    </a:lnT>
                    <a:lnB w="9525" cap="flat" cmpd="sng" algn="ctr">
                      <a:solidFill>
                        <a:srgbClr val="EEF2F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ja-JP" altLang="en-US"/>
              <a:t>6</a:t>
            </a:fld>
            <a:endParaRPr lang="ja-JP"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向いているプロジェクト、向かないプロジェクト</a:t>
            </a:r>
            <a:endParaRPr lang="ja-JP" altLang="en-US" sz="3000" dirty="0"/>
          </a:p>
        </p:txBody>
      </p:sp>
      <p:sp>
        <p:nvSpPr>
          <p:cNvPr id="3" name="fit1"/>
          <p:cNvSpPr/>
          <p:nvPr/>
        </p:nvSpPr>
        <p:spPr>
          <a:xfrm>
            <a:off x="548640" y="1325880"/>
            <a:ext cx="5364328" cy="3840480"/>
          </a:xfrm>
          <a:prstGeom prst="roundRect">
            <a:avLst>
              <a:gd name="adj" fmla="val 2381"/>
            </a:avLst>
          </a:prstGeom>
          <a:solidFill>
            <a:schemeClr val="bg2"/>
          </a:solidFill>
          <a:ln/>
        </p:spPr>
      </p:sp>
      <p:sp>
        <p:nvSpPr>
          <p:cNvPr id="4" name="fitMark1"/>
          <p:cNvSpPr/>
          <p:nvPr/>
        </p:nvSpPr>
        <p:spPr>
          <a:xfrm>
            <a:off x="868680" y="1600200"/>
            <a:ext cx="502920" cy="502920"/>
          </a:xfrm>
          <a:prstGeom prst="ellipse">
            <a:avLst/>
          </a:prstGeom>
          <a:solidFill>
            <a:schemeClr val="accent2"/>
          </a:solidFill>
          <a:ln/>
        </p:spPr>
      </p:sp>
      <p:sp>
        <p:nvSpPr>
          <p:cNvPr id="5" name="fitMark1Text"/>
          <p:cNvSpPr txBox="1"/>
          <p:nvPr/>
        </p:nvSpPr>
        <p:spPr>
          <a:xfrm>
            <a:off x="868680" y="1600200"/>
            <a:ext cx="502920" cy="502920"/>
          </a:xfrm>
          <a:prstGeom prst="rect">
            <a:avLst/>
          </a:prstGeom>
          <a:noFill/>
          <a:ln/>
        </p:spPr>
        <p:txBody>
          <a:bodyPr wrap="square" lIns="0" tIns="0" rIns="0" bIns="0" rtlCol="0" anchor="ctr"/>
          <a:lstStyle/>
          <a:p>
            <a:pPr algn="ctr" indent="0" marL="0">
              <a:buNone/>
            </a:pPr>
            <a:r>
              <a:rPr lang="ja-JP" altLang="en-US" sz="1800" b="1" dirty="0">
                <a:solidFill>
                  <a:schemeClr val="bg1"/>
                </a:solidFill>
              </a:rPr>
              <a:t>✓</a:t>
            </a:r>
            <a:endParaRPr lang="ja-JP" altLang="en-US" sz="1800" dirty="0"/>
          </a:p>
        </p:txBody>
      </p:sp>
      <p:sp>
        <p:nvSpPr>
          <p:cNvPr id="6" name="fitHead1"/>
          <p:cNvSpPr txBox="1"/>
          <p:nvPr/>
        </p:nvSpPr>
        <p:spPr>
          <a:xfrm>
            <a:off x="1600200" y="1600200"/>
            <a:ext cx="3992728" cy="502920"/>
          </a:xfrm>
          <a:prstGeom prst="rect">
            <a:avLst/>
          </a:prstGeom>
          <a:noFill/>
          <a:ln/>
        </p:spPr>
        <p:txBody>
          <a:bodyPr wrap="square" lIns="0" tIns="0" rIns="0" bIns="0" rtlCol="0" anchor="ctr"/>
          <a:lstStyle/>
          <a:p>
            <a:pPr indent="0" marL="0">
              <a:buNone/>
            </a:pPr>
            <a:r>
              <a:rPr lang="ja-JP" altLang="en-US" sz="2000" b="1" dirty="0">
                <a:solidFill>
                  <a:schemeClr val="tx1"/>
                </a:solidFill>
              </a:rPr>
              <a:t>向いている</a:t>
            </a:r>
            <a:endParaRPr lang="ja-JP" altLang="en-US" sz="2000" dirty="0"/>
          </a:p>
        </p:txBody>
      </p:sp>
      <p:sp>
        <p:nvSpPr>
          <p:cNvPr id="7" name="fitList1"/>
          <p:cNvSpPr txBox="1"/>
          <p:nvPr/>
        </p:nvSpPr>
        <p:spPr>
          <a:xfrm>
            <a:off x="868680" y="2377440"/>
            <a:ext cx="4724248" cy="3291840"/>
          </a:xfrm>
          <a:prstGeom prst="rect">
            <a:avLst/>
          </a:prstGeom>
          <a:noFill/>
          <a:ln/>
        </p:spPr>
        <p:txBody>
          <a:bodyPr wrap="square" lIns="0" tIns="0" rIns="0" bIns="0" rtlCol="0" anchor="t"/>
          <a:lstStyle/>
          <a:p>
            <a:pPr marL="342900" indent="-342900">
              <a:spcAft>
                <a:spcPts val="1200"/>
              </a:spcAft>
              <a:buSzPct val="100000"/>
              <a:buChar char="•"/>
            </a:pPr>
            <a:r>
              <a:rPr lang="ja-JP" altLang="en-US" sz="1500" dirty="0">
                <a:solidFill>
                  <a:schemeClr val="tx2"/>
                </a:solidFill>
              </a:rPr>
              <a:t>Java 17 以上で、JUnit のテストを書いている</a:t>
            </a:r>
            <a:endParaRPr lang="ja-JP" altLang="en-US" sz="1500" dirty="0"/>
          </a:p>
          <a:p>
            <a:pPr marL="342900" indent="-342900">
              <a:spcAft>
                <a:spcPts val="1200"/>
              </a:spcAft>
              <a:buSzPct val="100000"/>
              <a:buChar char="•"/>
            </a:pPr>
            <a:r>
              <a:rPr lang="ja-JP" altLang="en-US" sz="1500" dirty="0">
                <a:solidFill>
                  <a:schemeClr val="tx2"/>
                </a:solidFill>
              </a:rPr>
              <a:t>JDBC で接続する DB（PostgreSQL など）を使うテストが多い</a:t>
            </a:r>
            <a:endParaRPr lang="ja-JP" altLang="en-US" sz="1500" dirty="0"/>
          </a:p>
          <a:p>
            <a:pPr marL="342900" indent="-342900">
              <a:spcAft>
                <a:spcPts val="1200"/>
              </a:spcAft>
              <a:buSzPct val="100000"/>
              <a:buChar char="•"/>
            </a:pPr>
            <a:r>
              <a:rPr lang="ja-JP" altLang="en-US" sz="1500" dirty="0">
                <a:solidFill>
                  <a:schemeClr val="tx2"/>
                </a:solidFill>
              </a:rPr>
              <a:t>テストの後にロールバックで DB を元に戻している（Spring の @Transactional なテストなど）</a:t>
            </a:r>
            <a:endParaRPr lang="ja-JP" altLang="en-US" sz="1500" dirty="0"/>
          </a:p>
          <a:p>
            <a:pPr marL="342900" indent="-342900">
              <a:spcAft>
                <a:spcPts val="1200"/>
              </a:spcAft>
              <a:buSzPct val="100000"/>
              <a:buChar char="•"/>
            </a:pPr>
            <a:r>
              <a:rPr lang="ja-JP" altLang="en-US" sz="1500" dirty="0">
                <a:solidFill>
                  <a:schemeClr val="tx2"/>
                </a:solidFill>
              </a:rPr>
              <a:t>テストデータの内容をレビューで確かめたい</a:t>
            </a:r>
            <a:endParaRPr lang="ja-JP" altLang="en-US" sz="1500" dirty="0"/>
          </a:p>
        </p:txBody>
      </p:sp>
      <p:sp>
        <p:nvSpPr>
          <p:cNvPr id="8" name="fit2"/>
          <p:cNvSpPr/>
          <p:nvPr/>
        </p:nvSpPr>
        <p:spPr>
          <a:xfrm>
            <a:off x="6278728" y="1325880"/>
            <a:ext cx="5364328" cy="3840480"/>
          </a:xfrm>
          <a:prstGeom prst="roundRect">
            <a:avLst>
              <a:gd name="adj" fmla="val 2381"/>
            </a:avLst>
          </a:prstGeom>
          <a:solidFill>
            <a:schemeClr val="bg2"/>
          </a:solidFill>
          <a:ln/>
        </p:spPr>
      </p:sp>
      <p:sp>
        <p:nvSpPr>
          <p:cNvPr id="9" name="fitMark2"/>
          <p:cNvSpPr/>
          <p:nvPr/>
        </p:nvSpPr>
        <p:spPr>
          <a:xfrm>
            <a:off x="6598768" y="1600200"/>
            <a:ext cx="502920" cy="502920"/>
          </a:xfrm>
          <a:prstGeom prst="ellipse">
            <a:avLst/>
          </a:prstGeom>
          <a:solidFill>
            <a:schemeClr val="tx2"/>
          </a:solidFill>
          <a:ln/>
        </p:spPr>
      </p:sp>
      <p:sp>
        <p:nvSpPr>
          <p:cNvPr id="10" name="fitMark2Text"/>
          <p:cNvSpPr txBox="1"/>
          <p:nvPr/>
        </p:nvSpPr>
        <p:spPr>
          <a:xfrm>
            <a:off x="6598768" y="1600200"/>
            <a:ext cx="502920" cy="502920"/>
          </a:xfrm>
          <a:prstGeom prst="rect">
            <a:avLst/>
          </a:prstGeom>
          <a:noFill/>
          <a:ln/>
        </p:spPr>
        <p:txBody>
          <a:bodyPr wrap="square" lIns="0" tIns="0" rIns="0" bIns="0" rtlCol="0" anchor="ctr"/>
          <a:lstStyle/>
          <a:p>
            <a:pPr algn="ctr" indent="0" marL="0">
              <a:buNone/>
            </a:pPr>
            <a:r>
              <a:rPr lang="ja-JP" altLang="en-US" sz="1800" b="1" dirty="0">
                <a:solidFill>
                  <a:schemeClr val="bg1"/>
                </a:solidFill>
              </a:rPr>
              <a:t>✕</a:t>
            </a:r>
            <a:endParaRPr lang="ja-JP" altLang="en-US" sz="1800" dirty="0"/>
          </a:p>
        </p:txBody>
      </p:sp>
      <p:sp>
        <p:nvSpPr>
          <p:cNvPr id="11" name="fitHead2"/>
          <p:cNvSpPr txBox="1"/>
          <p:nvPr/>
        </p:nvSpPr>
        <p:spPr>
          <a:xfrm>
            <a:off x="7330288" y="1600200"/>
            <a:ext cx="3992728" cy="502920"/>
          </a:xfrm>
          <a:prstGeom prst="rect">
            <a:avLst/>
          </a:prstGeom>
          <a:noFill/>
          <a:ln/>
        </p:spPr>
        <p:txBody>
          <a:bodyPr wrap="square" lIns="0" tIns="0" rIns="0" bIns="0" rtlCol="0" anchor="ctr"/>
          <a:lstStyle/>
          <a:p>
            <a:pPr indent="0" marL="0">
              <a:buNone/>
            </a:pPr>
            <a:r>
              <a:rPr lang="ja-JP" altLang="en-US" sz="2000" b="1" dirty="0">
                <a:solidFill>
                  <a:schemeClr val="tx1"/>
                </a:solidFill>
              </a:rPr>
              <a:t>向かない</a:t>
            </a:r>
            <a:endParaRPr lang="ja-JP" altLang="en-US" sz="2000" dirty="0"/>
          </a:p>
        </p:txBody>
      </p:sp>
      <p:sp>
        <p:nvSpPr>
          <p:cNvPr id="12" name="fitList2"/>
          <p:cNvSpPr txBox="1"/>
          <p:nvPr/>
        </p:nvSpPr>
        <p:spPr>
          <a:xfrm>
            <a:off x="6598768" y="2377440"/>
            <a:ext cx="4724248" cy="3291840"/>
          </a:xfrm>
          <a:prstGeom prst="rect">
            <a:avLst/>
          </a:prstGeom>
          <a:noFill/>
          <a:ln/>
        </p:spPr>
        <p:txBody>
          <a:bodyPr wrap="square" lIns="0" tIns="0" rIns="0" bIns="0" rtlCol="0" anchor="t"/>
          <a:lstStyle/>
          <a:p>
            <a:pPr marL="342900" indent="-342900">
              <a:spcAft>
                <a:spcPts val="1200"/>
              </a:spcAft>
              <a:buSzPct val="100000"/>
              <a:buChar char="•"/>
            </a:pPr>
            <a:r>
              <a:rPr lang="ja-JP" altLang="en-US" sz="1500" dirty="0">
                <a:solidFill>
                  <a:schemeClr val="tx2"/>
                </a:solidFill>
              </a:rPr>
              <a:t>Java 17 より前の版を使っている</a:t>
            </a:r>
            <a:endParaRPr lang="ja-JP" altLang="en-US" sz="1500" dirty="0"/>
          </a:p>
          <a:p>
            <a:pPr marL="342900" indent="-342900">
              <a:spcAft>
                <a:spcPts val="1200"/>
              </a:spcAft>
              <a:buSzPct val="100000"/>
              <a:buChar char="•"/>
            </a:pPr>
            <a:r>
              <a:rPr lang="ja-JP" altLang="en-US" sz="1500" dirty="0">
                <a:solidFill>
                  <a:schemeClr val="tx2"/>
                </a:solidFill>
              </a:rPr>
              <a:t>JDBC で接続しない DB（NoSQL など）が中心</a:t>
            </a:r>
            <a:endParaRPr lang="ja-JP" altLang="en-US" sz="1500" dirty="0"/>
          </a:p>
          <a:p>
            <a:pPr marL="342900" indent="-342900">
              <a:spcAft>
                <a:spcPts val="1200"/>
              </a:spcAft>
              <a:buSzPct val="100000"/>
              <a:buChar char="•"/>
            </a:pPr>
            <a:r>
              <a:rPr lang="ja-JP" altLang="en-US" sz="1500" dirty="0">
                <a:solidFill>
                  <a:schemeClr val="tx2"/>
                </a:solidFill>
              </a:rPr>
              <a:t>改行や | を含む値（複数行の JSON など）を多く扱う</a:t>
            </a:r>
            <a:endParaRPr lang="ja-JP" altLang="en-US" sz="1500" dirty="0"/>
          </a:p>
          <a:p>
            <a:pPr marL="342900" indent="-342900">
              <a:spcAft>
                <a:spcPts val="1200"/>
              </a:spcAft>
              <a:buSzPct val="100000"/>
              <a:buChar char="•"/>
            </a:pPr>
            <a:r>
              <a:rPr lang="ja-JP" altLang="en-US" sz="1500" dirty="0">
                <a:solidFill>
                  <a:schemeClr val="tx2"/>
                </a:solidFill>
              </a:rPr>
              <a:t>テスト対象が、別スレッドや別のトランザクションで DB を更新することが多い</a:t>
            </a:r>
            <a:endParaRPr lang="ja-JP" alt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ja-JP" altLang="en-US"/>
              <a:t>7</a:t>
            </a:fld>
            <a:endParaRPr lang="ja-JP"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導入の進め方（例）</a:t>
            </a:r>
            <a:endParaRPr lang="ja-JP" altLang="en-US" sz="3000" dirty="0"/>
          </a:p>
        </p:txBody>
      </p:sp>
      <p:sp>
        <p:nvSpPr>
          <p:cNvPr id="3" name="planCard1"/>
          <p:cNvSpPr/>
          <p:nvPr/>
        </p:nvSpPr>
        <p:spPr>
          <a:xfrm>
            <a:off x="548640" y="1463040"/>
            <a:ext cx="2430704" cy="3108960"/>
          </a:xfrm>
          <a:prstGeom prst="roundRect">
            <a:avLst>
              <a:gd name="adj" fmla="val 3762"/>
            </a:avLst>
          </a:prstGeom>
          <a:solidFill>
            <a:schemeClr val="bg2"/>
          </a:solidFill>
          <a:ln/>
        </p:spPr>
      </p:sp>
      <p:sp>
        <p:nvSpPr>
          <p:cNvPr id="4" name="planNo1"/>
          <p:cNvSpPr/>
          <p:nvPr/>
        </p:nvSpPr>
        <p:spPr>
          <a:xfrm>
            <a:off x="822960" y="1737360"/>
            <a:ext cx="640080" cy="640080"/>
          </a:xfrm>
          <a:prstGeom prst="ellipse">
            <a:avLst/>
          </a:prstGeom>
          <a:solidFill>
            <a:schemeClr val="accent1"/>
          </a:solidFill>
          <a:ln/>
        </p:spPr>
      </p:sp>
      <p:sp>
        <p:nvSpPr>
          <p:cNvPr id="5" name="planNo1Text"/>
          <p:cNvSpPr txBox="1"/>
          <p:nvPr/>
        </p:nvSpPr>
        <p:spPr>
          <a:xfrm>
            <a:off x="822960" y="1737360"/>
            <a:ext cx="640080" cy="640080"/>
          </a:xfrm>
          <a:prstGeom prst="rect">
            <a:avLst/>
          </a:prstGeom>
          <a:noFill/>
          <a:ln/>
        </p:spPr>
        <p:txBody>
          <a:bodyPr wrap="square" lIns="0" tIns="0" rIns="0" bIns="0" rtlCol="0" anchor="ctr"/>
          <a:lstStyle/>
          <a:p>
            <a:pPr algn="ctr" indent="0" marL="0">
              <a:buNone/>
            </a:pPr>
            <a:r>
              <a:rPr lang="ja-JP" altLang="en-US" sz="2200" b="1" dirty="0">
                <a:solidFill>
                  <a:schemeClr val="tx1"/>
                </a:solidFill>
              </a:rPr>
              <a:t>1</a:t>
            </a:r>
            <a:endParaRPr lang="ja-JP" altLang="en-US" sz="2200" dirty="0"/>
          </a:p>
        </p:txBody>
      </p:sp>
      <p:sp>
        <p:nvSpPr>
          <p:cNvPr id="6" name="planText1"/>
          <p:cNvSpPr txBox="1"/>
          <p:nvPr/>
        </p:nvSpPr>
        <p:spPr>
          <a:xfrm>
            <a:off x="822960" y="2606040"/>
            <a:ext cx="1882064" cy="1828800"/>
          </a:xfrm>
          <a:prstGeom prst="rect">
            <a:avLst/>
          </a:prstGeom>
          <a:noFill/>
          <a:ln/>
        </p:spPr>
        <p:txBody>
          <a:bodyPr wrap="square" lIns="0" tIns="0" rIns="0" bIns="0" rtlCol="0" anchor="t"/>
          <a:lstStyle/>
          <a:p>
            <a:pPr indent="0" marL="0">
              <a:spcAft>
                <a:spcPts val="600"/>
              </a:spcAft>
              <a:buNone/>
            </a:pPr>
            <a:r>
              <a:rPr lang="ja-JP" altLang="en-US" sz="1700" b="1" dirty="0">
                <a:solidFill>
                  <a:schemeClr val="tx1"/>
                </a:solidFill>
              </a:rPr>
              <a:t>小さく試す</a:t>
            </a:r>
            <a:endParaRPr lang="ja-JP" altLang="en-US" sz="1700" dirty="0"/>
          </a:p>
          <a:p>
            <a:pPr indent="0" marL="0">
              <a:buNone/>
            </a:pPr>
            <a:r>
              <a:rPr lang="ja-JP" altLang="en-US" sz="1500" dirty="0">
                <a:solidFill>
                  <a:schemeClr val="tx2"/>
                </a:solidFill>
              </a:rPr>
              <a:t>1つのモジュールの、DB を使うテスト数本で使ってみる</a:t>
            </a:r>
            <a:endParaRPr lang="ja-JP" altLang="en-US" sz="1700" dirty="0"/>
          </a:p>
        </p:txBody>
      </p:sp>
      <p:sp>
        <p:nvSpPr>
          <p:cNvPr id="7" name="planArrow1"/>
          <p:cNvSpPr/>
          <p:nvPr/>
        </p:nvSpPr>
        <p:spPr>
          <a:xfrm>
            <a:off x="3098216" y="2834640"/>
            <a:ext cx="219456" cy="365760"/>
          </a:xfrm>
          <a:prstGeom prst="chevron">
            <a:avLst/>
          </a:prstGeom>
          <a:solidFill>
            <a:schemeClr val="accent5"/>
          </a:solidFill>
          <a:ln/>
        </p:spPr>
      </p:sp>
      <p:sp>
        <p:nvSpPr>
          <p:cNvPr id="8" name="planCard2"/>
          <p:cNvSpPr/>
          <p:nvPr/>
        </p:nvSpPr>
        <p:spPr>
          <a:xfrm>
            <a:off x="3436544" y="1463040"/>
            <a:ext cx="2430704" cy="3108960"/>
          </a:xfrm>
          <a:prstGeom prst="roundRect">
            <a:avLst>
              <a:gd name="adj" fmla="val 3762"/>
            </a:avLst>
          </a:prstGeom>
          <a:solidFill>
            <a:schemeClr val="bg2"/>
          </a:solidFill>
          <a:ln/>
        </p:spPr>
      </p:sp>
      <p:sp>
        <p:nvSpPr>
          <p:cNvPr id="9" name="planNo2"/>
          <p:cNvSpPr/>
          <p:nvPr/>
        </p:nvSpPr>
        <p:spPr>
          <a:xfrm>
            <a:off x="3710864" y="1737360"/>
            <a:ext cx="640080" cy="640080"/>
          </a:xfrm>
          <a:prstGeom prst="ellipse">
            <a:avLst/>
          </a:prstGeom>
          <a:solidFill>
            <a:schemeClr val="accent1"/>
          </a:solidFill>
          <a:ln/>
        </p:spPr>
      </p:sp>
      <p:sp>
        <p:nvSpPr>
          <p:cNvPr id="10" name="planNo2Text"/>
          <p:cNvSpPr txBox="1"/>
          <p:nvPr/>
        </p:nvSpPr>
        <p:spPr>
          <a:xfrm>
            <a:off x="3710864" y="1737360"/>
            <a:ext cx="640080" cy="640080"/>
          </a:xfrm>
          <a:prstGeom prst="rect">
            <a:avLst/>
          </a:prstGeom>
          <a:noFill/>
          <a:ln/>
        </p:spPr>
        <p:txBody>
          <a:bodyPr wrap="square" lIns="0" tIns="0" rIns="0" bIns="0" rtlCol="0" anchor="ctr"/>
          <a:lstStyle/>
          <a:p>
            <a:pPr algn="ctr" indent="0" marL="0">
              <a:buNone/>
            </a:pPr>
            <a:r>
              <a:rPr lang="ja-JP" altLang="en-US" sz="2200" b="1" dirty="0">
                <a:solidFill>
                  <a:schemeClr val="tx1"/>
                </a:solidFill>
              </a:rPr>
              <a:t>2</a:t>
            </a:r>
            <a:endParaRPr lang="ja-JP" altLang="en-US" sz="2200" dirty="0"/>
          </a:p>
        </p:txBody>
      </p:sp>
      <p:sp>
        <p:nvSpPr>
          <p:cNvPr id="11" name="planText2"/>
          <p:cNvSpPr txBox="1"/>
          <p:nvPr/>
        </p:nvSpPr>
        <p:spPr>
          <a:xfrm>
            <a:off x="3710864" y="2606040"/>
            <a:ext cx="1882064" cy="1828800"/>
          </a:xfrm>
          <a:prstGeom prst="rect">
            <a:avLst/>
          </a:prstGeom>
          <a:noFill/>
          <a:ln/>
        </p:spPr>
        <p:txBody>
          <a:bodyPr wrap="square" lIns="0" tIns="0" rIns="0" bIns="0" rtlCol="0" anchor="t"/>
          <a:lstStyle/>
          <a:p>
            <a:pPr indent="0" marL="0">
              <a:spcAft>
                <a:spcPts val="600"/>
              </a:spcAft>
              <a:buNone/>
            </a:pPr>
            <a:r>
              <a:rPr lang="ja-JP" altLang="en-US" sz="1700" b="1" dirty="0">
                <a:solidFill>
                  <a:schemeClr val="tx1"/>
                </a:solidFill>
              </a:rPr>
              <a:t>書き方をそろえる</a:t>
            </a:r>
            <a:endParaRPr lang="ja-JP" altLang="en-US" sz="1700" dirty="0"/>
          </a:p>
          <a:p>
            <a:pPr indent="0" marL="0">
              <a:buNone/>
            </a:pPr>
            <a:r>
              <a:rPr lang="ja-JP" altLang="en-US" sz="1500" dirty="0">
                <a:solidFill>
                  <a:schemeClr val="tx2"/>
                </a:solidFill>
              </a:rPr>
              <a:t>ガイドに沿って、フィクスチャの置き場所と名前の付け方を決める</a:t>
            </a:r>
            <a:endParaRPr lang="ja-JP" altLang="en-US" sz="1700" dirty="0"/>
          </a:p>
        </p:txBody>
      </p:sp>
      <p:sp>
        <p:nvSpPr>
          <p:cNvPr id="12" name="planArrow2"/>
          <p:cNvSpPr/>
          <p:nvPr/>
        </p:nvSpPr>
        <p:spPr>
          <a:xfrm>
            <a:off x="5986120" y="2834640"/>
            <a:ext cx="219456" cy="365760"/>
          </a:xfrm>
          <a:prstGeom prst="chevron">
            <a:avLst/>
          </a:prstGeom>
          <a:solidFill>
            <a:schemeClr val="accent5"/>
          </a:solidFill>
          <a:ln/>
        </p:spPr>
      </p:sp>
      <p:sp>
        <p:nvSpPr>
          <p:cNvPr id="13" name="planCard3"/>
          <p:cNvSpPr/>
          <p:nvPr/>
        </p:nvSpPr>
        <p:spPr>
          <a:xfrm>
            <a:off x="6324448" y="1463040"/>
            <a:ext cx="2430704" cy="3108960"/>
          </a:xfrm>
          <a:prstGeom prst="roundRect">
            <a:avLst>
              <a:gd name="adj" fmla="val 3762"/>
            </a:avLst>
          </a:prstGeom>
          <a:solidFill>
            <a:schemeClr val="bg2"/>
          </a:solidFill>
          <a:ln/>
        </p:spPr>
      </p:sp>
      <p:sp>
        <p:nvSpPr>
          <p:cNvPr id="14" name="planNo3"/>
          <p:cNvSpPr/>
          <p:nvPr/>
        </p:nvSpPr>
        <p:spPr>
          <a:xfrm>
            <a:off x="6598768" y="1737360"/>
            <a:ext cx="640080" cy="640080"/>
          </a:xfrm>
          <a:prstGeom prst="ellipse">
            <a:avLst/>
          </a:prstGeom>
          <a:solidFill>
            <a:schemeClr val="accent1"/>
          </a:solidFill>
          <a:ln/>
        </p:spPr>
      </p:sp>
      <p:sp>
        <p:nvSpPr>
          <p:cNvPr id="15" name="planNo3Text"/>
          <p:cNvSpPr txBox="1"/>
          <p:nvPr/>
        </p:nvSpPr>
        <p:spPr>
          <a:xfrm>
            <a:off x="6598768" y="1737360"/>
            <a:ext cx="640080" cy="640080"/>
          </a:xfrm>
          <a:prstGeom prst="rect">
            <a:avLst/>
          </a:prstGeom>
          <a:noFill/>
          <a:ln/>
        </p:spPr>
        <p:txBody>
          <a:bodyPr wrap="square" lIns="0" tIns="0" rIns="0" bIns="0" rtlCol="0" anchor="ctr"/>
          <a:lstStyle/>
          <a:p>
            <a:pPr algn="ctr" indent="0" marL="0">
              <a:buNone/>
            </a:pPr>
            <a:r>
              <a:rPr lang="ja-JP" altLang="en-US" sz="2200" b="1" dirty="0">
                <a:solidFill>
                  <a:schemeClr val="tx1"/>
                </a:solidFill>
              </a:rPr>
              <a:t>3</a:t>
            </a:r>
            <a:endParaRPr lang="ja-JP" altLang="en-US" sz="2200" dirty="0"/>
          </a:p>
        </p:txBody>
      </p:sp>
      <p:sp>
        <p:nvSpPr>
          <p:cNvPr id="16" name="planText3"/>
          <p:cNvSpPr txBox="1"/>
          <p:nvPr/>
        </p:nvSpPr>
        <p:spPr>
          <a:xfrm>
            <a:off x="6598768" y="2606040"/>
            <a:ext cx="1882064" cy="1828800"/>
          </a:xfrm>
          <a:prstGeom prst="rect">
            <a:avLst/>
          </a:prstGeom>
          <a:noFill/>
          <a:ln/>
        </p:spPr>
        <p:txBody>
          <a:bodyPr wrap="square" lIns="0" tIns="0" rIns="0" bIns="0" rtlCol="0" anchor="t"/>
          <a:lstStyle/>
          <a:p>
            <a:pPr indent="0" marL="0">
              <a:spcAft>
                <a:spcPts val="600"/>
              </a:spcAft>
              <a:buNone/>
            </a:pPr>
            <a:r>
              <a:rPr lang="ja-JP" altLang="en-US" sz="1700" b="1" dirty="0">
                <a:solidFill>
                  <a:schemeClr val="tx1"/>
                </a:solidFill>
              </a:rPr>
              <a:t>レビューの観点を決める</a:t>
            </a:r>
            <a:endParaRPr lang="ja-JP" altLang="en-US" sz="1700" dirty="0"/>
          </a:p>
          <a:p>
            <a:pPr indent="0" marL="0">
              <a:buNone/>
            </a:pPr>
            <a:r>
              <a:rPr lang="ja-JP" altLang="en-US" sz="1500" dirty="0">
                <a:solidFill>
                  <a:schemeClr val="tx2"/>
                </a:solidFill>
              </a:rPr>
              <a:t>「あってはいけない行」も確かめているか、などを決める</a:t>
            </a:r>
            <a:endParaRPr lang="ja-JP" altLang="en-US" sz="1700" dirty="0"/>
          </a:p>
        </p:txBody>
      </p:sp>
      <p:sp>
        <p:nvSpPr>
          <p:cNvPr id="17" name="planArrow3"/>
          <p:cNvSpPr/>
          <p:nvPr/>
        </p:nvSpPr>
        <p:spPr>
          <a:xfrm>
            <a:off x="8874023" y="2834640"/>
            <a:ext cx="219456" cy="365760"/>
          </a:xfrm>
          <a:prstGeom prst="chevron">
            <a:avLst/>
          </a:prstGeom>
          <a:solidFill>
            <a:schemeClr val="accent5"/>
          </a:solidFill>
          <a:ln/>
        </p:spPr>
      </p:sp>
      <p:sp>
        <p:nvSpPr>
          <p:cNvPr id="18" name="planCard4"/>
          <p:cNvSpPr/>
          <p:nvPr/>
        </p:nvSpPr>
        <p:spPr>
          <a:xfrm>
            <a:off x="9212351" y="1463040"/>
            <a:ext cx="2430704" cy="3108960"/>
          </a:xfrm>
          <a:prstGeom prst="roundRect">
            <a:avLst>
              <a:gd name="adj" fmla="val 3762"/>
            </a:avLst>
          </a:prstGeom>
          <a:solidFill>
            <a:schemeClr val="bg2"/>
          </a:solidFill>
          <a:ln/>
        </p:spPr>
      </p:sp>
      <p:sp>
        <p:nvSpPr>
          <p:cNvPr id="19" name="planNo4"/>
          <p:cNvSpPr/>
          <p:nvPr/>
        </p:nvSpPr>
        <p:spPr>
          <a:xfrm>
            <a:off x="9486671" y="1737360"/>
            <a:ext cx="640080" cy="640080"/>
          </a:xfrm>
          <a:prstGeom prst="ellipse">
            <a:avLst/>
          </a:prstGeom>
          <a:solidFill>
            <a:schemeClr val="accent1"/>
          </a:solidFill>
          <a:ln/>
        </p:spPr>
      </p:sp>
      <p:sp>
        <p:nvSpPr>
          <p:cNvPr id="20" name="planNo4Text"/>
          <p:cNvSpPr txBox="1"/>
          <p:nvPr/>
        </p:nvSpPr>
        <p:spPr>
          <a:xfrm>
            <a:off x="9486671" y="1737360"/>
            <a:ext cx="640080" cy="640080"/>
          </a:xfrm>
          <a:prstGeom prst="rect">
            <a:avLst/>
          </a:prstGeom>
          <a:noFill/>
          <a:ln/>
        </p:spPr>
        <p:txBody>
          <a:bodyPr wrap="square" lIns="0" tIns="0" rIns="0" bIns="0" rtlCol="0" anchor="ctr"/>
          <a:lstStyle/>
          <a:p>
            <a:pPr algn="ctr" indent="0" marL="0">
              <a:buNone/>
            </a:pPr>
            <a:r>
              <a:rPr lang="ja-JP" altLang="en-US" sz="2200" b="1" dirty="0">
                <a:solidFill>
                  <a:schemeClr val="tx1"/>
                </a:solidFill>
              </a:rPr>
              <a:t>4</a:t>
            </a:r>
            <a:endParaRPr lang="ja-JP" altLang="en-US" sz="2200" dirty="0"/>
          </a:p>
        </p:txBody>
      </p:sp>
      <p:sp>
        <p:nvSpPr>
          <p:cNvPr id="21" name="planText4"/>
          <p:cNvSpPr txBox="1"/>
          <p:nvPr/>
        </p:nvSpPr>
        <p:spPr>
          <a:xfrm>
            <a:off x="9486671" y="2606040"/>
            <a:ext cx="1882064" cy="1828800"/>
          </a:xfrm>
          <a:prstGeom prst="rect">
            <a:avLst/>
          </a:prstGeom>
          <a:noFill/>
          <a:ln/>
        </p:spPr>
        <p:txBody>
          <a:bodyPr wrap="square" lIns="0" tIns="0" rIns="0" bIns="0" rtlCol="0" anchor="t"/>
          <a:lstStyle/>
          <a:p>
            <a:pPr indent="0" marL="0">
              <a:spcAft>
                <a:spcPts val="600"/>
              </a:spcAft>
              <a:buNone/>
            </a:pPr>
            <a:r>
              <a:rPr lang="ja-JP" altLang="en-US" sz="1700" b="1" dirty="0">
                <a:solidFill>
                  <a:schemeClr val="tx1"/>
                </a:solidFill>
              </a:rPr>
              <a:t>版を記録する</a:t>
            </a:r>
            <a:endParaRPr lang="ja-JP" altLang="en-US" sz="1700" dirty="0"/>
          </a:p>
          <a:p>
            <a:pPr indent="0" marL="0">
              <a:buNone/>
            </a:pPr>
            <a:r>
              <a:rPr lang="ja-JP" altLang="en-US" sz="1500" dirty="0">
                <a:solidFill>
                  <a:schemeClr val="tx2"/>
                </a:solidFill>
              </a:rPr>
              <a:t>コピーした版（例：v2.4.0）を記録し、更新の担当を決める</a:t>
            </a:r>
            <a:endParaRPr lang="ja-JP" altLang="en-US" sz="1700" dirty="0"/>
          </a:p>
        </p:txBody>
      </p:sp>
      <p:sp>
        <p:nvSpPr>
          <p:cNvPr id="22" name="trialBox"/>
          <p:cNvSpPr/>
          <p:nvPr/>
        </p:nvSpPr>
        <p:spPr>
          <a:xfrm>
            <a:off x="548640" y="4892040"/>
            <a:ext cx="11094415" cy="960120"/>
          </a:xfrm>
          <a:prstGeom prst="roundRect">
            <a:avLst>
              <a:gd name="adj" fmla="val 9524"/>
            </a:avLst>
          </a:prstGeom>
          <a:solidFill>
            <a:schemeClr val="bg2"/>
          </a:solidFill>
          <a:ln/>
        </p:spPr>
      </p:sp>
      <p:sp>
        <p:nvSpPr>
          <p:cNvPr id="23" name="trialText"/>
          <p:cNvSpPr txBox="1"/>
          <p:nvPr/>
        </p:nvSpPr>
        <p:spPr>
          <a:xfrm>
            <a:off x="914400" y="4892040"/>
            <a:ext cx="10362895" cy="960120"/>
          </a:xfrm>
          <a:prstGeom prst="rect">
            <a:avLst/>
          </a:prstGeom>
          <a:noFill/>
          <a:ln/>
        </p:spPr>
        <p:txBody>
          <a:bodyPr wrap="square" lIns="0" tIns="0" rIns="0" bIns="0" rtlCol="0" anchor="ctr"/>
          <a:lstStyle/>
          <a:p>
            <a:pPr indent="0" marL="0">
              <a:buNone/>
            </a:pPr>
            <a:r>
              <a:rPr lang="ja-JP" altLang="en-US" sz="1500" b="1" dirty="0">
                <a:solidFill>
                  <a:schemeClr val="tx1"/>
                </a:solidFill>
              </a:rPr>
              <a:t>試したあとの判断材料：</a:t>
            </a:r>
            <a:pPr indent="0" marL="0">
              <a:buNone/>
            </a:pPr>
            <a:r>
              <a:rPr lang="ja-JP" altLang="en-US" sz="1500" dirty="0">
                <a:solidFill>
                  <a:schemeClr val="tx2"/>
                </a:solidFill>
              </a:rPr>
              <a:t>テストの読みやすさ、書く手間、レビューのしやすさを、いまのやり方と比べます。</a:t>
            </a:r>
            <a:endParaRPr lang="ja-JP" alt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ja-JP" altLang="en-US"/>
              <a:t>8</a:t>
            </a:fld>
            <a:endParaRPr lang="ja-JP"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algn="l" indent="0" marL="0">
              <a:buNone/>
            </a:pPr>
            <a:r>
              <a:rPr lang="ja-JP" altLang="en-US" sz="3000" b="1" dirty="0">
                <a:solidFill>
                  <a:schemeClr val="tx1"/>
                </a:solidFill>
              </a:rPr>
              <a:t>判断のためのチェックリスト</a:t>
            </a:r>
            <a:endParaRPr lang="ja-JP" altLang="en-US" sz="3000" dirty="0"/>
          </a:p>
        </p:txBody>
      </p:sp>
      <p:sp>
        <p:nvSpPr>
          <p:cNvPr id="3" name="check1"/>
          <p:cNvSpPr/>
          <p:nvPr/>
        </p:nvSpPr>
        <p:spPr>
          <a:xfrm>
            <a:off x="548640" y="1463040"/>
            <a:ext cx="384048" cy="384048"/>
          </a:xfrm>
          <a:prstGeom prst="roundRect">
            <a:avLst>
              <a:gd name="adj" fmla="val 14286"/>
            </a:avLst>
          </a:prstGeom>
          <a:solidFill>
            <a:schemeClr val="bg1"/>
          </a:solidFill>
          <a:ln w="19050">
            <a:solidFill>
              <a:schemeClr val="tx2"/>
            </a:solidFill>
            <a:prstDash val="solid"/>
          </a:ln>
        </p:spPr>
      </p:sp>
      <p:sp>
        <p:nvSpPr>
          <p:cNvPr id="4" name="checkText1"/>
          <p:cNvSpPr txBox="1"/>
          <p:nvPr/>
        </p:nvSpPr>
        <p:spPr>
          <a:xfrm>
            <a:off x="1188720" y="1417320"/>
            <a:ext cx="6400800" cy="475488"/>
          </a:xfrm>
          <a:prstGeom prst="rect">
            <a:avLst/>
          </a:prstGeom>
          <a:noFill/>
          <a:ln/>
        </p:spPr>
        <p:txBody>
          <a:bodyPr wrap="square" lIns="0" tIns="0" rIns="0" bIns="0" rtlCol="0" anchor="ctr"/>
          <a:lstStyle/>
          <a:p>
            <a:pPr indent="0" marL="0">
              <a:buNone/>
            </a:pPr>
            <a:r>
              <a:rPr lang="ja-JP" altLang="en-US" sz="1700" dirty="0">
                <a:solidFill>
                  <a:schemeClr val="tx1"/>
                </a:solidFill>
              </a:rPr>
              <a:t>Java 17 以上か</a:t>
            </a:r>
            <a:endParaRPr lang="ja-JP" altLang="en-US" sz="1700" dirty="0"/>
          </a:p>
        </p:txBody>
      </p:sp>
      <p:sp>
        <p:nvSpPr>
          <p:cNvPr id="5" name="check2"/>
          <p:cNvSpPr/>
          <p:nvPr/>
        </p:nvSpPr>
        <p:spPr>
          <a:xfrm>
            <a:off x="548640" y="2194560"/>
            <a:ext cx="384048" cy="384048"/>
          </a:xfrm>
          <a:prstGeom prst="roundRect">
            <a:avLst>
              <a:gd name="adj" fmla="val 14286"/>
            </a:avLst>
          </a:prstGeom>
          <a:solidFill>
            <a:schemeClr val="bg1"/>
          </a:solidFill>
          <a:ln w="19050">
            <a:solidFill>
              <a:schemeClr val="tx2"/>
            </a:solidFill>
            <a:prstDash val="solid"/>
          </a:ln>
        </p:spPr>
      </p:sp>
      <p:sp>
        <p:nvSpPr>
          <p:cNvPr id="6" name="checkText2"/>
          <p:cNvSpPr txBox="1"/>
          <p:nvPr/>
        </p:nvSpPr>
        <p:spPr>
          <a:xfrm>
            <a:off x="1188720" y="2148840"/>
            <a:ext cx="6400800" cy="475488"/>
          </a:xfrm>
          <a:prstGeom prst="rect">
            <a:avLst/>
          </a:prstGeom>
          <a:noFill/>
          <a:ln/>
        </p:spPr>
        <p:txBody>
          <a:bodyPr wrap="square" lIns="0" tIns="0" rIns="0" bIns="0" rtlCol="0" anchor="ctr"/>
          <a:lstStyle/>
          <a:p>
            <a:pPr indent="0" marL="0">
              <a:buNone/>
            </a:pPr>
            <a:r>
              <a:rPr lang="ja-JP" altLang="en-US" sz="1700" dirty="0">
                <a:solidFill>
                  <a:schemeClr val="tx1"/>
                </a:solidFill>
              </a:rPr>
              <a:t>DB に JDBC で接続しているか</a:t>
            </a:r>
            <a:endParaRPr lang="ja-JP" altLang="en-US" sz="1700" dirty="0"/>
          </a:p>
        </p:txBody>
      </p:sp>
      <p:sp>
        <p:nvSpPr>
          <p:cNvPr id="7" name="check3"/>
          <p:cNvSpPr/>
          <p:nvPr/>
        </p:nvSpPr>
        <p:spPr>
          <a:xfrm>
            <a:off x="548640" y="2926080"/>
            <a:ext cx="384048" cy="384048"/>
          </a:xfrm>
          <a:prstGeom prst="roundRect">
            <a:avLst>
              <a:gd name="adj" fmla="val 14286"/>
            </a:avLst>
          </a:prstGeom>
          <a:solidFill>
            <a:schemeClr val="bg1"/>
          </a:solidFill>
          <a:ln w="19050">
            <a:solidFill>
              <a:schemeClr val="tx2"/>
            </a:solidFill>
            <a:prstDash val="solid"/>
          </a:ln>
        </p:spPr>
      </p:sp>
      <p:sp>
        <p:nvSpPr>
          <p:cNvPr id="8" name="checkText3"/>
          <p:cNvSpPr txBox="1"/>
          <p:nvPr/>
        </p:nvSpPr>
        <p:spPr>
          <a:xfrm>
            <a:off x="1188720" y="2880360"/>
            <a:ext cx="6400800" cy="475488"/>
          </a:xfrm>
          <a:prstGeom prst="rect">
            <a:avLst/>
          </a:prstGeom>
          <a:noFill/>
          <a:ln/>
        </p:spPr>
        <p:txBody>
          <a:bodyPr wrap="square" lIns="0" tIns="0" rIns="0" bIns="0" rtlCol="0" anchor="ctr"/>
          <a:lstStyle/>
          <a:p>
            <a:pPr indent="0" marL="0">
              <a:buNone/>
            </a:pPr>
            <a:r>
              <a:rPr lang="ja-JP" altLang="en-US" sz="1700" dirty="0">
                <a:solidFill>
                  <a:schemeClr val="tx1"/>
                </a:solidFill>
              </a:rPr>
              <a:t>テストの後に、ロールバックで DB を元に戻しているか</a:t>
            </a:r>
            <a:endParaRPr lang="ja-JP" altLang="en-US" sz="1700" dirty="0"/>
          </a:p>
        </p:txBody>
      </p:sp>
      <p:sp>
        <p:nvSpPr>
          <p:cNvPr id="9" name="check4"/>
          <p:cNvSpPr/>
          <p:nvPr/>
        </p:nvSpPr>
        <p:spPr>
          <a:xfrm>
            <a:off x="548640" y="3657600"/>
            <a:ext cx="384048" cy="384048"/>
          </a:xfrm>
          <a:prstGeom prst="roundRect">
            <a:avLst>
              <a:gd name="adj" fmla="val 14286"/>
            </a:avLst>
          </a:prstGeom>
          <a:solidFill>
            <a:schemeClr val="bg1"/>
          </a:solidFill>
          <a:ln w="19050">
            <a:solidFill>
              <a:schemeClr val="tx2"/>
            </a:solidFill>
            <a:prstDash val="solid"/>
          </a:ln>
        </p:spPr>
      </p:sp>
      <p:sp>
        <p:nvSpPr>
          <p:cNvPr id="10" name="checkText4"/>
          <p:cNvSpPr txBox="1"/>
          <p:nvPr/>
        </p:nvSpPr>
        <p:spPr>
          <a:xfrm>
            <a:off x="1188720" y="3611880"/>
            <a:ext cx="6400800" cy="475488"/>
          </a:xfrm>
          <a:prstGeom prst="rect">
            <a:avLst/>
          </a:prstGeom>
          <a:noFill/>
          <a:ln/>
        </p:spPr>
        <p:txBody>
          <a:bodyPr wrap="square" lIns="0" tIns="0" rIns="0" bIns="0" rtlCol="0" anchor="ctr"/>
          <a:lstStyle/>
          <a:p>
            <a:pPr indent="0" marL="0">
              <a:buNone/>
            </a:pPr>
            <a:r>
              <a:rPr lang="ja-JP" altLang="en-US" sz="1700" dirty="0">
                <a:solidFill>
                  <a:schemeClr val="tx1"/>
                </a:solidFill>
              </a:rPr>
              <a:t>| や改行を含む値を多く扱うテストが中心ではないか</a:t>
            </a:r>
            <a:endParaRPr lang="ja-JP" altLang="en-US" sz="1700" dirty="0"/>
          </a:p>
        </p:txBody>
      </p:sp>
      <p:sp>
        <p:nvSpPr>
          <p:cNvPr id="11" name="check5"/>
          <p:cNvSpPr/>
          <p:nvPr/>
        </p:nvSpPr>
        <p:spPr>
          <a:xfrm>
            <a:off x="548640" y="4389120"/>
            <a:ext cx="384048" cy="384048"/>
          </a:xfrm>
          <a:prstGeom prst="roundRect">
            <a:avLst>
              <a:gd name="adj" fmla="val 14286"/>
            </a:avLst>
          </a:prstGeom>
          <a:solidFill>
            <a:schemeClr val="bg1"/>
          </a:solidFill>
          <a:ln w="19050">
            <a:solidFill>
              <a:schemeClr val="tx2"/>
            </a:solidFill>
            <a:prstDash val="solid"/>
          </a:ln>
        </p:spPr>
      </p:sp>
      <p:sp>
        <p:nvSpPr>
          <p:cNvPr id="12" name="checkText5"/>
          <p:cNvSpPr txBox="1"/>
          <p:nvPr/>
        </p:nvSpPr>
        <p:spPr>
          <a:xfrm>
            <a:off x="1188720" y="4343400"/>
            <a:ext cx="6400800" cy="475488"/>
          </a:xfrm>
          <a:prstGeom prst="rect">
            <a:avLst/>
          </a:prstGeom>
          <a:noFill/>
          <a:ln/>
        </p:spPr>
        <p:txBody>
          <a:bodyPr wrap="square" lIns="0" tIns="0" rIns="0" bIns="0" rtlCol="0" anchor="ctr"/>
          <a:lstStyle/>
          <a:p>
            <a:pPr indent="0" marL="0">
              <a:buNone/>
            </a:pPr>
            <a:r>
              <a:rPr lang="ja-JP" altLang="en-US" sz="1700" dirty="0">
                <a:solidFill>
                  <a:schemeClr val="tx1"/>
                </a:solidFill>
              </a:rPr>
              <a:t>新しい版への更新を、誰が担当するか決められるか</a:t>
            </a:r>
            <a:endParaRPr lang="ja-JP" altLang="en-US" sz="1700" dirty="0"/>
          </a:p>
        </p:txBody>
      </p:sp>
      <p:sp>
        <p:nvSpPr>
          <p:cNvPr id="13" name="check6"/>
          <p:cNvSpPr/>
          <p:nvPr/>
        </p:nvSpPr>
        <p:spPr>
          <a:xfrm>
            <a:off x="548640" y="5120640"/>
            <a:ext cx="384048" cy="384048"/>
          </a:xfrm>
          <a:prstGeom prst="roundRect">
            <a:avLst>
              <a:gd name="adj" fmla="val 14286"/>
            </a:avLst>
          </a:prstGeom>
          <a:solidFill>
            <a:schemeClr val="bg1"/>
          </a:solidFill>
          <a:ln w="19050">
            <a:solidFill>
              <a:schemeClr val="tx2"/>
            </a:solidFill>
            <a:prstDash val="solid"/>
          </a:ln>
        </p:spPr>
      </p:sp>
      <p:sp>
        <p:nvSpPr>
          <p:cNvPr id="14" name="checkText6"/>
          <p:cNvSpPr txBox="1"/>
          <p:nvPr/>
        </p:nvSpPr>
        <p:spPr>
          <a:xfrm>
            <a:off x="1188720" y="5074920"/>
            <a:ext cx="6400800" cy="475488"/>
          </a:xfrm>
          <a:prstGeom prst="rect">
            <a:avLst/>
          </a:prstGeom>
          <a:noFill/>
          <a:ln/>
        </p:spPr>
        <p:txBody>
          <a:bodyPr wrap="square" lIns="0" tIns="0" rIns="0" bIns="0" rtlCol="0" anchor="ctr"/>
          <a:lstStyle/>
          <a:p>
            <a:pPr indent="0" marL="0">
              <a:buNone/>
            </a:pPr>
            <a:r>
              <a:rPr lang="ja-JP" altLang="en-US" sz="1700" dirty="0">
                <a:solidFill>
                  <a:schemeClr val="tx1"/>
                </a:solidFill>
              </a:rPr>
              <a:t>テストデータを、誰がどの観点でレビューするか決められるか</a:t>
            </a:r>
            <a:endParaRPr lang="ja-JP" altLang="en-US" sz="1700" dirty="0"/>
          </a:p>
        </p:txBody>
      </p:sp>
      <p:sp>
        <p:nvSpPr>
          <p:cNvPr id="15" name="adviceBox"/>
          <p:cNvSpPr/>
          <p:nvPr/>
        </p:nvSpPr>
        <p:spPr>
          <a:xfrm>
            <a:off x="7955280" y="1417320"/>
            <a:ext cx="3687775" cy="2743200"/>
          </a:xfrm>
          <a:prstGeom prst="roundRect">
            <a:avLst>
              <a:gd name="adj" fmla="val 3333"/>
            </a:avLst>
          </a:prstGeom>
          <a:solidFill>
            <a:schemeClr val="tx1"/>
          </a:solidFill>
          <a:ln/>
        </p:spPr>
      </p:sp>
      <p:sp>
        <p:nvSpPr>
          <p:cNvPr id="16" name="adviceText"/>
          <p:cNvSpPr txBox="1"/>
          <p:nvPr/>
        </p:nvSpPr>
        <p:spPr>
          <a:xfrm>
            <a:off x="8275320" y="1691640"/>
            <a:ext cx="3047695" cy="2286000"/>
          </a:xfrm>
          <a:prstGeom prst="rect">
            <a:avLst/>
          </a:prstGeom>
          <a:noFill/>
          <a:ln/>
        </p:spPr>
        <p:txBody>
          <a:bodyPr wrap="square" lIns="0" tIns="0" rIns="0" bIns="0" rtlCol="0" anchor="t"/>
          <a:lstStyle/>
          <a:p>
            <a:pPr indent="0" marL="0">
              <a:spcAft>
                <a:spcPts val="600"/>
              </a:spcAft>
              <a:buNone/>
            </a:pPr>
            <a:r>
              <a:rPr lang="ja-JP" altLang="en-US" sz="1700" b="1" dirty="0">
                <a:solidFill>
                  <a:schemeClr val="accent1"/>
                </a:solidFill>
              </a:rPr>
              <a:t>すべて当てはまるなら</a:t>
            </a:r>
            <a:endParaRPr lang="ja-JP" altLang="en-US" sz="1700" dirty="0"/>
          </a:p>
          <a:p>
            <a:pPr indent="0" marL="0">
              <a:spcAft>
                <a:spcPts val="600"/>
              </a:spcAft>
              <a:buNone/>
            </a:pPr>
            <a:r>
              <a:rPr lang="ja-JP" altLang="en-US" sz="1500" dirty="0">
                <a:solidFill>
                  <a:schemeClr val="bg1"/>
                </a:solidFill>
              </a:rPr>
              <a:t>1つのモジュールで試す価値があります。</a:t>
            </a:r>
            <a:endParaRPr lang="ja-JP" altLang="en-US" sz="1700" dirty="0"/>
          </a:p>
          <a:p>
            <a:pPr indent="0" marL="0">
              <a:spcAft>
                <a:spcPts val="600"/>
              </a:spcAft>
              <a:buNone/>
            </a:pPr>
            <a:r>
              <a:rPr lang="ja-JP" altLang="en-US" sz="1000" dirty="0">
                <a:solidFill>
                  <a:srgbClr val="000000"/>
                </a:solidFill>
              </a:rPr>
              <a:t> </a:t>
            </a:r>
            <a:endParaRPr lang="ja-JP" altLang="en-US" sz="1700" dirty="0"/>
          </a:p>
          <a:p>
            <a:pPr indent="0" marL="0">
              <a:spcAft>
                <a:spcPts val="600"/>
              </a:spcAft>
              <a:buNone/>
            </a:pPr>
            <a:r>
              <a:rPr lang="ja-JP" altLang="en-US" sz="1700" b="1" dirty="0">
                <a:solidFill>
                  <a:schemeClr val="accent1"/>
                </a:solidFill>
              </a:rPr>
              <a:t>当てはまらないものがあれば</a:t>
            </a:r>
            <a:endParaRPr lang="ja-JP" altLang="en-US" sz="1700" dirty="0"/>
          </a:p>
          <a:p>
            <a:pPr indent="0" marL="0">
              <a:spcAft>
                <a:spcPts val="600"/>
              </a:spcAft>
              <a:buNone/>
            </a:pPr>
            <a:r>
              <a:rPr lang="ja-JP" altLang="en-US" sz="1500" dirty="0">
                <a:solidFill>
                  <a:schemeClr val="bg1"/>
                </a:solidFill>
              </a:rPr>
              <a:t>その条件に当てはまるテストだけ別の方法で書けるか、先に確かめます。</a:t>
            </a:r>
            <a:endParaRPr lang="ja-JP" alt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ja-JP" altLang="en-US"/>
              <a:t>9</a:t>
            </a:fld>
            <a:endParaRPr lang="ja-JP"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280160"/>
          </a:xfrm>
          <a:prstGeom prst="rect">
            <a:avLst/>
          </a:prstGeom>
          <a:noFill/>
          <a:ln/>
        </p:spPr>
        <p:txBody>
          <a:bodyPr wrap="square" lIns="0" tIns="0" rIns="0" bIns="0" rtlCol="0" anchor="b"/>
          <a:lstStyle/>
          <a:p>
            <a:pPr algn="l" indent="0" marL="0">
              <a:buNone/>
            </a:pPr>
            <a:r>
              <a:rPr lang="ja-JP" altLang="en-US" sz="4800" b="1" dirty="0">
                <a:solidFill>
                  <a:schemeClr val="bg1"/>
                </a:solidFill>
              </a:rPr>
              <a:t>参考資料</a:t>
            </a:r>
            <a:endParaRPr lang="ja-JP" altLang="en-US" sz="4800" dirty="0"/>
          </a:p>
        </p:txBody>
      </p:sp>
      <p:sp>
        <p:nvSpPr>
          <p:cNvPr id="3" name="Text 0"/>
          <p:cNvSpPr/>
          <p:nvPr>
            <p:ph idx="101" type="body" hasCustomPrompt="1"/>
          </p:nvPr>
        </p:nvSpPr>
        <p:spPr>
          <a:xfrm>
            <a:off x="548640" y="3474720"/>
            <a:ext cx="11094415" cy="1097280"/>
          </a:xfrm>
          <a:prstGeom prst="rect">
            <a:avLst/>
          </a:prstGeom>
          <a:noFill/>
          <a:ln/>
        </p:spPr>
        <p:txBody>
          <a:bodyPr wrap="square" lIns="0" tIns="0" rIns="0" bIns="0" rtlCol="0" anchor="t"/>
          <a:lstStyle/>
          <a:p>
            <a:pPr algn="l" indent="0" marL="0">
              <a:buNone/>
            </a:pPr>
            <a:r>
              <a:rPr lang="ja-JP" altLang="en-US" sz="2200" dirty="0">
                <a:solidFill>
                  <a:schemeClr val="accent1"/>
                </a:solidFill>
              </a:rPr>
              <a:t>詳しい内容は、リポジトリの中にそろっています</a:t>
            </a:r>
            <a:endParaRPr lang="ja-JP" altLang="en-US" sz="2200" dirty="0"/>
          </a:p>
        </p:txBody>
      </p:sp>
      <p:sp>
        <p:nvSpPr>
          <p:cNvPr id="4" name="ref1"/>
          <p:cNvSpPr/>
          <p:nvPr/>
        </p:nvSpPr>
        <p:spPr>
          <a:xfrm>
            <a:off x="548640" y="4572000"/>
            <a:ext cx="3454298" cy="1463040"/>
          </a:xfrm>
          <a:prstGeom prst="roundRect">
            <a:avLst>
              <a:gd name="adj" fmla="val 6250"/>
            </a:avLst>
          </a:prstGeom>
          <a:solidFill>
            <a:schemeClr val="tx2"/>
          </a:solidFill>
          <a:ln/>
        </p:spPr>
      </p:sp>
      <p:sp>
        <p:nvSpPr>
          <p:cNvPr id="5" name="refText1"/>
          <p:cNvSpPr txBox="1"/>
          <p:nvPr/>
        </p:nvSpPr>
        <p:spPr>
          <a:xfrm>
            <a:off x="822960" y="4572000"/>
            <a:ext cx="2905658" cy="1463040"/>
          </a:xfrm>
          <a:prstGeom prst="rect">
            <a:avLst/>
          </a:prstGeom>
          <a:noFill/>
          <a:ln/>
        </p:spPr>
        <p:txBody>
          <a:bodyPr wrap="square" lIns="0" tIns="0" rIns="0" bIns="0" rtlCol="0" anchor="ctr"/>
          <a:lstStyle/>
          <a:p>
            <a:pPr indent="0" marL="0">
              <a:spcAft>
                <a:spcPts val="400"/>
              </a:spcAft>
              <a:buNone/>
            </a:pPr>
            <a:r>
              <a:rPr lang="ja-JP" altLang="en-US" sz="1600" b="1" dirty="0">
                <a:solidFill>
                  <a:schemeClr val="bg1"/>
                </a:solidFill>
              </a:rPr>
              <a:t>開発者向けの紹介</a:t>
            </a:r>
            <a:endParaRPr lang="ja-JP" altLang="en-US" sz="1600" dirty="0"/>
          </a:p>
          <a:p>
            <a:pPr indent="0" marL="0">
              <a:spcAft>
                <a:spcPts val="400"/>
              </a:spcAft>
              <a:buNone/>
            </a:pPr>
            <a:r>
              <a:rPr lang="ja-JP" altLang="en-US" sz="1200" dirty="0">
                <a:solidFill>
                  <a:schemeClr val="accent4"/>
                </a:solidFill>
                <a:latin typeface="Consolas" pitchFamily="34" charset="0"/>
                <a:ea typeface="メイリオ" pitchFamily="34" charset="-122"/>
                <a:cs typeface="メイリオ" pitchFamily="34" charset="-120"/>
              </a:rPr>
              <a:t>dbjigu-for-developers.pptx</a:t>
            </a:r>
            <a:endParaRPr lang="ja-JP" altLang="en-US" sz="1600" dirty="0"/>
          </a:p>
          <a:p>
            <a:pPr indent="0" marL="0">
              <a:spcAft>
                <a:spcPts val="400"/>
              </a:spcAft>
              <a:buNone/>
            </a:pPr>
            <a:r>
              <a:rPr lang="ja-JP" altLang="en-US" sz="1200" dirty="0">
                <a:solidFill>
                  <a:schemeClr val="bg2"/>
                </a:solidFill>
              </a:rPr>
              <a:t>用途と書き方を短く紹介</a:t>
            </a:r>
            <a:endParaRPr lang="ja-JP" altLang="en-US" sz="1600" dirty="0"/>
          </a:p>
        </p:txBody>
      </p:sp>
      <p:sp>
        <p:nvSpPr>
          <p:cNvPr id="6" name="ref2"/>
          <p:cNvSpPr/>
          <p:nvPr/>
        </p:nvSpPr>
        <p:spPr>
          <a:xfrm>
            <a:off x="4368698" y="4572000"/>
            <a:ext cx="3454298" cy="1463040"/>
          </a:xfrm>
          <a:prstGeom prst="roundRect">
            <a:avLst>
              <a:gd name="adj" fmla="val 6250"/>
            </a:avLst>
          </a:prstGeom>
          <a:solidFill>
            <a:schemeClr val="tx2"/>
          </a:solidFill>
          <a:ln/>
        </p:spPr>
      </p:sp>
      <p:sp>
        <p:nvSpPr>
          <p:cNvPr id="7" name="refText2"/>
          <p:cNvSpPr txBox="1"/>
          <p:nvPr/>
        </p:nvSpPr>
        <p:spPr>
          <a:xfrm>
            <a:off x="4643018" y="4572000"/>
            <a:ext cx="2905658" cy="1463040"/>
          </a:xfrm>
          <a:prstGeom prst="rect">
            <a:avLst/>
          </a:prstGeom>
          <a:noFill/>
          <a:ln/>
        </p:spPr>
        <p:txBody>
          <a:bodyPr wrap="square" lIns="0" tIns="0" rIns="0" bIns="0" rtlCol="0" anchor="ctr"/>
          <a:lstStyle/>
          <a:p>
            <a:pPr indent="0" marL="0">
              <a:spcAft>
                <a:spcPts val="400"/>
              </a:spcAft>
              <a:buNone/>
            </a:pPr>
            <a:r>
              <a:rPr lang="ja-JP" altLang="en-US" sz="1600" b="1" dirty="0">
                <a:solidFill>
                  <a:schemeClr val="bg1"/>
                </a:solidFill>
              </a:rPr>
              <a:t>テスト実装ガイド</a:t>
            </a:r>
            <a:endParaRPr lang="ja-JP" altLang="en-US" sz="1600" dirty="0"/>
          </a:p>
          <a:p>
            <a:pPr indent="0" marL="0">
              <a:spcAft>
                <a:spcPts val="400"/>
              </a:spcAft>
              <a:buNone/>
            </a:pPr>
            <a:r>
              <a:rPr lang="ja-JP" altLang="en-US" sz="1200" dirty="0">
                <a:solidFill>
                  <a:schemeClr val="accent4"/>
                </a:solidFill>
                <a:latin typeface="Consolas" pitchFamily="34" charset="0"/>
                <a:ea typeface="メイリオ" pitchFamily="34" charset="-122"/>
                <a:cs typeface="メイリオ" pitchFamily="34" charset="-120"/>
              </a:rPr>
              <a:t>docs/guide.ja.md</a:t>
            </a:r>
            <a:endParaRPr lang="ja-JP" altLang="en-US" sz="1600" dirty="0"/>
          </a:p>
          <a:p>
            <a:pPr indent="0" marL="0">
              <a:spcAft>
                <a:spcPts val="400"/>
              </a:spcAft>
              <a:buNone/>
            </a:pPr>
            <a:r>
              <a:rPr lang="ja-JP" altLang="en-US" sz="1200" dirty="0">
                <a:solidFill>
                  <a:schemeClr val="bg2"/>
                </a:solidFill>
              </a:rPr>
              <a:t>例を使って、書き方を順に説明</a:t>
            </a:r>
            <a:endParaRPr lang="ja-JP" altLang="en-US" sz="1600" dirty="0"/>
          </a:p>
        </p:txBody>
      </p:sp>
      <p:sp>
        <p:nvSpPr>
          <p:cNvPr id="8" name="ref3"/>
          <p:cNvSpPr/>
          <p:nvPr/>
        </p:nvSpPr>
        <p:spPr>
          <a:xfrm>
            <a:off x="8188757" y="4572000"/>
            <a:ext cx="3454298" cy="1463040"/>
          </a:xfrm>
          <a:prstGeom prst="roundRect">
            <a:avLst>
              <a:gd name="adj" fmla="val 6250"/>
            </a:avLst>
          </a:prstGeom>
          <a:solidFill>
            <a:schemeClr val="tx2"/>
          </a:solidFill>
          <a:ln/>
        </p:spPr>
      </p:sp>
      <p:sp>
        <p:nvSpPr>
          <p:cNvPr id="9" name="refText3"/>
          <p:cNvSpPr txBox="1"/>
          <p:nvPr/>
        </p:nvSpPr>
        <p:spPr>
          <a:xfrm>
            <a:off x="8463077" y="4572000"/>
            <a:ext cx="2905658" cy="1463040"/>
          </a:xfrm>
          <a:prstGeom prst="rect">
            <a:avLst/>
          </a:prstGeom>
          <a:noFill/>
          <a:ln/>
        </p:spPr>
        <p:txBody>
          <a:bodyPr wrap="square" lIns="0" tIns="0" rIns="0" bIns="0" rtlCol="0" anchor="ctr"/>
          <a:lstStyle/>
          <a:p>
            <a:pPr indent="0" marL="0">
              <a:spcAft>
                <a:spcPts val="400"/>
              </a:spcAft>
              <a:buNone/>
            </a:pPr>
            <a:r>
              <a:rPr lang="ja-JP" altLang="en-US" sz="1600" b="1" dirty="0">
                <a:solidFill>
                  <a:schemeClr val="bg1"/>
                </a:solidFill>
              </a:rPr>
              <a:t>ライセンス</a:t>
            </a:r>
            <a:endParaRPr lang="ja-JP" altLang="en-US" sz="1600" dirty="0"/>
          </a:p>
          <a:p>
            <a:pPr indent="0" marL="0">
              <a:spcAft>
                <a:spcPts val="400"/>
              </a:spcAft>
              <a:buNone/>
            </a:pPr>
            <a:r>
              <a:rPr lang="ja-JP" altLang="en-US" sz="1200" dirty="0">
                <a:solidFill>
                  <a:schemeClr val="accent4"/>
                </a:solidFill>
                <a:latin typeface="Consolas" pitchFamily="34" charset="0"/>
                <a:ea typeface="メイリオ" pitchFamily="34" charset="-122"/>
                <a:cs typeface="メイリオ" pitchFamily="34" charset="-120"/>
              </a:rPr>
              <a:t>LICENSE（MIT）</a:t>
            </a:r>
            <a:endParaRPr lang="ja-JP" altLang="en-US" sz="1600" dirty="0"/>
          </a:p>
          <a:p>
            <a:pPr indent="0" marL="0">
              <a:spcAft>
                <a:spcPts val="400"/>
              </a:spcAft>
              <a:buNone/>
            </a:pPr>
            <a:r>
              <a:rPr lang="ja-JP" altLang="en-US" sz="1200" dirty="0">
                <a:solidFill>
                  <a:schemeClr val="bg2"/>
                </a:solidFill>
              </a:rPr>
              <a:t>著作権表示を残せば業務でも使える</a:t>
            </a:r>
            <a:endParaRPr lang="ja-JP" altLang="en-US" sz="1600" dirty="0"/>
          </a:p>
        </p:txBody>
      </p:sp>
    </p:spTree>
  </p:cSld>
  <p:clrMapOvr>
    <a:masterClrMapping/>
  </p:clrMapOvr>
</p:sld>
</file>

<file path=ppt/theme/theme1.xml><?xml version="1.0" encoding="utf-8"?>
<a:theme xmlns:a="http://schemas.openxmlformats.org/drawingml/2006/main" name="DbJigu">
  <a:themeElements>
    <a:clrScheme name="DbJigu">
      <a:dk1>
        <a:srgbClr val="1D262B"/>
      </a:dk1>
      <a:lt1>
        <a:srgbClr val="FFFFFF"/>
      </a:lt1>
      <a:dk2>
        <a:srgbClr val="33505C"/>
      </a:dk2>
      <a:lt2>
        <a:srgbClr val="EEF2F3"/>
      </a:lt2>
      <a:accent1>
        <a:srgbClr val="E39B2D"/>
      </a:accent1>
      <a:accent2>
        <a:srgbClr val="2E8B6E"/>
      </a:accent2>
      <a:accent3>
        <a:srgbClr val="E8776C"/>
      </a:accent3>
      <a:accent4>
        <a:srgbClr val="7EC4E0"/>
      </a:accent4>
      <a:accent5>
        <a:srgbClr val="8C9BA3"/>
      </a:accent5>
      <a:accent6>
        <a:srgbClr val="A6D785"/>
      </a:accent6>
      <a:hlink>
        <a:srgbClr val="2F6F9F"/>
      </a:hlink>
      <a:folHlink>
        <a:srgbClr val="6B5B95"/>
      </a:folHlink>
    </a:clrScheme>
    <a:fontScheme name="DbJigu">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DbJigu 導入の判断材料</dc:title>
  <dc:subject>PptxGenJS Presentation</dc:subject>
  <dc:creator>raindrop-aqua</dc:creator>
  <cp:lastModifiedBy>raindrop-aqua</cp:lastModifiedBy>
  <cp:revision>1</cp:revision>
  <dcterms:created xsi:type="dcterms:W3CDTF">2026-10-21T13:45:21Z</dcterms:created>
  <dcterms:modified xsi:type="dcterms:W3CDTF">2026-10-21T13:45:21Z</dcterms:modified>
</cp:coreProperties>
</file>