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 altLang="en-US"/>
              <a:t>7/23/19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Click to edit Master text styles</a:t>
            </a:r>
          </a:p>
          <a:p>
            <a:pPr lvl="1"/>
            <a:r>
              <a:rPr lang="ja-JP" altLang="en-US"/>
              <a:t>Second level</a:t>
            </a:r>
          </a:p>
          <a:p>
            <a:pPr lvl="2"/>
            <a:r>
              <a:rPr lang="ja-JP" altLang="en-US"/>
              <a:t>Third level</a:t>
            </a:r>
          </a:p>
          <a:p>
            <a:pPr lvl="3"/>
            <a:r>
              <a:rPr lang="ja-JP" altLang="en-US"/>
              <a:t>Fourth level</a:t>
            </a:r>
          </a:p>
          <a:p>
            <a:pPr lvl="4"/>
            <a:r>
              <a:rPr lang="ja-JP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 altLang="en-US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DbJigu のフィクスチャを編集するための、ブラウザで動くツールの紹介です。画面はすべて、リポジトリの受注管理のフィクスチャと DDL を使って撮っています。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DbJigu.java と同じく、コピーして使う前提の1ファイルのツールです。外部のスクリプトやフォントも読み込まないので、ネットワークにつながっていない環境でも使えます。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左が編集する表、右がサイドパネルです。サイドパネルは右端のボタンで閉じられ、画面の幅が狭いときは表の上に重ねて表示します。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セルに入力した内容は、そのままファイルの内容になります。ツールバーのボタンで、元に戻す・やり直すもできます。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列数が合わない行は、チェック結果の「列数に合わせる」で直せます。チェックの規則は DbJigu と同じです。エラーのあるファイルは、テストを実行しても例外になります。警告は、DB やファイルの使い方によっては問題ないこともあります。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列名のつづりを確かめたり、NOT NULL の列を書き漏らしたりする手間が省けます。登録した DDL はブラウザに保存されます。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スキーマタブは、表で選んでいるテーブルに合わせて切り替わります。テーブル名でも列名でも検索できます。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テキスト表示でも直接編集できます。表に戻ると、テキストの内容を読み込み直します。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テーブルの数が多いファイルで、目的のテーブルを探す手間が省けます。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エディタは、テストを実行する前に誤りを減らすための道具です。DB とのつながりは、最後にテストで確かめます。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data/order と schema/order.sql は src/test/resources の下にあります。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ja-JP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ja-JP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ja-JP" alt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5"/>
                </a:solidFill>
              </a:rPr>
              <a:t>DbJigu フィクスチャエディタの紹介</a:t>
            </a:r>
            <a:endParaRPr lang="ja-JP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1003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null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4800" b="1" dirty="0">
                <a:solidFill>
                  <a:schemeClr val="bg1"/>
                </a:solidFill>
              </a:rPr>
              <a:t>フィクスチャエディタ</a:t>
            </a:r>
            <a:endParaRPr lang="ja-JP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chemeClr val="accent1"/>
                </a:solidFill>
              </a:rPr>
              <a:t>フィクスチャを表で編集し、テストを実行する前に誤りを見つける</a:t>
            </a:r>
            <a:endParaRPr lang="ja-JP" altLang="en-US" sz="2200" dirty="0"/>
          </a:p>
        </p:txBody>
      </p:sp>
      <p:sp>
        <p:nvSpPr>
          <p:cNvPr id="4" name="edition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5"/>
                </a:solidFill>
              </a:rPr>
              <a:t>DbJigu　|　tools/fixture-editor.html</a:t>
            </a:r>
            <a:endParaRPr lang="ja-JP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ブラウザで開くだけで使える</a:t>
            </a:r>
            <a:endParaRPr lang="ja-JP" altLang="en-US" sz="3000" dirty="0"/>
          </a:p>
        </p:txBody>
      </p:sp>
      <p:sp>
        <p:nvSpPr>
          <p:cNvPr id="3" name="start1"/>
          <p:cNvSpPr/>
          <p:nvPr/>
        </p:nvSpPr>
        <p:spPr>
          <a:xfrm>
            <a:off x="548640" y="1463040"/>
            <a:ext cx="345429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4" name="startNo1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artNo1Text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1</a:t>
            </a:r>
            <a:endParaRPr lang="ja-JP" altLang="en-US" sz="1800" dirty="0"/>
          </a:p>
        </p:txBody>
      </p:sp>
      <p:sp>
        <p:nvSpPr>
          <p:cNvPr id="6" name="startText1"/>
          <p:cNvSpPr txBox="1"/>
          <p:nvPr/>
        </p:nvSpPr>
        <p:spPr>
          <a:xfrm>
            <a:off x="868680" y="2514600"/>
            <a:ext cx="28142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インストール不要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tools/fixture-editor.html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をダウンロードして、ブラウザで開くだけです。1つの HTML ファイルで動きます。</a:t>
            </a:r>
            <a:endParaRPr lang="ja-JP" altLang="en-US" sz="1800" dirty="0"/>
          </a:p>
        </p:txBody>
      </p:sp>
      <p:sp>
        <p:nvSpPr>
          <p:cNvPr id="7" name="start2"/>
          <p:cNvSpPr/>
          <p:nvPr/>
        </p:nvSpPr>
        <p:spPr>
          <a:xfrm>
            <a:off x="4368698" y="1463040"/>
            <a:ext cx="345429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8" name="startNo2"/>
          <p:cNvSpPr/>
          <p:nvPr/>
        </p:nvSpPr>
        <p:spPr>
          <a:xfrm>
            <a:off x="4688738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artNo2Text"/>
          <p:cNvSpPr txBox="1"/>
          <p:nvPr/>
        </p:nvSpPr>
        <p:spPr>
          <a:xfrm>
            <a:off x="468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2</a:t>
            </a:r>
            <a:endParaRPr lang="ja-JP" altLang="en-US" sz="1800" dirty="0"/>
          </a:p>
        </p:txBody>
      </p:sp>
      <p:sp>
        <p:nvSpPr>
          <p:cNvPr id="10" name="startText2"/>
          <p:cNvSpPr txBox="1"/>
          <p:nvPr/>
        </p:nvSpPr>
        <p:spPr>
          <a:xfrm>
            <a:off x="4688738" y="2514600"/>
            <a:ext cx="28142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外部と通信しない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外部のサーバーにも DB にも接続しません。社内のフィクスチャを開いても、どこにも送られません。</a:t>
            </a:r>
            <a:endParaRPr lang="ja-JP" altLang="en-US" sz="1800" dirty="0"/>
          </a:p>
        </p:txBody>
      </p:sp>
      <p:sp>
        <p:nvSpPr>
          <p:cNvPr id="11" name="start3"/>
          <p:cNvSpPr/>
          <p:nvPr/>
        </p:nvSpPr>
        <p:spPr>
          <a:xfrm>
            <a:off x="8188757" y="1463040"/>
            <a:ext cx="345429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2" name="startNo3"/>
          <p:cNvSpPr/>
          <p:nvPr/>
        </p:nvSpPr>
        <p:spPr>
          <a:xfrm>
            <a:off x="8508797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artNo3Text"/>
          <p:cNvSpPr txBox="1"/>
          <p:nvPr/>
        </p:nvSpPr>
        <p:spPr>
          <a:xfrm>
            <a:off x="850879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3</a:t>
            </a:r>
            <a:endParaRPr lang="ja-JP" altLang="en-US" sz="1800" dirty="0"/>
          </a:p>
        </p:txBody>
      </p:sp>
      <p:sp>
        <p:nvSpPr>
          <p:cNvPr id="14" name="startText3"/>
          <p:cNvSpPr txBox="1"/>
          <p:nvPr/>
        </p:nvSpPr>
        <p:spPr>
          <a:xfrm>
            <a:off x="8508797" y="2514600"/>
            <a:ext cx="28142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DbJigu と同じ読み方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DbJigu と同じ規則で読み、同じ内容を書き出します。桁揃えの空白は、DbJigu が値の前後から取り除きます。</a:t>
            </a:r>
            <a:endParaRPr lang="ja-JP" altLang="en-US" sz="1800" dirty="0"/>
          </a:p>
        </p:txBody>
      </p:sp>
      <p:sp>
        <p:nvSpPr>
          <p:cNvPr id="15" name="saveBox"/>
          <p:cNvSpPr/>
          <p:nvPr/>
        </p:nvSpPr>
        <p:spPr>
          <a:xfrm>
            <a:off x="548640" y="4709160"/>
            <a:ext cx="11094415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saveText"/>
          <p:cNvSpPr txBox="1"/>
          <p:nvPr/>
        </p:nvSpPr>
        <p:spPr>
          <a:xfrm>
            <a:off x="914400" y="47091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保存：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Chrome と Edge では開いたファイルに上書き保存でき、ほかのブラウザではダウンロードになります。</a:t>
            </a:r>
            <a:endParaRPr lang="ja-JP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2</a:t>
            </a:fld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画面の全体</a:t>
            </a:r>
            <a:endParaRPr lang="ja-JP" altLang="en-US" sz="3000" dirty="0"/>
          </a:p>
        </p:txBody>
      </p:sp>
      <p:sp>
        <p:nvSpPr>
          <p:cNvPr id="3" name="overviewShotFrame"/>
          <p:cNvSpPr/>
          <p:nvPr/>
        </p:nvSpPr>
        <p:spPr>
          <a:xfrm>
            <a:off x="530352" y="1307592"/>
            <a:ext cx="7900416" cy="4459986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4" name="overviewShot" descr="overview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63840" cy="4423410"/>
          </a:xfrm>
          <a:prstGeom prst="rect">
            <a:avLst/>
          </a:prstGeom>
        </p:spPr>
      </p:pic>
      <p:sp>
        <p:nvSpPr>
          <p:cNvPr id="5" name="areaNo1"/>
          <p:cNvSpPr/>
          <p:nvPr/>
        </p:nvSpPr>
        <p:spPr>
          <a:xfrm>
            <a:off x="88239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reaNo1Text"/>
          <p:cNvSpPr txBox="1"/>
          <p:nvPr/>
        </p:nvSpPr>
        <p:spPr>
          <a:xfrm>
            <a:off x="8823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1</a:t>
            </a:r>
            <a:endParaRPr lang="ja-JP" altLang="en-US" sz="1600" dirty="0"/>
          </a:p>
        </p:txBody>
      </p:sp>
      <p:sp>
        <p:nvSpPr>
          <p:cNvPr id="7" name="areaText1"/>
          <p:cNvSpPr txBox="1"/>
          <p:nvPr/>
        </p:nvSpPr>
        <p:spPr>
          <a:xfrm>
            <a:off x="9464040" y="1417320"/>
            <a:ext cx="2179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ツールバー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開く・保存、表とテキストの切り替え、桁揃え、型の表示、パターンの絞り込み</a:t>
            </a:r>
            <a:endParaRPr lang="ja-JP" altLang="en-US" sz="1600" dirty="0"/>
          </a:p>
        </p:txBody>
      </p:sp>
      <p:sp>
        <p:nvSpPr>
          <p:cNvPr id="8" name="areaNo2"/>
          <p:cNvSpPr/>
          <p:nvPr/>
        </p:nvSpPr>
        <p:spPr>
          <a:xfrm>
            <a:off x="882396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reaNo2Text"/>
          <p:cNvSpPr txBox="1"/>
          <p:nvPr/>
        </p:nvSpPr>
        <p:spPr>
          <a:xfrm>
            <a:off x="8823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2</a:t>
            </a:r>
            <a:endParaRPr lang="ja-JP" altLang="en-US" sz="1600" dirty="0"/>
          </a:p>
        </p:txBody>
      </p:sp>
      <p:sp>
        <p:nvSpPr>
          <p:cNvPr id="10" name="areaText2"/>
          <p:cNvSpPr txBox="1"/>
          <p:nvPr/>
        </p:nvSpPr>
        <p:spPr>
          <a:xfrm>
            <a:off x="9464040" y="2880360"/>
            <a:ext cx="2179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表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テーブルごとの表。列名の下に、登録した DDL の型を表示します</a:t>
            </a:r>
            <a:endParaRPr lang="ja-JP" altLang="en-US" sz="1600" dirty="0"/>
          </a:p>
        </p:txBody>
      </p:sp>
      <p:sp>
        <p:nvSpPr>
          <p:cNvPr id="11" name="areaNo3"/>
          <p:cNvSpPr/>
          <p:nvPr/>
        </p:nvSpPr>
        <p:spPr>
          <a:xfrm>
            <a:off x="882396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reaNo3Text"/>
          <p:cNvSpPr txBox="1"/>
          <p:nvPr/>
        </p:nvSpPr>
        <p:spPr>
          <a:xfrm>
            <a:off x="8823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3</a:t>
            </a:r>
            <a:endParaRPr lang="ja-JP" altLang="en-US" sz="1600" dirty="0"/>
          </a:p>
        </p:txBody>
      </p:sp>
      <p:sp>
        <p:nvSpPr>
          <p:cNvPr id="13" name="areaText3"/>
          <p:cNvSpPr txBox="1"/>
          <p:nvPr/>
        </p:nvSpPr>
        <p:spPr>
          <a:xfrm>
            <a:off x="9464040" y="4343400"/>
            <a:ext cx="2179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サイドパネル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チェック結果、テーブルの一覧、スキーマを、右端のボタンで切り替えます</a:t>
            </a:r>
            <a:endParaRPr lang="ja-JP" altLang="en-US" sz="1600" dirty="0"/>
          </a:p>
        </p:txBody>
      </p:sp>
      <p:sp>
        <p:nvSpPr>
          <p:cNvPr id="14" name="areaMark1"/>
          <p:cNvSpPr/>
          <p:nvPr/>
        </p:nvSpPr>
        <p:spPr>
          <a:xfrm>
            <a:off x="384048" y="129399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areaMark1Text"/>
          <p:cNvSpPr txBox="1"/>
          <p:nvPr/>
        </p:nvSpPr>
        <p:spPr>
          <a:xfrm>
            <a:off x="384048" y="12939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1</a:t>
            </a:r>
            <a:endParaRPr lang="ja-JP" altLang="en-US" sz="1200" dirty="0"/>
          </a:p>
        </p:txBody>
      </p:sp>
      <p:sp>
        <p:nvSpPr>
          <p:cNvPr id="16" name="areaMark2"/>
          <p:cNvSpPr/>
          <p:nvPr/>
        </p:nvSpPr>
        <p:spPr>
          <a:xfrm>
            <a:off x="384048" y="19132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areaMark2Text"/>
          <p:cNvSpPr txBox="1"/>
          <p:nvPr/>
        </p:nvSpPr>
        <p:spPr>
          <a:xfrm>
            <a:off x="384048" y="1913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2</a:t>
            </a:r>
            <a:endParaRPr lang="ja-JP" altLang="en-US" sz="1200" dirty="0"/>
          </a:p>
        </p:txBody>
      </p:sp>
      <p:sp>
        <p:nvSpPr>
          <p:cNvPr id="18" name="areaMark3"/>
          <p:cNvSpPr/>
          <p:nvPr/>
        </p:nvSpPr>
        <p:spPr>
          <a:xfrm>
            <a:off x="6124651" y="1603629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areaMark3Text"/>
          <p:cNvSpPr txBox="1"/>
          <p:nvPr/>
        </p:nvSpPr>
        <p:spPr>
          <a:xfrm>
            <a:off x="6124651" y="160362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tx1"/>
                </a:solidFill>
              </a:rPr>
              <a:t>3</a:t>
            </a:r>
            <a:endParaRPr lang="ja-JP" altLang="en-US" sz="1200" dirty="0"/>
          </a:p>
        </p:txBody>
      </p:sp>
      <p:sp>
        <p:nvSpPr>
          <p:cNvPr id="20" name="overviewCaption"/>
          <p:cNvSpPr txBox="1"/>
          <p:nvPr/>
        </p:nvSpPr>
        <p:spPr>
          <a:xfrm>
            <a:off x="548640" y="588645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</a:rPr>
              <a:t>cancel/given.txt を開き、order.sql を登録した画面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表の形で編集する</a:t>
            </a:r>
            <a:endParaRPr lang="ja-JP" altLang="en-US" sz="3000" dirty="0"/>
          </a:p>
        </p:txBody>
      </p:sp>
      <p:sp>
        <p:nvSpPr>
          <p:cNvPr id="3" name="gridShotFrame"/>
          <p:cNvSpPr/>
          <p:nvPr/>
        </p:nvSpPr>
        <p:spPr>
          <a:xfrm>
            <a:off x="530352" y="1307592"/>
            <a:ext cx="6803136" cy="3842766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4" name="gridShot" descr="grid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806190"/>
          </a:xfrm>
          <a:prstGeom prst="rect">
            <a:avLst/>
          </a:prstGeom>
        </p:spPr>
      </p:pic>
      <p:sp>
        <p:nvSpPr>
          <p:cNvPr id="5" name="gridText1"/>
          <p:cNvSpPr txBox="1"/>
          <p:nvPr/>
        </p:nvSpPr>
        <p:spPr>
          <a:xfrm>
            <a:off x="7726680" y="1371600"/>
            <a:ext cx="3916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行と列の操作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「行・列の操作」で、移動・追加・複製・コメント化・削除のボタンを表示します。</a:t>
            </a:r>
            <a:endParaRPr lang="ja-JP" altLang="en-US" sz="1600" dirty="0"/>
          </a:p>
        </p:txBody>
      </p:sp>
      <p:sp>
        <p:nvSpPr>
          <p:cNvPr id="6" name="gridText2"/>
          <p:cNvSpPr txBox="1"/>
          <p:nvPr/>
        </p:nvSpPr>
        <p:spPr>
          <a:xfrm>
            <a:off x="7726680" y="2880360"/>
            <a:ext cx="3916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Excel と行き来する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Excel でコピーした範囲をセルに貼り付けられます。テーブルを TSV でコピーして、Excel に貼ることもできます。</a:t>
            </a:r>
            <a:endParaRPr lang="ja-JP" altLang="en-US" sz="1600" dirty="0"/>
          </a:p>
        </p:txBody>
      </p:sp>
      <p:sp>
        <p:nvSpPr>
          <p:cNvPr id="7" name="gridText3"/>
          <p:cNvSpPr txBox="1"/>
          <p:nvPr/>
        </p:nvSpPr>
        <p:spPr>
          <a:xfrm>
            <a:off x="7726680" y="4389120"/>
            <a:ext cx="3916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大きな表でも迷わない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スクロールしても、列名の行・行番号・テーブル名は見えたままです。</a:t>
            </a:r>
            <a:endParaRPr lang="ja-JP" altLang="en-US" sz="1600" dirty="0"/>
          </a:p>
        </p:txBody>
      </p:sp>
      <p:sp>
        <p:nvSpPr>
          <p:cNvPr id="8" name="gridCaption"/>
          <p:cNvSpPr txBox="1"/>
          <p:nvPr/>
        </p:nvSpPr>
        <p:spPr>
          <a:xfrm>
            <a:off x="548640" y="5257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</a:rPr>
              <a:t>パターン gold で絞り込んだ画面。gold で処理しない行は薄く表示されます（place_by_rank_named/given.txt）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4</a:t>
            </a:fld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テストを実行する前に、誤りを見つける</a:t>
            </a:r>
            <a:endParaRPr lang="ja-JP" altLang="en-US" sz="3000" dirty="0"/>
          </a:p>
        </p:txBody>
      </p:sp>
      <p:sp>
        <p:nvSpPr>
          <p:cNvPr id="3" name="checkShotFrame"/>
          <p:cNvSpPr/>
          <p:nvPr/>
        </p:nvSpPr>
        <p:spPr>
          <a:xfrm>
            <a:off x="530352" y="1307592"/>
            <a:ext cx="7900416" cy="4459986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4" name="checkShot" descr="check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63840" cy="4423410"/>
          </a:xfrm>
          <a:prstGeom prst="rect">
            <a:avLst/>
          </a:prstGeom>
        </p:spPr>
      </p:pic>
      <p:sp>
        <p:nvSpPr>
          <p:cNvPr id="5" name="errorText"/>
          <p:cNvSpPr txBox="1"/>
          <p:nvPr/>
        </p:nvSpPr>
        <p:spPr>
          <a:xfrm>
            <a:off x="8823960" y="1371600"/>
            <a:ext cx="2819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accent3"/>
                </a:solidFill>
              </a:rPr>
              <a:t>エラー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DbJigu が例外にするもの。列数と値の数が合わない、空のパターン番号がある、など</a:t>
            </a:r>
            <a:endParaRPr lang="ja-JP" altLang="en-US" sz="1600" dirty="0"/>
          </a:p>
        </p:txBody>
      </p:sp>
      <p:sp>
        <p:nvSpPr>
          <p:cNvPr id="6" name="warnText"/>
          <p:cNvSpPr txBox="1"/>
          <p:nvPr/>
        </p:nvSpPr>
        <p:spPr>
          <a:xfrm>
            <a:off x="8823960" y="2926080"/>
            <a:ext cx="28190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accent1"/>
                </a:solidFill>
              </a:rPr>
              <a:t>警告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動くが、間違いのことが多いもの。スキーマに無い列（近い名前を示す）、必須の列が無い、存在しない日付、DB で丸められる値など</a:t>
            </a:r>
            <a:endParaRPr lang="ja-JP" altLang="en-US" sz="1600" dirty="0"/>
          </a:p>
        </p:txBody>
      </p:sp>
      <p:sp>
        <p:nvSpPr>
          <p:cNvPr id="7" name="checkCaption"/>
          <p:cNvSpPr txBox="1"/>
          <p:nvPr/>
        </p:nvSpPr>
        <p:spPr>
          <a:xfrm>
            <a:off x="548640" y="5897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</a:rPr>
              <a:t>place/given.txt に、わざと誤りを入れた例。チェック結果をクリックすると、その場所へ移動します。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5</a:t>
            </a:fld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DDL を登録すると、候補が出る</a:t>
            </a:r>
            <a:endParaRPr lang="ja-JP" altLang="en-US" sz="3000" dirty="0"/>
          </a:p>
        </p:txBody>
      </p:sp>
      <p:sp>
        <p:nvSpPr>
          <p:cNvPr id="3" name="ddlLead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CREATE TABLE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を書いた </a:t>
            </a:r>
            <a:pPr indent="0" marL="0">
              <a:buNone/>
            </a:pPr>
            <a:r>
              <a:rPr lang="ja-JP" altLang="en-US" sz="1500" dirty="0">
                <a:solidFill>
                  <a:schemeClr val="tx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.sql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ファイルを「スキーマ」タブに登録します。DB には接続しません。</a:t>
            </a:r>
            <a:endParaRPr lang="ja-JP" altLang="en-US" sz="1500" dirty="0"/>
          </a:p>
        </p:txBody>
      </p:sp>
      <p:sp>
        <p:nvSpPr>
          <p:cNvPr id="4" name="suggestShotFrame"/>
          <p:cNvSpPr/>
          <p:nvPr/>
        </p:nvSpPr>
        <p:spPr>
          <a:xfrm>
            <a:off x="530352" y="1856232"/>
            <a:ext cx="6986016" cy="1310640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5" name="suggestShot" descr="suggest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949440" cy="1274064"/>
          </a:xfrm>
          <a:prstGeom prst="rect">
            <a:avLst/>
          </a:prstGeom>
        </p:spPr>
      </p:pic>
      <p:sp>
        <p:nvSpPr>
          <p:cNvPr id="6" name="expandShotFrame"/>
          <p:cNvSpPr/>
          <p:nvPr/>
        </p:nvSpPr>
        <p:spPr>
          <a:xfrm>
            <a:off x="530352" y="3450336"/>
            <a:ext cx="6986016" cy="1310640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7" name="expandShot" descr="expand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68624"/>
            <a:ext cx="6949440" cy="1274064"/>
          </a:xfrm>
          <a:prstGeom prst="rect">
            <a:avLst/>
          </a:prstGeom>
        </p:spPr>
      </p:pic>
      <p:sp>
        <p:nvSpPr>
          <p:cNvPr id="8" name="suggestText"/>
          <p:cNvSpPr txBox="1"/>
          <p:nvPr/>
        </p:nvSpPr>
        <p:spPr>
          <a:xfrm>
            <a:off x="7955280" y="1874520"/>
            <a:ext cx="3687775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テーブル名の候補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入力した文字を含むテーブルが、列の数とともに出ます。</a:t>
            </a:r>
            <a:endParaRPr lang="ja-JP" altLang="en-US" sz="1600" dirty="0"/>
          </a:p>
        </p:txBody>
      </p:sp>
      <p:sp>
        <p:nvSpPr>
          <p:cNvPr id="9" name="expandText"/>
          <p:cNvSpPr txBox="1"/>
          <p:nvPr/>
        </p:nvSpPr>
        <p:spPr>
          <a:xfrm>
            <a:off x="7955280" y="3468624"/>
            <a:ext cx="3687775" cy="182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列の展開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全列・必須の列だけ（主キーと、NOT NULL で既定値の無い列）・主キーだけを選んで、列名をまとめて入れられます。</a:t>
            </a:r>
            <a:endParaRPr lang="ja-JP" altLang="en-US" sz="1600" dirty="0"/>
          </a:p>
        </p:txBody>
      </p:sp>
      <p:sp>
        <p:nvSpPr>
          <p:cNvPr id="10" name="columnNote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列名を入力すると、まだ書いていない列が型とともに候補に出ます。ツールバーの「型」で、列名の下に型を表示します。</a:t>
            </a:r>
            <a:endParaRPr lang="ja-JP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6</a:t>
            </a:fld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テーブルの定義を見ながら書く</a:t>
            </a:r>
            <a:endParaRPr lang="ja-JP" altLang="en-US" sz="3000" dirty="0"/>
          </a:p>
        </p:txBody>
      </p:sp>
      <p:sp>
        <p:nvSpPr>
          <p:cNvPr id="3" name="schemaShotFrame"/>
          <p:cNvSpPr/>
          <p:nvPr/>
        </p:nvSpPr>
        <p:spPr>
          <a:xfrm>
            <a:off x="530352" y="1307592"/>
            <a:ext cx="4299657" cy="4608576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4" name="schemaShot" descr="schema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263081" cy="4572000"/>
          </a:xfrm>
          <a:prstGeom prst="rect">
            <a:avLst/>
          </a:prstGeom>
        </p:spPr>
      </p:pic>
      <p:sp>
        <p:nvSpPr>
          <p:cNvPr id="5" name="schemaNo1"/>
          <p:cNvSpPr/>
          <p:nvPr/>
        </p:nvSpPr>
        <p:spPr>
          <a:xfrm>
            <a:off x="5360361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chemaNo1Text"/>
          <p:cNvSpPr txBox="1"/>
          <p:nvPr/>
        </p:nvSpPr>
        <p:spPr>
          <a:xfrm>
            <a:off x="5360361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1</a:t>
            </a:r>
            <a:endParaRPr lang="ja-JP" altLang="en-US" sz="1600" dirty="0"/>
          </a:p>
        </p:txBody>
      </p:sp>
      <p:sp>
        <p:nvSpPr>
          <p:cNvPr id="7" name="schemaText1"/>
          <p:cNvSpPr txBox="1"/>
          <p:nvPr/>
        </p:nvSpPr>
        <p:spPr>
          <a:xfrm>
            <a:off x="6000441" y="1417320"/>
            <a:ext cx="56426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列の一覧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入力しているテーブルの列を、型・主キー・NOT NULL とともに表示します。ファイルに無い必須の列には、警告の印が付きます。</a:t>
            </a:r>
            <a:endParaRPr lang="ja-JP" altLang="en-US" sz="1600" dirty="0"/>
          </a:p>
        </p:txBody>
      </p:sp>
      <p:sp>
        <p:nvSpPr>
          <p:cNvPr id="8" name="schemaNo2"/>
          <p:cNvSpPr/>
          <p:nvPr/>
        </p:nvSpPr>
        <p:spPr>
          <a:xfrm>
            <a:off x="5360361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chemaNo2Text"/>
          <p:cNvSpPr txBox="1"/>
          <p:nvPr/>
        </p:nvSpPr>
        <p:spPr>
          <a:xfrm>
            <a:off x="5360361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2</a:t>
            </a:r>
            <a:endParaRPr lang="ja-JP" altLang="en-US" sz="1600" dirty="0"/>
          </a:p>
        </p:txBody>
      </p:sp>
      <p:sp>
        <p:nvSpPr>
          <p:cNvPr id="10" name="schemaText2"/>
          <p:cNvSpPr txBox="1"/>
          <p:nvPr/>
        </p:nvSpPr>
        <p:spPr>
          <a:xfrm>
            <a:off x="6000441" y="2926080"/>
            <a:ext cx="56426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外部キーの親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親のテーブルを表示します。親がファイルで後ろにあると「先に投入」と示し、投入の順序の誤りが分かります。</a:t>
            </a:r>
            <a:endParaRPr lang="ja-JP" altLang="en-US" sz="1600" dirty="0"/>
          </a:p>
        </p:txBody>
      </p:sp>
      <p:sp>
        <p:nvSpPr>
          <p:cNvPr id="11" name="schemaNo3"/>
          <p:cNvSpPr/>
          <p:nvPr/>
        </p:nvSpPr>
        <p:spPr>
          <a:xfrm>
            <a:off x="5360361" y="4389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chemaNo3Text"/>
          <p:cNvSpPr txBox="1"/>
          <p:nvPr/>
        </p:nvSpPr>
        <p:spPr>
          <a:xfrm>
            <a:off x="5360361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3</a:t>
            </a:r>
            <a:endParaRPr lang="ja-JP" altLang="en-US" sz="1600" dirty="0"/>
          </a:p>
        </p:txBody>
      </p:sp>
      <p:sp>
        <p:nvSpPr>
          <p:cNvPr id="13" name="schemaText3"/>
          <p:cNvSpPr txBox="1"/>
          <p:nvPr/>
        </p:nvSpPr>
        <p:spPr>
          <a:xfrm>
            <a:off x="6000441" y="4434840"/>
            <a:ext cx="56426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値の型のチェック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存在しない日付、整数の列の小数、VARCHAR(n) より長い文字列などを、DbJigu が値を変換するときと同じ規則で警告します。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7</a:t>
            </a:fld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テキストとしても読みやすく</a:t>
            </a:r>
            <a:endParaRPr lang="ja-JP" altLang="en-US" sz="3000" dirty="0"/>
          </a:p>
        </p:txBody>
      </p:sp>
      <p:sp>
        <p:nvSpPr>
          <p:cNvPr id="3" name="textShotFrame"/>
          <p:cNvSpPr/>
          <p:nvPr/>
        </p:nvSpPr>
        <p:spPr>
          <a:xfrm>
            <a:off x="530352" y="1307592"/>
            <a:ext cx="6803136" cy="3842766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4" name="textShot" descr="text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806190"/>
          </a:xfrm>
          <a:prstGeom prst="rect">
            <a:avLst/>
          </a:prstGeom>
        </p:spPr>
      </p:pic>
      <p:sp>
        <p:nvSpPr>
          <p:cNvPr id="5" name="alignText"/>
          <p:cNvSpPr txBox="1"/>
          <p:nvPr/>
        </p:nvSpPr>
        <p:spPr>
          <a:xfrm>
            <a:off x="7726680" y="1371600"/>
            <a:ext cx="3916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桁揃え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保存するときに 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の位置を縦に揃えます。差分も読みやすくなります。</a:t>
            </a:r>
            <a:endParaRPr lang="ja-JP" altLang="en-US" sz="1600" dirty="0"/>
          </a:p>
        </p:txBody>
      </p:sp>
      <p:sp>
        <p:nvSpPr>
          <p:cNvPr id="6" name="rainbowText"/>
          <p:cNvSpPr txBox="1"/>
          <p:nvPr/>
        </p:nvSpPr>
        <p:spPr>
          <a:xfrm>
            <a:off x="7726680" y="2926080"/>
            <a:ext cx="3916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列の色分け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テキスト表示では、列ごとに文字の色を変えます。桁を揃えていない行でも、値がどの列のものか分かります。</a:t>
            </a:r>
            <a:endParaRPr lang="ja-JP" altLang="en-US" sz="1600" dirty="0"/>
          </a:p>
        </p:txBody>
      </p:sp>
      <p:sp>
        <p:nvSpPr>
          <p:cNvPr id="7" name="patternText"/>
          <p:cNvSpPr txBox="1"/>
          <p:nvPr/>
        </p:nvSpPr>
        <p:spPr>
          <a:xfrm>
            <a:off x="7726680" y="4480560"/>
            <a:ext cx="3916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直接編集もできる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テキスト表示でも編集できます。表に戻ると、内容を読み込み直します。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8</a:t>
            </a:fld>
            <a:endParaRPr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テーブルが多いファイルでも</a:t>
            </a:r>
            <a:endParaRPr lang="ja-JP" altLang="en-US" sz="3000" dirty="0"/>
          </a:p>
        </p:txBody>
      </p:sp>
      <p:sp>
        <p:nvSpPr>
          <p:cNvPr id="3" name="tablesShotFrame"/>
          <p:cNvSpPr/>
          <p:nvPr/>
        </p:nvSpPr>
        <p:spPr>
          <a:xfrm>
            <a:off x="530352" y="1444752"/>
            <a:ext cx="4242816" cy="2458351"/>
          </a:xfrm>
          <a:prstGeom prst="rect">
            <a:avLst/>
          </a:prstGeom>
          <a:solidFill>
            <a:schemeClr val="bg1"/>
          </a:solidFill>
          <a:ln w="9525">
            <a:solidFill>
              <a:srgbClr val="8C9BA3"/>
            </a:solidFill>
            <a:prstDash val="solid"/>
          </a:ln>
        </p:spPr>
      </p:sp>
      <p:pic>
        <p:nvPicPr>
          <p:cNvPr id="4" name="tablesShot" descr="tables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06240" cy="2421775"/>
          </a:xfrm>
          <a:prstGeom prst="rect">
            <a:avLst/>
          </a:prstGeom>
        </p:spPr>
      </p:pic>
      <p:sp>
        <p:nvSpPr>
          <p:cNvPr id="5" name="tablesText"/>
          <p:cNvSpPr txBox="1"/>
          <p:nvPr/>
        </p:nvSpPr>
        <p:spPr>
          <a:xfrm>
            <a:off x="5394960" y="1463040"/>
            <a:ext cx="62480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テーブルの一覧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「テーブル」タブに、ファイル内のテーブルが投入する順（書いた順）に並びます。行数と、エラー・警告の数も分かります。</a:t>
            </a:r>
            <a:endParaRPr lang="ja-JP" altLang="en-US" sz="1800" dirty="0"/>
          </a:p>
        </p:txBody>
      </p:sp>
      <p:sp>
        <p:nvSpPr>
          <p:cNvPr id="6" name="jumpText"/>
          <p:cNvSpPr txBox="1"/>
          <p:nvPr/>
        </p:nvSpPr>
        <p:spPr>
          <a:xfrm>
            <a:off x="5394960" y="3291840"/>
            <a:ext cx="6248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クリックで移動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表ではそのテーブルへ、テキスト表示ではその [テーブル名] の行へ移動します。</a:t>
            </a:r>
            <a:endParaRPr lang="ja-JP" altLang="en-US" sz="1800" dirty="0"/>
          </a:p>
        </p:txBody>
      </p:sp>
      <p:sp>
        <p:nvSpPr>
          <p:cNvPr id="7" name="orderBox"/>
          <p:cNvSpPr/>
          <p:nvPr/>
        </p:nvSpPr>
        <p:spPr>
          <a:xfrm>
            <a:off x="548640" y="4754880"/>
            <a:ext cx="11094415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8" name="orderText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投入の順序：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DbJigu はテーブルを書いた順に投入するので、一覧の順がそのまま投入の順です。外部キーの親が後ろにあると警告します。</a:t>
            </a:r>
            <a:endParaRPr lang="ja-JP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9</a:t>
            </a:fld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できないこと</a:t>
            </a:r>
            <a:endParaRPr lang="ja-JP" altLang="en-US" sz="3000" dirty="0"/>
          </a:p>
        </p:txBody>
      </p:sp>
      <p:sp>
        <p:nvSpPr>
          <p:cNvPr id="3" name="limit1"/>
          <p:cNvSpPr/>
          <p:nvPr/>
        </p:nvSpPr>
        <p:spPr>
          <a:xfrm>
            <a:off x="548640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limitMark1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limitMark1Text"/>
          <p:cNvSpPr txBox="1"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6" name="limitText1"/>
          <p:cNvSpPr txBox="1"/>
          <p:nvPr/>
        </p:nvSpPr>
        <p:spPr>
          <a:xfrm>
            <a:off x="1600200" y="1719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DB に接続しない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DDL を登録していなければ、テーブル名や列名が正しいかは確かめられません。</a:t>
            </a:r>
            <a:endParaRPr lang="ja-JP" altLang="en-US" sz="1800" dirty="0"/>
          </a:p>
        </p:txBody>
      </p:sp>
      <p:sp>
        <p:nvSpPr>
          <p:cNvPr id="7" name="limit2"/>
          <p:cNvSpPr/>
          <p:nvPr/>
        </p:nvSpPr>
        <p:spPr>
          <a:xfrm>
            <a:off x="6278728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limitMark2"/>
          <p:cNvSpPr/>
          <p:nvPr/>
        </p:nvSpPr>
        <p:spPr>
          <a:xfrm>
            <a:off x="6598768" y="1691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limitMark2Text"/>
          <p:cNvSpPr txBox="1"/>
          <p:nvPr/>
        </p:nvSpPr>
        <p:spPr>
          <a:xfrm>
            <a:off x="65987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10" name="limitText2"/>
          <p:cNvSpPr txBox="1"/>
          <p:nvPr/>
        </p:nvSpPr>
        <p:spPr>
          <a:xfrm>
            <a:off x="7330288" y="1719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型は DDL の型名から判断する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DB の実際の型ではないので、TEXT や UUID などは確かめません。最後はテストを実行して確かめてください。</a:t>
            </a:r>
            <a:endParaRPr lang="ja-JP" altLang="en-US" sz="1800" dirty="0"/>
          </a:p>
        </p:txBody>
      </p:sp>
      <p:sp>
        <p:nvSpPr>
          <p:cNvPr id="11" name="limit3"/>
          <p:cNvSpPr/>
          <p:nvPr/>
        </p:nvSpPr>
        <p:spPr>
          <a:xfrm>
            <a:off x="548640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2" name="limitMark3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limitMark3Text"/>
          <p:cNvSpPr txBox="1"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14" name="limitText3"/>
          <p:cNvSpPr txBox="1"/>
          <p:nvPr/>
        </p:nvSpPr>
        <p:spPr>
          <a:xfrm>
            <a:off x="1600200" y="4005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DbJigu が読めない値は書けない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を含む値や、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で始まる値は、エラーとして示します。</a:t>
            </a:r>
            <a:endParaRPr lang="ja-JP" altLang="en-US" sz="1800" dirty="0"/>
          </a:p>
        </p:txBody>
      </p:sp>
      <p:sp>
        <p:nvSpPr>
          <p:cNvPr id="15" name="limit4"/>
          <p:cNvSpPr/>
          <p:nvPr/>
        </p:nvSpPr>
        <p:spPr>
          <a:xfrm>
            <a:off x="6278728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limitMark4"/>
          <p:cNvSpPr/>
          <p:nvPr/>
        </p:nvSpPr>
        <p:spPr>
          <a:xfrm>
            <a:off x="6598768" y="3977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limitMark4Text"/>
          <p:cNvSpPr txBox="1"/>
          <p:nvPr/>
        </p:nvSpPr>
        <p:spPr>
          <a:xfrm>
            <a:off x="659876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18" name="limitText4"/>
          <p:cNvSpPr txBox="1"/>
          <p:nvPr/>
        </p:nvSpPr>
        <p:spPr>
          <a:xfrm>
            <a:off x="7330288" y="4005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DB から期待値を作らない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いまの DB の内容を期待値にすると、テストが失敗しなくなるので、この機能は持たせていません。</a:t>
            </a:r>
            <a:endParaRPr lang="ja-JP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</a:t>
            </a:fld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4800" b="1" dirty="0">
                <a:solidFill>
                  <a:schemeClr val="bg1"/>
                </a:solidFill>
              </a:rPr>
              <a:t>使ってみる</a:t>
            </a:r>
            <a:endParaRPr lang="ja-JP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chemeClr val="accent1"/>
                </a:solidFill>
              </a:rPr>
              <a:t>ファイルを開いて、リポジトリのフィクスチャを読み込んでみてください</a:t>
            </a:r>
            <a:endParaRPr lang="ja-JP" altLang="en-US" sz="2200" dirty="0"/>
          </a:p>
        </p:txBody>
      </p:sp>
      <p:sp>
        <p:nvSpPr>
          <p:cNvPr id="4" name="ref1"/>
          <p:cNvSpPr/>
          <p:nvPr/>
        </p:nvSpPr>
        <p:spPr>
          <a:xfrm>
            <a:off x="548640" y="4572000"/>
            <a:ext cx="345429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5" name="refText1"/>
          <p:cNvSpPr txBox="1"/>
          <p:nvPr/>
        </p:nvSpPr>
        <p:spPr>
          <a:xfrm>
            <a:off x="822960" y="45720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フィクスチャエディタ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tools/fixture-editor.html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bg2"/>
                </a:solidFill>
              </a:rPr>
              <a:t>ダウンロードしてブラウザで開く</a:t>
            </a:r>
            <a:endParaRPr lang="ja-JP" altLang="en-US" sz="1600" dirty="0"/>
          </a:p>
        </p:txBody>
      </p:sp>
      <p:sp>
        <p:nvSpPr>
          <p:cNvPr id="6" name="ref2"/>
          <p:cNvSpPr/>
          <p:nvPr/>
        </p:nvSpPr>
        <p:spPr>
          <a:xfrm>
            <a:off x="4368698" y="4572000"/>
            <a:ext cx="345429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7" name="refText2"/>
          <p:cNvSpPr txBox="1"/>
          <p:nvPr/>
        </p:nvSpPr>
        <p:spPr>
          <a:xfrm>
            <a:off x="4643018" y="45720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README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README.ja.md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bg2"/>
                </a:solidFill>
              </a:rPr>
              <a:t>「フィクスチャエディタ」の節</a:t>
            </a:r>
            <a:endParaRPr lang="ja-JP" altLang="en-US" sz="1600" dirty="0"/>
          </a:p>
        </p:txBody>
      </p:sp>
      <p:sp>
        <p:nvSpPr>
          <p:cNvPr id="8" name="ref3"/>
          <p:cNvSpPr/>
          <p:nvPr/>
        </p:nvSpPr>
        <p:spPr>
          <a:xfrm>
            <a:off x="8188757" y="4572000"/>
            <a:ext cx="345429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9" name="refText3"/>
          <p:cNvSpPr txBox="1"/>
          <p:nvPr/>
        </p:nvSpPr>
        <p:spPr>
          <a:xfrm>
            <a:off x="8463077" y="45720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試せるファイル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data/order/  schema/order.sql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bg2"/>
                </a:solidFill>
              </a:rPr>
              <a:t>この資料の画面で使ったもの</a:t>
            </a:r>
            <a:endParaRPr lang="ja-JP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Jigu">
  <a:themeElements>
    <a:clrScheme name="DbJigu">
      <a:dk1>
        <a:srgbClr val="1D262B"/>
      </a:dk1>
      <a:lt1>
        <a:srgbClr val="FFFFFF"/>
      </a:lt1>
      <a:dk2>
        <a:srgbClr val="33505C"/>
      </a:dk2>
      <a:lt2>
        <a:srgbClr val="EEF2F3"/>
      </a:lt2>
      <a:accent1>
        <a:srgbClr val="E39B2D"/>
      </a:accent1>
      <a:accent2>
        <a:srgbClr val="2E8B6E"/>
      </a:accent2>
      <a:accent3>
        <a:srgbClr val="E8776C"/>
      </a:accent3>
      <a:accent4>
        <a:srgbClr val="7EC4E0"/>
      </a:accent4>
      <a:accent5>
        <a:srgbClr val="8C9BA3"/>
      </a:accent5>
      <a:accent6>
        <a:srgbClr val="A6D785"/>
      </a:accent6>
      <a:hlink>
        <a:srgbClr val="2F6F9F"/>
      </a:hlink>
      <a:folHlink>
        <a:srgbClr val="6B5B95"/>
      </a:folHlink>
    </a:clrScheme>
    <a:fontScheme name="DbJigu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DbJigu フィクスチャエディタの紹介</dc:title>
  <dc:subject>PptxGenJS Presentation</dc:subject>
  <dc:creator>raindrop-aqua</dc:creator>
  <cp:lastModifiedBy>raindrop-aqua</cp:lastModifiedBy>
  <cp:revision>1</cp:revision>
  <dcterms:created xsi:type="dcterms:W3CDTF">2026-10-21T13:53:06Z</dcterms:created>
  <dcterms:modified xsi:type="dcterms:W3CDTF">2026-10-21T13:53:06Z</dcterms:modified>
</cp:coreProperties>
</file>