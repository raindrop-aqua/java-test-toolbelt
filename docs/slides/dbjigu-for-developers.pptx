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 altLang="en-US"/>
              <a:t>7/23/19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Click to edit Master text styles</a:t>
            </a:r>
          </a:p>
          <a:p>
            <a:pPr lvl="1"/>
            <a:r>
              <a:rPr lang="ja-JP" altLang="en-US"/>
              <a:t>Second level</a:t>
            </a:r>
          </a:p>
          <a:p>
            <a:pPr lvl="2"/>
            <a:r>
              <a:rPr lang="ja-JP" altLang="en-US"/>
              <a:t>Third level</a:t>
            </a:r>
          </a:p>
          <a:p>
            <a:pPr lvl="3"/>
            <a:r>
              <a:rPr lang="ja-JP" altLang="en-US"/>
              <a:t>Fourth level</a:t>
            </a:r>
          </a:p>
          <a:p>
            <a:pPr lvl="4"/>
            <a:r>
              <a:rPr lang="ja-JP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 altLang="en-US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DbJigu は、DB を使うテストで、前提データの投入と実行後の状態の確認を、プレーンテキストのファイルで行うためのテスト用ヘルパーです。この資料では、何に使えて、どう書くのかを短く紹介します。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DB を使うテストでは、データの準備と結果の確認のコードがテストの大半を占めがちです。DbJigu は、この2つをテキストファイルに追い出します。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配布は JAR ではなく、ソースファイル1つのコピーです。Spring などのライブラリには依存しません。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テストは Given-When-Then の3段で書きます。DbJigu が受け持つのは Given の投入と Then の検証です。下の3つは、そのうえでよく使う書き方です。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必要なのは Java 17 以上と JDBC ドライバだけです。ファイルの先頭のコメントにある MIT ライセンスの表記は、消さずに残してください。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P002 を30個入荷すると、在庫が50から80になることを確かめます。P001 が100のまま変わっていないことも、同じファイルで確かめています。コードとフィクスチャは、リポジトリの OrderServiceTest と data/order/restock から引用しています。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書式はこれだけです。列の型は DB から読み取るので、日付や数値もそのまま書けます。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1つのファイルに複数のテーブルを書けます。place/not_exists.txt には、A001 以外の受注と、3行目以降の明細を書いていて、それが無いことを assertNotExists で確かめます。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同じ列を2回書けるので、ordered_at&gt;= と ordered_at&lt; を並べると範囲を指定できます。記号は1つの列に1つだけです。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会員ランクだけが違う3つのケースを1つのファイルに書き、テストの引数で切り替えます。数値（1, 2, 3）でも書けます。名前の大文字と小文字は区別しません。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この例では、在庫を98と期待していましたが、DB では99でした。stock を除くと一致する行がある、と表示されるので、在庫の値だけが違ったことが分かります。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@Transactional なテストでは、テストの終わりにロールバックされるので、DbJigu で投入したデータも残りません。ただし、テスト対象が REQUIRES_NEW や別スレッドでDBを更新する場合は、テストのトランザクションの外になるので注意してください。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assertExists は1行ずつ SELECT して、一致する行があるかを確かめる仕組みです。そのため、ファイルに書いていない行が DB にあっても失敗しません。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詳しい書き方はテスト実装ガイドにまとまっています。フィクスチャエディタはブラウザで開くだけで使えます。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ja-JP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ja-JP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ja-JP" alt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5"/>
                </a:solidFill>
              </a:rPr>
              <a:t>DbJigu 開発者向け紹介</a:t>
            </a:r>
            <a:endParaRPr lang="ja-JP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1003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null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4800" b="1" dirty="0">
                <a:solidFill>
                  <a:schemeClr val="bg1"/>
                </a:solidFill>
              </a:rPr>
              <a:t>DbJigu（DB治具）</a:t>
            </a:r>
            <a:endParaRPr lang="ja-JP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chemeClr val="accent1"/>
                </a:solidFill>
              </a:rPr>
              <a:t>DB を使うテストの準備と確認を、テキストのフィクスチャで書く</a:t>
            </a:r>
            <a:endParaRPr lang="ja-JP" altLang="en-US" sz="2200" dirty="0"/>
          </a:p>
        </p:txBody>
      </p:sp>
      <p:sp>
        <p:nvSpPr>
          <p:cNvPr id="4" name="edition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5"/>
                </a:solidFill>
              </a:rPr>
              <a:t>開発者向け紹介　|　v2.4.0</a:t>
            </a:r>
            <a:endParaRPr lang="ja-JP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DB を使うテストの、よくある手間</a:t>
            </a:r>
            <a:endParaRPr lang="ja-JP" altLang="en-US" sz="3000" dirty="0"/>
          </a:p>
        </p:txBody>
      </p:sp>
      <p:sp>
        <p:nvSpPr>
          <p:cNvPr id="3" name="pain1"/>
          <p:cNvSpPr/>
          <p:nvPr/>
        </p:nvSpPr>
        <p:spPr>
          <a:xfrm>
            <a:off x="548640" y="1463040"/>
            <a:ext cx="3454298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painNo1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ainNo1Text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1</a:t>
            </a:r>
            <a:endParaRPr lang="ja-JP" altLang="en-US" sz="1800" dirty="0"/>
          </a:p>
        </p:txBody>
      </p:sp>
      <p:sp>
        <p:nvSpPr>
          <p:cNvPr id="6" name="painText1"/>
          <p:cNvSpPr txBox="1"/>
          <p:nvPr/>
        </p:nvSpPr>
        <p:spPr>
          <a:xfrm>
            <a:off x="868680" y="25146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前提データの準備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INSERT 文や、エンティティを組み立てるコードが、テストの大部分を占めてしまう</a:t>
            </a:r>
            <a:endParaRPr lang="ja-JP" altLang="en-US" sz="1800" dirty="0"/>
          </a:p>
        </p:txBody>
      </p:sp>
      <p:sp>
        <p:nvSpPr>
          <p:cNvPr id="7" name="pain2"/>
          <p:cNvSpPr/>
          <p:nvPr/>
        </p:nvSpPr>
        <p:spPr>
          <a:xfrm>
            <a:off x="4368698" y="1463040"/>
            <a:ext cx="3454298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painNo2"/>
          <p:cNvSpPr/>
          <p:nvPr/>
        </p:nvSpPr>
        <p:spPr>
          <a:xfrm>
            <a:off x="4688738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ainNo2Text"/>
          <p:cNvSpPr txBox="1"/>
          <p:nvPr/>
        </p:nvSpPr>
        <p:spPr>
          <a:xfrm>
            <a:off x="468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2</a:t>
            </a:r>
            <a:endParaRPr lang="ja-JP" altLang="en-US" sz="1800" dirty="0"/>
          </a:p>
        </p:txBody>
      </p:sp>
      <p:sp>
        <p:nvSpPr>
          <p:cNvPr id="10" name="painText2"/>
          <p:cNvSpPr txBox="1"/>
          <p:nvPr/>
        </p:nvSpPr>
        <p:spPr>
          <a:xfrm>
            <a:off x="4688738" y="25146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実行後の状態の確認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SELECT して1列ずつ assert するコードが長くなり、何を確かめたいのかが読み取りにくい</a:t>
            </a:r>
            <a:endParaRPr lang="ja-JP" altLang="en-US" sz="1800" dirty="0"/>
          </a:p>
        </p:txBody>
      </p:sp>
      <p:sp>
        <p:nvSpPr>
          <p:cNvPr id="11" name="pain3"/>
          <p:cNvSpPr/>
          <p:nvPr/>
        </p:nvSpPr>
        <p:spPr>
          <a:xfrm>
            <a:off x="8188757" y="1463040"/>
            <a:ext cx="3454298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painNo3"/>
          <p:cNvSpPr/>
          <p:nvPr/>
        </p:nvSpPr>
        <p:spPr>
          <a:xfrm>
            <a:off x="8508797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ainNo3Text"/>
          <p:cNvSpPr txBox="1"/>
          <p:nvPr/>
        </p:nvSpPr>
        <p:spPr>
          <a:xfrm>
            <a:off x="850879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3</a:t>
            </a:r>
            <a:endParaRPr lang="ja-JP" altLang="en-US" sz="1800" dirty="0"/>
          </a:p>
        </p:txBody>
      </p:sp>
      <p:sp>
        <p:nvSpPr>
          <p:cNvPr id="14" name="painText3"/>
          <p:cNvSpPr txBox="1"/>
          <p:nvPr/>
        </p:nvSpPr>
        <p:spPr>
          <a:xfrm>
            <a:off x="8508797" y="25146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少しずつ違うケース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会員ランクだけが違う、などのケースごとに、データを丸ごと書き直すことになる</a:t>
            </a:r>
            <a:endParaRPr lang="ja-JP" altLang="en-US" sz="1800" dirty="0"/>
          </a:p>
        </p:txBody>
      </p:sp>
      <p:sp>
        <p:nvSpPr>
          <p:cNvPr id="15" name="answerBox"/>
          <p:cNvSpPr/>
          <p:nvPr/>
        </p:nvSpPr>
        <p:spPr>
          <a:xfrm>
            <a:off x="548640" y="4617720"/>
            <a:ext cx="11094415" cy="1234440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/>
        </p:spPr>
      </p:sp>
      <p:sp>
        <p:nvSpPr>
          <p:cNvPr id="16" name="answer"/>
          <p:cNvSpPr txBox="1"/>
          <p:nvPr/>
        </p:nvSpPr>
        <p:spPr>
          <a:xfrm>
            <a:off x="914400" y="461772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1"/>
                </a:solidFill>
              </a:rPr>
              <a:t>DbJigu では</a:t>
            </a:r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</a:rPr>
              <a:t>、投入するデータと期待する状態をテキストに書き、1行で投入・検証します。</a:t>
            </a:r>
            <a:endParaRPr lang="ja-JP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2</a:t>
            </a:fld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DbJigu の特徴</a:t>
            </a:r>
            <a:endParaRPr lang="ja-JP" altLang="en-US" sz="3000" dirty="0"/>
          </a:p>
        </p:txBody>
      </p:sp>
      <p:sp>
        <p:nvSpPr>
          <p:cNvPr id="3" name="feature1"/>
          <p:cNvSpPr/>
          <p:nvPr/>
        </p:nvSpPr>
        <p:spPr>
          <a:xfrm>
            <a:off x="548640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featureNo1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featureNo1Text"/>
          <p:cNvSpPr txBox="1"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1</a:t>
            </a:r>
            <a:endParaRPr lang="ja-JP" altLang="en-US" sz="1800" dirty="0"/>
          </a:p>
        </p:txBody>
      </p:sp>
      <p:sp>
        <p:nvSpPr>
          <p:cNvPr id="6" name="featureText1"/>
          <p:cNvSpPr txBox="1"/>
          <p:nvPr/>
        </p:nvSpPr>
        <p:spPr>
          <a:xfrm>
            <a:off x="1600200" y="1719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1ファイルをコピーするだけ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DbJigu.java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の1ファイルだけ。依存するのは JDK と JDBC だけで、Java 17 以上で動きます。JAR は増えません。</a:t>
            </a:r>
            <a:endParaRPr lang="ja-JP" altLang="en-US" sz="1800" dirty="0"/>
          </a:p>
        </p:txBody>
      </p:sp>
      <p:sp>
        <p:nvSpPr>
          <p:cNvPr id="7" name="feature2"/>
          <p:cNvSpPr/>
          <p:nvPr/>
        </p:nvSpPr>
        <p:spPr>
          <a:xfrm>
            <a:off x="6278728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featureNo2"/>
          <p:cNvSpPr/>
          <p:nvPr/>
        </p:nvSpPr>
        <p:spPr>
          <a:xfrm>
            <a:off x="659876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featureNo2Text"/>
          <p:cNvSpPr txBox="1"/>
          <p:nvPr/>
        </p:nvSpPr>
        <p:spPr>
          <a:xfrm>
            <a:off x="65987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2</a:t>
            </a:r>
            <a:endParaRPr lang="ja-JP" altLang="en-US" sz="1800" dirty="0"/>
          </a:p>
        </p:txBody>
      </p:sp>
      <p:sp>
        <p:nvSpPr>
          <p:cNvPr id="10" name="featureText2"/>
          <p:cNvSpPr txBox="1"/>
          <p:nvPr/>
        </p:nvSpPr>
        <p:spPr>
          <a:xfrm>
            <a:off x="7330288" y="1719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プレーンテキストのフィクスチャ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UTF-8 で 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区切り。ファイルの差分で、テストデータの変更をレビューできます。</a:t>
            </a:r>
            <a:endParaRPr lang="ja-JP" altLang="en-US" sz="1800" dirty="0"/>
          </a:p>
        </p:txBody>
      </p:sp>
      <p:sp>
        <p:nvSpPr>
          <p:cNvPr id="11" name="feature3"/>
          <p:cNvSpPr/>
          <p:nvPr/>
        </p:nvSpPr>
        <p:spPr>
          <a:xfrm>
            <a:off x="548640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2" name="featureNo3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featureNo3Text"/>
          <p:cNvSpPr txBox="1"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3</a:t>
            </a:r>
            <a:endParaRPr lang="ja-JP" altLang="en-US" sz="1800" dirty="0"/>
          </a:p>
        </p:txBody>
      </p:sp>
      <p:sp>
        <p:nvSpPr>
          <p:cNvPr id="14" name="featureText3"/>
          <p:cNvSpPr txBox="1"/>
          <p:nvPr/>
        </p:nvSpPr>
        <p:spPr>
          <a:xfrm>
            <a:off x="1600200" y="4005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テストのトランザクションで使える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渡された 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Connection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をコミット・ロールバック・クローズしません。テストの終わりにロールバックすれば、DB に何も残りません。</a:t>
            </a:r>
            <a:endParaRPr lang="ja-JP" altLang="en-US" sz="1800" dirty="0"/>
          </a:p>
        </p:txBody>
      </p:sp>
      <p:sp>
        <p:nvSpPr>
          <p:cNvPr id="15" name="feature4"/>
          <p:cNvSpPr/>
          <p:nvPr/>
        </p:nvSpPr>
        <p:spPr>
          <a:xfrm>
            <a:off x="6278728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featureNo4"/>
          <p:cNvSpPr/>
          <p:nvPr/>
        </p:nvSpPr>
        <p:spPr>
          <a:xfrm>
            <a:off x="6598768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featureNo4Text"/>
          <p:cNvSpPr txBox="1"/>
          <p:nvPr/>
        </p:nvSpPr>
        <p:spPr>
          <a:xfrm>
            <a:off x="659876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4</a:t>
            </a:r>
            <a:endParaRPr lang="ja-JP" altLang="en-US" sz="1800" dirty="0"/>
          </a:p>
        </p:txBody>
      </p:sp>
      <p:sp>
        <p:nvSpPr>
          <p:cNvPr id="18" name="featureText4"/>
          <p:cNvSpPr txBox="1"/>
          <p:nvPr/>
        </p:nvSpPr>
        <p:spPr>
          <a:xfrm>
            <a:off x="7330288" y="4005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間違いを見過ごさない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ファイルの書き間違いは例外になります。検証に失敗した行には、どの列が違ったかの手がかりを表示します。</a:t>
            </a:r>
            <a:endParaRPr lang="ja-JP" altLang="en-US" sz="1800" dirty="0"/>
          </a:p>
        </p:txBody>
      </p:sp>
      <p:sp>
        <p:nvSpPr>
          <p:cNvPr id="19" name="dbNote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主な対象は PostgreSQL。DB に依存する SQL を使わないので、Oracle でも使われています。</a:t>
            </a:r>
            <a:endParaRPr lang="ja-JP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どんなテストで役立つか</a:t>
            </a:r>
            <a:endParaRPr lang="ja-JP" altLang="en-US" sz="3000" dirty="0"/>
          </a:p>
        </p:txBody>
      </p:sp>
      <p:sp>
        <p:nvSpPr>
          <p:cNvPr id="3" name="step1"/>
          <p:cNvSpPr/>
          <p:nvPr/>
        </p:nvSpPr>
        <p:spPr>
          <a:xfrm>
            <a:off x="548640" y="1417320"/>
            <a:ext cx="3259226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4" name="stepLabel1"/>
          <p:cNvSpPr txBox="1"/>
          <p:nvPr/>
        </p:nvSpPr>
        <p:spPr>
          <a:xfrm>
            <a:off x="822960" y="1645920"/>
            <a:ext cx="2710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1"/>
                </a:solidFill>
              </a:rPr>
              <a:t>Given</a:t>
            </a:r>
            <a:endParaRPr lang="ja-JP" altLang="en-US" sz="2800" dirty="0"/>
          </a:p>
        </p:txBody>
      </p:sp>
      <p:sp>
        <p:nvSpPr>
          <p:cNvPr id="5" name="stepDesc1"/>
          <p:cNvSpPr txBox="1"/>
          <p:nvPr/>
        </p:nvSpPr>
        <p:spPr>
          <a:xfrm>
            <a:off x="822960" y="2240280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前提となるデータを投入する</a:t>
            </a:r>
            <a:endParaRPr lang="ja-JP" altLang="en-US" sz="1600" dirty="0"/>
          </a:p>
        </p:txBody>
      </p:sp>
      <p:sp>
        <p:nvSpPr>
          <p:cNvPr id="6" name="stepCall1"/>
          <p:cNvSpPr txBox="1"/>
          <p:nvPr/>
        </p:nvSpPr>
        <p:spPr>
          <a:xfrm>
            <a:off x="822960" y="2788920"/>
            <a:ext cx="2710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jigu.importFrom(file)</a:t>
            </a:r>
            <a:endParaRPr lang="ja-JP" altLang="en-US" sz="1300" dirty="0"/>
          </a:p>
        </p:txBody>
      </p:sp>
      <p:sp>
        <p:nvSpPr>
          <p:cNvPr id="7" name="stepNote1"/>
          <p:cNvSpPr txBox="1"/>
          <p:nvPr/>
        </p:nvSpPr>
        <p:spPr>
          <a:xfrm>
            <a:off x="822960" y="3611880"/>
            <a:ext cx="27105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テーブルはファイルに書いた順に投入</a:t>
            </a:r>
            <a:endParaRPr lang="ja-JP" altLang="en-US" sz="1200" dirty="0"/>
          </a:p>
        </p:txBody>
      </p:sp>
      <p:sp>
        <p:nvSpPr>
          <p:cNvPr id="8" name="arrow1"/>
          <p:cNvSpPr/>
          <p:nvPr/>
        </p:nvSpPr>
        <p:spPr>
          <a:xfrm>
            <a:off x="3990746" y="2606040"/>
            <a:ext cx="292608" cy="4114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9" name="step2"/>
          <p:cNvSpPr/>
          <p:nvPr/>
        </p:nvSpPr>
        <p:spPr>
          <a:xfrm>
            <a:off x="4466234" y="1417320"/>
            <a:ext cx="3259226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10" name="stepLabel2"/>
          <p:cNvSpPr txBox="1"/>
          <p:nvPr/>
        </p:nvSpPr>
        <p:spPr>
          <a:xfrm>
            <a:off x="4740554" y="1645920"/>
            <a:ext cx="2710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5"/>
                </a:solidFill>
              </a:rPr>
              <a:t>When</a:t>
            </a:r>
            <a:endParaRPr lang="ja-JP" altLang="en-US" sz="2800" dirty="0"/>
          </a:p>
        </p:txBody>
      </p:sp>
      <p:sp>
        <p:nvSpPr>
          <p:cNvPr id="11" name="stepDesc2"/>
          <p:cNvSpPr txBox="1"/>
          <p:nvPr/>
        </p:nvSpPr>
        <p:spPr>
          <a:xfrm>
            <a:off x="4740554" y="2240280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テスト対象を実行する</a:t>
            </a:r>
            <a:endParaRPr lang="ja-JP" altLang="en-US" sz="1600" dirty="0"/>
          </a:p>
        </p:txBody>
      </p:sp>
      <p:sp>
        <p:nvSpPr>
          <p:cNvPr id="12" name="stepCall2"/>
          <p:cNvSpPr txBox="1"/>
          <p:nvPr/>
        </p:nvSpPr>
        <p:spPr>
          <a:xfrm>
            <a:off x="4740554" y="2788920"/>
            <a:ext cx="2710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service.placeOrder(...)</a:t>
            </a:r>
            <a:endParaRPr lang="ja-JP" altLang="en-US" sz="1300" dirty="0"/>
          </a:p>
        </p:txBody>
      </p:sp>
      <p:sp>
        <p:nvSpPr>
          <p:cNvPr id="13" name="stepNote2"/>
          <p:cNvSpPr txBox="1"/>
          <p:nvPr/>
        </p:nvSpPr>
        <p:spPr>
          <a:xfrm>
            <a:off x="4740554" y="3611880"/>
            <a:ext cx="27105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DbJigu は関わらない</a:t>
            </a:r>
            <a:endParaRPr lang="ja-JP" altLang="en-US" sz="1200" dirty="0"/>
          </a:p>
        </p:txBody>
      </p:sp>
      <p:sp>
        <p:nvSpPr>
          <p:cNvPr id="14" name="arrow2"/>
          <p:cNvSpPr/>
          <p:nvPr/>
        </p:nvSpPr>
        <p:spPr>
          <a:xfrm>
            <a:off x="7908341" y="2606040"/>
            <a:ext cx="292608" cy="4114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5" name="step3"/>
          <p:cNvSpPr/>
          <p:nvPr/>
        </p:nvSpPr>
        <p:spPr>
          <a:xfrm>
            <a:off x="8383829" y="1417320"/>
            <a:ext cx="3259226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16" name="stepLabel3"/>
          <p:cNvSpPr txBox="1"/>
          <p:nvPr/>
        </p:nvSpPr>
        <p:spPr>
          <a:xfrm>
            <a:off x="8658149" y="1645920"/>
            <a:ext cx="2710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1"/>
                </a:solidFill>
              </a:rPr>
              <a:t>Then</a:t>
            </a:r>
            <a:endParaRPr lang="ja-JP" altLang="en-US" sz="2800" dirty="0"/>
          </a:p>
        </p:txBody>
      </p:sp>
      <p:sp>
        <p:nvSpPr>
          <p:cNvPr id="17" name="stepDesc3"/>
          <p:cNvSpPr txBox="1"/>
          <p:nvPr/>
        </p:nvSpPr>
        <p:spPr>
          <a:xfrm>
            <a:off x="8658149" y="2240280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DB の状態を検証する</a:t>
            </a:r>
            <a:endParaRPr lang="ja-JP" altLang="en-US" sz="1600" dirty="0"/>
          </a:p>
        </p:txBody>
      </p:sp>
      <p:sp>
        <p:nvSpPr>
          <p:cNvPr id="18" name="stepCall3"/>
          <p:cNvSpPr txBox="1"/>
          <p:nvPr/>
        </p:nvSpPr>
        <p:spPr>
          <a:xfrm>
            <a:off x="8658149" y="2788920"/>
            <a:ext cx="2710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jigu.assertExists(file)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jigu.assertNotExists(file)</a:t>
            </a:r>
            <a:endParaRPr lang="ja-JP" altLang="en-US" sz="1300" dirty="0"/>
          </a:p>
        </p:txBody>
      </p:sp>
      <p:sp>
        <p:nvSpPr>
          <p:cNvPr id="19" name="stepNote3"/>
          <p:cNvSpPr txBox="1"/>
          <p:nvPr/>
        </p:nvSpPr>
        <p:spPr>
          <a:xfrm>
            <a:off x="8658149" y="3611880"/>
            <a:ext cx="27105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2"/>
                </a:solidFill>
              </a:rPr>
              <a:t>あるべき行・あってはいけない行</a:t>
            </a:r>
            <a:endParaRPr lang="ja-JP" altLang="en-US" sz="1200" dirty="0"/>
          </a:p>
        </p:txBody>
      </p:sp>
      <p:sp>
        <p:nvSpPr>
          <p:cNvPr id="20" name="use1"/>
          <p:cNvSpPr txBox="1"/>
          <p:nvPr/>
        </p:nvSpPr>
        <p:spPr>
          <a:xfrm>
            <a:off x="548640" y="4526280"/>
            <a:ext cx="32592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パターン番号で切り替え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会員ランク別など、少しずつ違うケースのデータを1ファイルにまとめ、テストの引数で切り替える</a:t>
            </a:r>
            <a:endParaRPr lang="ja-JP" altLang="en-US" sz="1600" dirty="0"/>
          </a:p>
        </p:txBody>
      </p:sp>
      <p:sp>
        <p:nvSpPr>
          <p:cNvPr id="21" name="use2"/>
          <p:cNvSpPr txBox="1"/>
          <p:nvPr/>
        </p:nvSpPr>
        <p:spPr>
          <a:xfrm>
            <a:off x="4466234" y="4526280"/>
            <a:ext cx="32592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比較のしかたを変える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実行時刻の列は比較しない、更新日時が新しくなった、などを列名の記号で書く</a:t>
            </a:r>
            <a:endParaRPr lang="ja-JP" altLang="en-US" sz="1600" dirty="0"/>
          </a:p>
        </p:txBody>
      </p:sp>
      <p:sp>
        <p:nvSpPr>
          <p:cNvPr id="22" name="use3"/>
          <p:cNvSpPr txBox="1"/>
          <p:nvPr/>
        </p:nvSpPr>
        <p:spPr>
          <a:xfrm>
            <a:off x="8383829" y="4526280"/>
            <a:ext cx="32592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何も変わっていないこと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エラーになる操作のあとで、Given のファイルをそのまま検証に使う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4</a:t>
            </a:fld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導入は3ステップ</a:t>
            </a:r>
            <a:endParaRPr lang="ja-JP" altLang="en-US" sz="3000" dirty="0"/>
          </a:p>
        </p:txBody>
      </p:sp>
      <p:sp>
        <p:nvSpPr>
          <p:cNvPr id="3" name="installNo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installNo1Text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</a:rPr>
              <a:t>1</a:t>
            </a:r>
            <a:endParaRPr lang="ja-JP" altLang="en-US" sz="2800" dirty="0"/>
          </a:p>
        </p:txBody>
      </p:sp>
      <p:sp>
        <p:nvSpPr>
          <p:cNvPr id="5" name="install1"/>
          <p:cNvSpPr txBox="1"/>
          <p:nvPr/>
        </p:nvSpPr>
        <p:spPr>
          <a:xfrm>
            <a:off x="548640" y="2423160"/>
            <a:ext cx="32714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コピーする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DbJigu.java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を、テストソースにコピーします。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例：</a:t>
            </a:r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src/test/java/&lt;パッケージ&gt;/utils</a:t>
            </a:r>
            <a:endParaRPr lang="ja-JP" altLang="en-US" sz="1800" dirty="0"/>
          </a:p>
        </p:txBody>
      </p:sp>
      <p:sp>
        <p:nvSpPr>
          <p:cNvPr id="6" name="installNo2"/>
          <p:cNvSpPr/>
          <p:nvPr/>
        </p:nvSpPr>
        <p:spPr>
          <a:xfrm>
            <a:off x="4368698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installNo2Text"/>
          <p:cNvSpPr txBox="1"/>
          <p:nvPr/>
        </p:nvSpPr>
        <p:spPr>
          <a:xfrm>
            <a:off x="4368698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</a:rPr>
              <a:t>2</a:t>
            </a:r>
            <a:endParaRPr lang="ja-JP" altLang="en-US" sz="2800" dirty="0"/>
          </a:p>
        </p:txBody>
      </p:sp>
      <p:sp>
        <p:nvSpPr>
          <p:cNvPr id="8" name="install2"/>
          <p:cNvSpPr txBox="1"/>
          <p:nvPr/>
        </p:nvSpPr>
        <p:spPr>
          <a:xfrm>
            <a:off x="4368698" y="2423160"/>
            <a:ext cx="32714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package を書き換える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ファイル先頭の 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package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を、コピー先のパッケージに書き換えます。</a:t>
            </a:r>
            <a:endParaRPr lang="ja-JP" altLang="en-US" sz="1800" dirty="0"/>
          </a:p>
        </p:txBody>
      </p:sp>
      <p:sp>
        <p:nvSpPr>
          <p:cNvPr id="9" name="installNo3"/>
          <p:cNvSpPr/>
          <p:nvPr/>
        </p:nvSpPr>
        <p:spPr>
          <a:xfrm>
            <a:off x="8188757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installNo3Text"/>
          <p:cNvSpPr txBox="1"/>
          <p:nvPr/>
        </p:nvSpPr>
        <p:spPr>
          <a:xfrm>
            <a:off x="8188757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</a:rPr>
              <a:t>3</a:t>
            </a:r>
            <a:endParaRPr lang="ja-JP" altLang="en-US" sz="2800" dirty="0"/>
          </a:p>
        </p:txBody>
      </p:sp>
      <p:sp>
        <p:nvSpPr>
          <p:cNvPr id="11" name="install3"/>
          <p:cNvSpPr txBox="1"/>
          <p:nvPr/>
        </p:nvSpPr>
        <p:spPr>
          <a:xfrm>
            <a:off x="8188757" y="2423160"/>
            <a:ext cx="32714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JDBC ドライバを確かめる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使う DB の JDBC ドライバが、テストの依存関係に入っていることを確かめます。</a:t>
            </a:r>
            <a:endParaRPr lang="ja-JP" altLang="en-US" sz="1800" dirty="0"/>
          </a:p>
        </p:txBody>
      </p:sp>
      <p:sp>
        <p:nvSpPr>
          <p:cNvPr id="12" name="versionBox"/>
          <p:cNvSpPr/>
          <p:nvPr/>
        </p:nvSpPr>
        <p:spPr>
          <a:xfrm>
            <a:off x="548640" y="4343400"/>
            <a:ext cx="11094415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3" name="versionText"/>
          <p:cNvSpPr txBox="1"/>
          <p:nvPr/>
        </p:nvSpPr>
        <p:spPr>
          <a:xfrm>
            <a:off x="914400" y="4343400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JAR としては配布していません。</a:t>
            </a:r>
            <a:endParaRPr lang="ja-JP" altLang="en-US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クラスの Javadoc に書かれたバージョン（</a:t>
            </a:r>
            <a:pPr indent="0" marL="0">
              <a:buNone/>
            </a:pPr>
            <a:r>
              <a:rPr lang="ja-JP" altLang="en-US" sz="1500" dirty="0">
                <a:solidFill>
                  <a:srgbClr val="000000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v2.4.0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）で、どの版をコピーしたかが分かります。新しい版に上げるときも、ファイルを置き換えて package を書き換えます。</a:t>
            </a:r>
            <a:endParaRPr lang="ja-JP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5</a:t>
            </a:fld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最初の例：入荷すると在庫が増える</a:t>
            </a:r>
            <a:endParaRPr lang="ja-JP" altLang="en-US" sz="3000" dirty="0"/>
          </a:p>
        </p:txBody>
      </p:sp>
      <p:sp>
        <p:nvSpPr>
          <p:cNvPr id="3" name="tab1"/>
          <p:cNvSpPr/>
          <p:nvPr/>
        </p:nvSpPr>
        <p:spPr>
          <a:xfrm>
            <a:off x="548640" y="1325880"/>
            <a:ext cx="1997964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4" name="tabText1"/>
          <p:cNvSpPr txBox="1"/>
          <p:nvPr/>
        </p:nvSpPr>
        <p:spPr>
          <a:xfrm>
            <a:off x="685800" y="1325880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OrderServiceTest.java</a:t>
            </a:r>
            <a:endParaRPr lang="ja-JP" altLang="en-US" sz="1100" dirty="0"/>
          </a:p>
        </p:txBody>
      </p:sp>
      <p:sp>
        <p:nvSpPr>
          <p:cNvPr id="5" name="code1"/>
          <p:cNvSpPr/>
          <p:nvPr/>
        </p:nvSpPr>
        <p:spPr>
          <a:xfrm>
            <a:off x="548640" y="1636776"/>
            <a:ext cx="5943600" cy="2798064"/>
          </a:xfrm>
          <a:prstGeom prst="roundRect">
            <a:avLst>
              <a:gd name="adj" fmla="val 2614"/>
            </a:avLst>
          </a:prstGeom>
          <a:solidFill>
            <a:schemeClr val="tx1"/>
          </a:solidFill>
          <a:ln/>
        </p:spPr>
      </p:sp>
      <p:sp>
        <p:nvSpPr>
          <p:cNvPr id="6" name="codeText1"/>
          <p:cNvSpPr txBox="1"/>
          <p:nvPr/>
        </p:nvSpPr>
        <p:spPr>
          <a:xfrm>
            <a:off x="594360" y="1682496"/>
            <a:ext cx="5852160" cy="270662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@Test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void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入荷すると在庫が増える() 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throws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SQLException {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Given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jigu.importFrom(DATA + </a:t>
            </a:r>
            <a:pPr indent="0" marL="0">
              <a:buNone/>
            </a:pPr>
            <a:r>
              <a:rPr lang="ja-JP" altLang="en-US" sz="13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"restock/given.txt"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);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When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service.restock(</a:t>
            </a:r>
            <a:pPr indent="0" marL="0">
              <a:buNone/>
            </a:pPr>
            <a:r>
              <a:rPr lang="ja-JP" altLang="en-US" sz="13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"P002"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30);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Then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jigu.assertExists(DATA + </a:t>
            </a:r>
            <a:pPr indent="0" marL="0">
              <a:buNone/>
            </a:pPr>
            <a:r>
              <a:rPr lang="ja-JP" altLang="en-US" sz="13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"restock/expected.txt"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);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300" dirty="0"/>
          </a:p>
        </p:txBody>
      </p:sp>
      <p:sp>
        <p:nvSpPr>
          <p:cNvPr id="7" name="setupNote"/>
          <p:cNvSpPr txBox="1"/>
          <p:nvPr/>
        </p:nvSpPr>
        <p:spPr>
          <a:xfrm>
            <a:off x="548640" y="4709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jigu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は </a:t>
            </a:r>
            <a:pPr indent="0" marL="0">
              <a:buNone/>
            </a:pPr>
            <a:r>
              <a:rPr lang="ja-JP" altLang="en-US" sz="1400" dirty="0">
                <a:solidFill>
                  <a:srgbClr val="000000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new DbJigu(connection)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で作ります。テストの終わりに、テスト側で </a:t>
            </a:r>
            <a:pPr indent="0" marL="0">
              <a:buNone/>
            </a:pPr>
            <a:r>
              <a:rPr lang="ja-JP" altLang="en-US" sz="1400" dirty="0">
                <a:solidFill>
                  <a:srgbClr val="000000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connection.rollback()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します。</a:t>
            </a:r>
            <a:endParaRPr lang="ja-JP" altLang="en-US" sz="1400" dirty="0"/>
          </a:p>
        </p:txBody>
      </p:sp>
      <p:sp>
        <p:nvSpPr>
          <p:cNvPr id="8" name="tab2"/>
          <p:cNvSpPr/>
          <p:nvPr/>
        </p:nvSpPr>
        <p:spPr>
          <a:xfrm>
            <a:off x="6903720" y="1325880"/>
            <a:ext cx="1687068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9" name="tabText2"/>
          <p:cNvSpPr txBox="1"/>
          <p:nvPr/>
        </p:nvSpPr>
        <p:spPr>
          <a:xfrm>
            <a:off x="7040880" y="1325880"/>
            <a:ext cx="1504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restock/given.txt</a:t>
            </a:r>
            <a:endParaRPr lang="ja-JP" altLang="en-US" sz="1100" dirty="0"/>
          </a:p>
        </p:txBody>
      </p:sp>
      <p:sp>
        <p:nvSpPr>
          <p:cNvPr id="10" name="code2"/>
          <p:cNvSpPr/>
          <p:nvPr/>
        </p:nvSpPr>
        <p:spPr>
          <a:xfrm>
            <a:off x="6903720" y="1636776"/>
            <a:ext cx="4739335" cy="1152144"/>
          </a:xfrm>
          <a:prstGeom prst="roundRect">
            <a:avLst>
              <a:gd name="adj" fmla="val 6349"/>
            </a:avLst>
          </a:prstGeom>
          <a:solidFill>
            <a:schemeClr val="tx1"/>
          </a:solidFill>
          <a:ln/>
        </p:spPr>
      </p:sp>
      <p:sp>
        <p:nvSpPr>
          <p:cNvPr id="11" name="codeText2"/>
          <p:cNvSpPr txBox="1"/>
          <p:nvPr/>
        </p:nvSpPr>
        <p:spPr>
          <a:xfrm>
            <a:off x="6949440" y="1682496"/>
            <a:ext cx="4647895" cy="106070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[product]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product_code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product_name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unit_price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stock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P001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ボールペン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120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100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P002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ノート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300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50</a:t>
            </a:r>
            <a:endParaRPr lang="ja-JP" altLang="en-US" sz="1300" dirty="0"/>
          </a:p>
        </p:txBody>
      </p:sp>
      <p:sp>
        <p:nvSpPr>
          <p:cNvPr id="12" name="tab3"/>
          <p:cNvSpPr/>
          <p:nvPr/>
        </p:nvSpPr>
        <p:spPr>
          <a:xfrm>
            <a:off x="6903720" y="2971800"/>
            <a:ext cx="1920240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13" name="tabText3"/>
          <p:cNvSpPr txBox="1"/>
          <p:nvPr/>
        </p:nvSpPr>
        <p:spPr>
          <a:xfrm>
            <a:off x="7040880" y="2971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restock/expected.txt</a:t>
            </a:r>
            <a:endParaRPr lang="ja-JP" altLang="en-US" sz="1100" dirty="0"/>
          </a:p>
        </p:txBody>
      </p:sp>
      <p:sp>
        <p:nvSpPr>
          <p:cNvPr id="14" name="code3"/>
          <p:cNvSpPr/>
          <p:nvPr/>
        </p:nvSpPr>
        <p:spPr>
          <a:xfrm>
            <a:off x="6903720" y="3282696"/>
            <a:ext cx="4739335" cy="1152144"/>
          </a:xfrm>
          <a:prstGeom prst="roundRect">
            <a:avLst>
              <a:gd name="adj" fmla="val 6349"/>
            </a:avLst>
          </a:prstGeom>
          <a:solidFill>
            <a:schemeClr val="tx1"/>
          </a:solidFill>
          <a:ln/>
        </p:spPr>
      </p:sp>
      <p:sp>
        <p:nvSpPr>
          <p:cNvPr id="15" name="codeText3"/>
          <p:cNvSpPr txBox="1"/>
          <p:nvPr/>
        </p:nvSpPr>
        <p:spPr>
          <a:xfrm>
            <a:off x="6949440" y="3328416"/>
            <a:ext cx="4647895" cy="106070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[product]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product_code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stock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P001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100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P002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80</a:t>
            </a:r>
            <a:endParaRPr lang="ja-JP" altLang="en-US" sz="1300" dirty="0"/>
          </a:p>
        </p:txBody>
      </p:sp>
      <p:sp>
        <p:nvSpPr>
          <p:cNvPr id="16" name="expectedNote"/>
          <p:cNvSpPr txBox="1"/>
          <p:nvPr/>
        </p:nvSpPr>
        <p:spPr>
          <a:xfrm>
            <a:off x="6903720" y="4709160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期待する状態には、確かめたい列だけを書きます。書かなかった列（product_name など）は比較しません。</a:t>
            </a:r>
            <a:endParaRPr lang="ja-JP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6</a:t>
            </a:fld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フィクスチャの書き方</a:t>
            </a:r>
            <a:endParaRPr lang="ja-JP" altLang="en-US" sz="3000" dirty="0"/>
          </a:p>
        </p:txBody>
      </p:sp>
      <p:sp>
        <p:nvSpPr>
          <p:cNvPr id="3" name="code4"/>
          <p:cNvSpPr/>
          <p:nvPr/>
        </p:nvSpPr>
        <p:spPr>
          <a:xfrm>
            <a:off x="548640" y="1325880"/>
            <a:ext cx="512064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4" name="codeText4"/>
          <p:cNvSpPr txBox="1"/>
          <p:nvPr/>
        </p:nvSpPr>
        <p:spPr>
          <a:xfrm>
            <a:off x="594360" y="1371600"/>
            <a:ext cx="5029200" cy="192024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コメント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8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[テーブル名]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8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列名1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8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列名2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8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列名3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値1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値2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値3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値1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800" i="1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&lt;null&gt;</a:t>
            </a:r>
            <a:pPr indent="0" marL="0">
              <a:buNone/>
            </a:pPr>
            <a:r>
              <a:rPr lang="ja-JP" altLang="en-US" sz="18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値3</a:t>
            </a:r>
            <a:endParaRPr lang="ja-JP" altLang="en-US" sz="1800" dirty="0"/>
          </a:p>
        </p:txBody>
      </p:sp>
      <p:graphicFrame>
        <p:nvGraphicFramePr>
          <p:cNvPr id="8" name="syntax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5165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792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[テーブル名]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テーブルの始まり。1ファイルに複数書けて、書いた順に投入します。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{列名1|列名2}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列名。[テーブル名] の次の行に書きます。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値1|値2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1行が DB の1行です。値の前後の空白は取り除きます。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&lt;null&gt;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NULL。何も書かなければ空文字です。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// …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行の先頭が // ならコメント。行の途中からはコメントにできません。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ypeHead"/>
          <p:cNvSpPr txBox="1"/>
          <p:nvPr/>
        </p:nvSpPr>
        <p:spPr>
          <a:xfrm>
            <a:off x="54864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値は、列の型（DB から取得）に合わせて変換します</a:t>
            </a:r>
            <a:endParaRPr lang="ja-JP" altLang="en-US" sz="1600" dirty="0"/>
          </a:p>
        </p:txBody>
      </p:sp>
      <p:graphicFrame>
        <p:nvGraphicFramePr>
          <p:cNvPr id="15" name="typ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</a:rPr>
                        <a:t>数値</a:t>
                      </a:r>
                      <a:endParaRPr lang="ja-JP" alt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120　123.45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</a:rPr>
                        <a:t>日付</a:t>
                      </a:r>
                      <a:endParaRPr lang="ja-JP" alt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2024-04-01　2024/04/01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</a:rPr>
                        <a:t>日時</a:t>
                      </a:r>
                      <a:endParaRPr lang="ja-JP" alt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2024-04-01 10:00　2024-04-01 10:00:30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</a:rPr>
                        <a:t>真偽値</a:t>
                      </a:r>
                      <a:endParaRPr lang="ja-JP" alt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true　false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importVerifyBox"/>
          <p:cNvSpPr/>
          <p:nvPr/>
        </p:nvSpPr>
        <p:spPr>
          <a:xfrm>
            <a:off x="6126480" y="4206240"/>
            <a:ext cx="5516575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importVerifyText"/>
          <p:cNvSpPr txBox="1"/>
          <p:nvPr/>
        </p:nvSpPr>
        <p:spPr>
          <a:xfrm>
            <a:off x="6446520" y="4434840"/>
            <a:ext cx="4876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書かなかった列は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投入：DB の既定値（既定値が無ければ NULL）になります。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検証：比較しません。確かめたい列だけを書けば十分です。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7</a:t>
            </a:fld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複数のテーブルを、まとめて検証する</a:t>
            </a:r>
            <a:endParaRPr lang="ja-JP" altLang="en-US" sz="3000" dirty="0"/>
          </a:p>
        </p:txBody>
      </p:sp>
      <p:sp>
        <p:nvSpPr>
          <p:cNvPr id="3" name="tab5"/>
          <p:cNvSpPr/>
          <p:nvPr/>
        </p:nvSpPr>
        <p:spPr>
          <a:xfrm>
            <a:off x="548640" y="1325880"/>
            <a:ext cx="176479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4" name="tabText5"/>
          <p:cNvSpPr txBox="1"/>
          <p:nvPr/>
        </p:nvSpPr>
        <p:spPr>
          <a:xfrm>
            <a:off x="685800" y="132588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place/expected.txt</a:t>
            </a:r>
            <a:endParaRPr lang="ja-JP" altLang="en-US" sz="1100" dirty="0"/>
          </a:p>
        </p:txBody>
      </p:sp>
      <p:sp>
        <p:nvSpPr>
          <p:cNvPr id="5" name="code5"/>
          <p:cNvSpPr/>
          <p:nvPr/>
        </p:nvSpPr>
        <p:spPr>
          <a:xfrm>
            <a:off x="548640" y="1636776"/>
            <a:ext cx="7315200" cy="2798064"/>
          </a:xfrm>
          <a:prstGeom prst="roundRect">
            <a:avLst>
              <a:gd name="adj" fmla="val 2614"/>
            </a:avLst>
          </a:prstGeom>
          <a:solidFill>
            <a:schemeClr val="tx1"/>
          </a:solidFill>
          <a:ln/>
        </p:spPr>
      </p:sp>
      <p:sp>
        <p:nvSpPr>
          <p:cNvPr id="6" name="codeText5"/>
          <p:cNvSpPr txBox="1"/>
          <p:nvPr/>
        </p:nvSpPr>
        <p:spPr>
          <a:xfrm>
            <a:off x="594360" y="1682496"/>
            <a:ext cx="7223760" cy="270662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[orders]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order_no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customer_id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status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total_amount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note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shipped_at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ordered_at@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updated_at@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RECEIVED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960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i="1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&lt;null&gt;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i="1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&lt;null&gt;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-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-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[order_item]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order_no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line_no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product_code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quantity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amount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3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360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2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P002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2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600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[product]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product_code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stock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97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P002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48</a:t>
            </a:r>
            <a:endParaRPr lang="ja-JP" altLang="en-US" sz="1200" dirty="0"/>
          </a:p>
        </p:txBody>
      </p:sp>
      <p:sp>
        <p:nvSpPr>
          <p:cNvPr id="7" name="code6"/>
          <p:cNvSpPr/>
          <p:nvPr/>
        </p:nvSpPr>
        <p:spPr>
          <a:xfrm>
            <a:off x="548640" y="4663440"/>
            <a:ext cx="73152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/>
        </p:spPr>
      </p:sp>
      <p:sp>
        <p:nvSpPr>
          <p:cNvPr id="8" name="codeText6"/>
          <p:cNvSpPr txBox="1"/>
          <p:nvPr/>
        </p:nvSpPr>
        <p:spPr>
          <a:xfrm>
            <a:off x="594360" y="4709160"/>
            <a:ext cx="7223760" cy="86868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Then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jigu.assertExists(DATA + </a:t>
            </a:r>
            <a:pPr indent="0" marL="0">
              <a:buNone/>
            </a:pPr>
            <a:r>
              <a:rPr lang="ja-JP" altLang="en-US" sz="13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"place/expected.txt"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);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jigu.assertNotExists(DATA + </a:t>
            </a:r>
            <a:pPr indent="0" marL="0">
              <a:buNone/>
            </a:pPr>
            <a:r>
              <a:rPr lang="ja-JP" altLang="en-US" sz="13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"place/not_exists.txt"</a:t>
            </a:r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);</a:t>
            </a:r>
            <a:endParaRPr lang="ja-JP" altLang="en-US" sz="1300" dirty="0"/>
          </a:p>
        </p:txBody>
      </p:sp>
      <p:sp>
        <p:nvSpPr>
          <p:cNvPr id="9" name="placeText"/>
          <p:cNvSpPr txBox="1"/>
          <p:nvPr/>
        </p:nvSpPr>
        <p:spPr>
          <a:xfrm>
            <a:off x="8275320" y="1371600"/>
            <a:ext cx="3367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注文すると3つのテーブルが変わる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placeOrder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は、受注（orders）と明細（order_item）を登録し、商品の在庫（product）を減らします。</a:t>
            </a:r>
            <a:endParaRPr lang="ja-JP" altLang="en-US" sz="1600" dirty="0"/>
          </a:p>
        </p:txBody>
      </p:sp>
      <p:sp>
        <p:nvSpPr>
          <p:cNvPr id="10" name="atText"/>
          <p:cNvSpPr txBox="1"/>
          <p:nvPr/>
        </p:nvSpPr>
        <p:spPr>
          <a:xfrm>
            <a:off x="8275320" y="2926080"/>
            <a:ext cx="3367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@ の列は比較しない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ordered_at@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と 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updated_at@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は実行した時刻になるので比較しません。値には 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-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と書いています。</a:t>
            </a:r>
            <a:endParaRPr lang="ja-JP" altLang="en-US" sz="1600" dirty="0"/>
          </a:p>
        </p:txBody>
      </p:sp>
      <p:sp>
        <p:nvSpPr>
          <p:cNvPr id="11" name="notExistsText"/>
          <p:cNvSpPr txBox="1"/>
          <p:nvPr/>
        </p:nvSpPr>
        <p:spPr>
          <a:xfrm>
            <a:off x="8275320" y="4480560"/>
            <a:ext cx="3367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余計な行が無いことも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assertNotExists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で、あってはいけない行が無いことを確かめます。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8</a:t>
            </a:fld>
            <a:endParaRPr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列名の記号で、比較のしかたを変える</a:t>
            </a:r>
            <a:endParaRPr lang="ja-JP" altLang="en-US" sz="3000" dirty="0"/>
          </a:p>
        </p:txBody>
      </p:sp>
      <p:graphicFrame>
        <p:nvGraphicFramePr>
          <p:cNvPr id="10" name="mar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bg1"/>
                          </a:solidFill>
                        </a:rPr>
                        <a:t>記号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bg1"/>
                          </a:solidFill>
                        </a:rPr>
                        <a:t>条件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なし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DB の値 = ファイルの値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@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比較しない（実行時刻、採番値など）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&gt; &gt;= &lt; &lt;=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大小（左が DB の値）。範囲も書ける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!=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値が違う（DB が NULL の行も含む）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メイリオ" pitchFamily="34" charset="-122"/>
                          <a:cs typeface="メイリオ" pitchFamily="34" charset="-120"/>
                        </a:rPr>
                        <a:t>%</a:t>
                      </a:r>
                      <a:endParaRPr lang="ja-JP" altLang="en-US" sz="1400" dirty="0">
                        <a:latin typeface="Consolas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00" dirty="0">
                          <a:solidFill>
                            <a:schemeClr val="tx2"/>
                          </a:solidFill>
                        </a:rPr>
                        <a:t>前方一致（文字列の列だけ）</a:t>
                      </a:r>
                      <a:endParaRPr lang="ja-JP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arkNote"/>
          <p:cNvSpPr txBox="1"/>
          <p:nvPr/>
        </p:nvSpPr>
        <p:spPr>
          <a:xfrm>
            <a:off x="548640" y="4572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記号は検証のときだけ使い、投入のときは無視します。</a:t>
            </a:r>
            <a:endParaRPr lang="ja-JP" alt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&lt;null&gt;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は 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IS NULL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（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!=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のときだけ 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IS NOT NULL</a:t>
            </a:r>
            <a:pPr indent="0" marL="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）。</a:t>
            </a:r>
            <a:endParaRPr lang="ja-JP" altLang="en-US" sz="1400" dirty="0"/>
          </a:p>
        </p:txBody>
      </p:sp>
      <p:sp>
        <p:nvSpPr>
          <p:cNvPr id="5" name="tab7"/>
          <p:cNvSpPr/>
          <p:nvPr/>
        </p:nvSpPr>
        <p:spPr>
          <a:xfrm>
            <a:off x="6492240" y="1325880"/>
            <a:ext cx="1842516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6" name="tabText7"/>
          <p:cNvSpPr txBox="1"/>
          <p:nvPr/>
        </p:nvSpPr>
        <p:spPr>
          <a:xfrm>
            <a:off x="6629400" y="1325880"/>
            <a:ext cx="1659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cancel/expected.txt</a:t>
            </a:r>
            <a:endParaRPr lang="ja-JP" altLang="en-US" sz="1100" dirty="0"/>
          </a:p>
        </p:txBody>
      </p:sp>
      <p:sp>
        <p:nvSpPr>
          <p:cNvPr id="7" name="code7"/>
          <p:cNvSpPr/>
          <p:nvPr/>
        </p:nvSpPr>
        <p:spPr>
          <a:xfrm>
            <a:off x="6492240" y="1636776"/>
            <a:ext cx="5150815" cy="2615184"/>
          </a:xfrm>
          <a:prstGeom prst="roundRect">
            <a:avLst>
              <a:gd name="adj" fmla="val 2797"/>
            </a:avLst>
          </a:prstGeom>
          <a:solidFill>
            <a:schemeClr val="tx1"/>
          </a:solidFill>
          <a:ln/>
        </p:spPr>
      </p:sp>
      <p:sp>
        <p:nvSpPr>
          <p:cNvPr id="8" name="codeText7"/>
          <p:cNvSpPr txBox="1"/>
          <p:nvPr/>
        </p:nvSpPr>
        <p:spPr>
          <a:xfrm>
            <a:off x="6537960" y="1682496"/>
            <a:ext cx="5059375" cy="252374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[orders]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order_no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status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note%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updated_at&gt;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A001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CANCELED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キャンセル: お客様都合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2024-04-01 10:00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[order_item]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order_no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line_no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A002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[product]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product_code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stock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P001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99</a:t>
            </a:r>
            <a:endParaRPr lang="ja-JP" altLang="en-US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P002</a:t>
            </a:r>
            <a:pPr indent="0" marL="0">
              <a:buNone/>
            </a:pPr>
            <a:r>
              <a:rPr lang="ja-JP" altLang="en-US" sz="13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3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50</a:t>
            </a:r>
            <a:endParaRPr lang="ja-JP" altLang="en-US" sz="1300" dirty="0"/>
          </a:p>
        </p:txBody>
      </p:sp>
      <p:sp>
        <p:nvSpPr>
          <p:cNvPr id="9" name="cancelText"/>
          <p:cNvSpPr txBox="1"/>
          <p:nvPr/>
        </p:nvSpPr>
        <p:spPr>
          <a:xfrm>
            <a:off x="6492240" y="4572000"/>
            <a:ext cx="5150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キャンセルのテストの例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updated_at&gt;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：更新日時が、投入した値より後になった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note%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：備考が「キャンセル: お客様都合」で始まる（後ろに日時が付く）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9</a:t>
            </a:fld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パターン番号で、ケースを1ファイルにまとめる</a:t>
            </a:r>
            <a:endParaRPr lang="ja-JP" altLang="en-US" sz="3000" dirty="0"/>
          </a:p>
        </p:txBody>
      </p:sp>
      <p:sp>
        <p:nvSpPr>
          <p:cNvPr id="3" name="tab8"/>
          <p:cNvSpPr/>
          <p:nvPr/>
        </p:nvSpPr>
        <p:spPr>
          <a:xfrm>
            <a:off x="548640" y="1325880"/>
            <a:ext cx="2619756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4" name="tabText8"/>
          <p:cNvSpPr txBox="1"/>
          <p:nvPr/>
        </p:nvSpPr>
        <p:spPr>
          <a:xfrm>
            <a:off x="685800" y="1325880"/>
            <a:ext cx="2436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place_by_rank_named/given.txt</a:t>
            </a:r>
            <a:endParaRPr lang="ja-JP" altLang="en-US" sz="1100" dirty="0"/>
          </a:p>
        </p:txBody>
      </p:sp>
      <p:sp>
        <p:nvSpPr>
          <p:cNvPr id="5" name="code8"/>
          <p:cNvSpPr/>
          <p:nvPr/>
        </p:nvSpPr>
        <p:spPr>
          <a:xfrm>
            <a:off x="548640" y="1636776"/>
            <a:ext cx="4206240" cy="2203704"/>
          </a:xfrm>
          <a:prstGeom prst="roundRect">
            <a:avLst>
              <a:gd name="adj" fmla="val 3320"/>
            </a:avLst>
          </a:prstGeom>
          <a:solidFill>
            <a:schemeClr val="tx1"/>
          </a:solidFill>
          <a:ln/>
        </p:spPr>
      </p:sp>
      <p:sp>
        <p:nvSpPr>
          <p:cNvPr id="6" name="codeText8"/>
          <p:cNvSpPr txBox="1"/>
          <p:nvPr/>
        </p:nvSpPr>
        <p:spPr>
          <a:xfrm>
            <a:off x="594360" y="1682496"/>
            <a:ext cx="4114800" cy="211226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[customer]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#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customer_id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customer_name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customer_rank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gold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山田 太郎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GOLD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silver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山田 太郎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SILVER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regular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C001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山田 太郎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REGULAR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b="1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[product]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{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product_code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product_name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unit_price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stock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P002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ノート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300</a:t>
            </a:r>
            <a:pPr indent="0" marL="0">
              <a:buNone/>
            </a:pPr>
            <a:r>
              <a:rPr lang="ja-JP" altLang="en-US" sz="12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2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50</a:t>
            </a:r>
            <a:endParaRPr lang="ja-JP" altLang="en-US" sz="1200" dirty="0"/>
          </a:p>
        </p:txBody>
      </p:sp>
      <p:sp>
        <p:nvSpPr>
          <p:cNvPr id="7" name="tab9"/>
          <p:cNvSpPr/>
          <p:nvPr/>
        </p:nvSpPr>
        <p:spPr>
          <a:xfrm>
            <a:off x="5074920" y="1325880"/>
            <a:ext cx="1997964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8" name="tabText9"/>
          <p:cNvSpPr txBox="1"/>
          <p:nvPr/>
        </p:nvSpPr>
        <p:spPr>
          <a:xfrm>
            <a:off x="5212080" y="1325880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OrderServiceTest.java</a:t>
            </a:r>
            <a:endParaRPr lang="ja-JP" altLang="en-US" sz="1100" dirty="0"/>
          </a:p>
        </p:txBody>
      </p:sp>
      <p:sp>
        <p:nvSpPr>
          <p:cNvPr id="9" name="code9"/>
          <p:cNvSpPr/>
          <p:nvPr/>
        </p:nvSpPr>
        <p:spPr>
          <a:xfrm>
            <a:off x="5074920" y="1636776"/>
            <a:ext cx="6568135" cy="2523744"/>
          </a:xfrm>
          <a:prstGeom prst="roundRect">
            <a:avLst>
              <a:gd name="adj" fmla="val 2899"/>
            </a:avLst>
          </a:prstGeom>
          <a:solidFill>
            <a:schemeClr val="tx1"/>
          </a:solidFill>
          <a:ln/>
        </p:spPr>
      </p:sp>
      <p:sp>
        <p:nvSpPr>
          <p:cNvPr id="10" name="codeText9"/>
          <p:cNvSpPr txBox="1"/>
          <p:nvPr/>
        </p:nvSpPr>
        <p:spPr>
          <a:xfrm>
            <a:off x="5120640" y="1682496"/>
            <a:ext cx="6476695" cy="243230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@ParameterizedTest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(name =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"{0}"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quoteTextArguments = false)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@ValueSource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(strings = {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"gold"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"silver"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"regular"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})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void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会員ランクに応じて割り引く_名前で指定(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String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rank) 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throws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SQLException {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Given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jigu.importFrom(DATA +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"place_by_rank_named/given.txt"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rank);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When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service.placeOrder(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"A001"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"C001"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List.of(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new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OrderLine(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"P002"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10)));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Then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jigu.assertExists(DATA +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"place_by_rank_named/expected.txt"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, rank);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100" dirty="0"/>
          </a:p>
        </p:txBody>
      </p:sp>
      <p:sp>
        <p:nvSpPr>
          <p:cNvPr id="11" name="patternText"/>
          <p:cNvSpPr txBox="1"/>
          <p:nvPr/>
        </p:nvSpPr>
        <p:spPr>
          <a:xfrm>
            <a:off x="548640" y="40690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列名の先頭を # にする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各行の先頭が、その行のパターン（数値か名前）になります。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先頭が空（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|P002|40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など）の行は、全パターン共通です。</a:t>
            </a:r>
            <a:endParaRPr lang="ja-JP" altLang="en-US" sz="1600" dirty="0"/>
          </a:p>
        </p:txBody>
      </p:sp>
      <p:sp>
        <p:nvSpPr>
          <p:cNvPr id="12" name="patternCall"/>
          <p:cNvSpPr txBox="1"/>
          <p:nvPr/>
        </p:nvSpPr>
        <p:spPr>
          <a:xfrm>
            <a:off x="5074920" y="4434840"/>
            <a:ext cx="6568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投入と検証に、同じパターンを渡す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どの行にも無いパターン（"glod" など）を渡すとエラーになるので、書き間違いで何も検証せずに成功することはありません。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</a:t>
            </a:fld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失敗したときは、違った列が分かる</a:t>
            </a:r>
            <a:endParaRPr lang="ja-JP" altLang="en-US" sz="3000" dirty="0"/>
          </a:p>
        </p:txBody>
      </p:sp>
      <p:sp>
        <p:nvSpPr>
          <p:cNvPr id="3" name="tab10"/>
          <p:cNvSpPr/>
          <p:nvPr/>
        </p:nvSpPr>
        <p:spPr>
          <a:xfrm>
            <a:off x="548640" y="1325880"/>
            <a:ext cx="1298448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4" name="tabText10"/>
          <p:cNvSpPr txBox="1"/>
          <p:nvPr/>
        </p:nvSpPr>
        <p:spPr>
          <a:xfrm>
            <a:off x="685800" y="132588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テストの出力</a:t>
            </a:r>
            <a:endParaRPr lang="ja-JP" altLang="en-US" sz="1100" dirty="0"/>
          </a:p>
        </p:txBody>
      </p:sp>
      <p:sp>
        <p:nvSpPr>
          <p:cNvPr id="5" name="code10"/>
          <p:cNvSpPr/>
          <p:nvPr/>
        </p:nvSpPr>
        <p:spPr>
          <a:xfrm>
            <a:off x="548640" y="1636776"/>
            <a:ext cx="11094415" cy="1517904"/>
          </a:xfrm>
          <a:prstGeom prst="roundRect">
            <a:avLst>
              <a:gd name="adj" fmla="val 4819"/>
            </a:avLst>
          </a:prstGeom>
          <a:solidFill>
            <a:schemeClr val="tx1"/>
          </a:solidFill>
          <a:ln/>
        </p:spPr>
      </p:sp>
      <p:sp>
        <p:nvSpPr>
          <p:cNvPr id="6" name="codeText10"/>
          <p:cNvSpPr txBox="1"/>
          <p:nvPr/>
        </p:nvSpPr>
        <p:spPr>
          <a:xfrm>
            <a:off x="594360" y="1682496"/>
            <a:ext cx="11002975" cy="142646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○</a:t>
            </a:r>
            <a:pPr indent="0" marL="0">
              <a:buNone/>
            </a:pPr>
            <a:r>
              <a:rPr lang="ja-JP" altLang="en-US" sz="12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: src/test/resources/data/order/cancel/expected.txt:3 [orders] A001|CANCELED|キャンセル: お客様都合|2024-04-01 10:00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b="1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○</a:t>
            </a:r>
            <a:pPr indent="0" marL="0">
              <a:buNone/>
            </a:pPr>
            <a:r>
              <a:rPr lang="ja-JP" altLang="en-US" sz="12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: src/test/resources/data/order/cancel/expected.txt:7 [order_item] A002|1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b="1" dirty="0">
                <a:solidFill>
                  <a:schemeClr val="accent3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×</a:t>
            </a:r>
            <a:pPr indent="0" marL="0">
              <a:buNone/>
            </a:pPr>
            <a:r>
              <a:rPr lang="ja-JP" altLang="en-US" sz="1200" dirty="0">
                <a:solidFill>
                  <a:schemeClr val="accent3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: src/test/resources/data/order/cancel/expected.txt:11 [product] P001|98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stock を除くと一致する行があります。DB の値: 99</a:t>
            </a:r>
            <a:endParaRPr lang="ja-JP" altLang="en-US" sz="1200" dirty="0"/>
          </a:p>
          <a:p>
            <a:pPr indent="0" marL="0">
              <a:buNone/>
            </a:pPr>
            <a:r>
              <a:rPr lang="ja-JP" altLang="en-US" sz="1200" b="1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○</a:t>
            </a:r>
            <a:pPr indent="0" marL="0">
              <a:buNone/>
            </a:pPr>
            <a:r>
              <a:rPr lang="ja-JP" altLang="en-US" sz="12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: src/test/resources/data/order/cancel/expected.txt:12 [product] P002|50</a:t>
            </a:r>
            <a:endParaRPr lang="ja-JP" altLang="en-US" sz="1200" dirty="0"/>
          </a:p>
        </p:txBody>
      </p:sp>
      <p:sp>
        <p:nvSpPr>
          <p:cNvPr id="7" name="failCard1"/>
          <p:cNvSpPr/>
          <p:nvPr/>
        </p:nvSpPr>
        <p:spPr>
          <a:xfrm>
            <a:off x="548640" y="3520440"/>
            <a:ext cx="3454298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8" name="failText1"/>
          <p:cNvSpPr txBox="1"/>
          <p:nvPr/>
        </p:nvSpPr>
        <p:spPr>
          <a:xfrm>
            <a:off x="868680" y="3794760"/>
            <a:ext cx="28142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ファイル:行番号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一致しなかった行が、ファイルのどこかが分かります。assertExists の AssertionError のメッセージにも入ります。</a:t>
            </a:r>
            <a:endParaRPr lang="ja-JP" altLang="en-US" sz="1600" dirty="0"/>
          </a:p>
        </p:txBody>
      </p:sp>
      <p:sp>
        <p:nvSpPr>
          <p:cNvPr id="9" name="failCard2"/>
          <p:cNvSpPr/>
          <p:nvPr/>
        </p:nvSpPr>
        <p:spPr>
          <a:xfrm>
            <a:off x="4368698" y="3520440"/>
            <a:ext cx="3454298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failText2"/>
          <p:cNvSpPr txBox="1"/>
          <p:nvPr/>
        </p:nvSpPr>
        <p:spPr>
          <a:xfrm>
            <a:off x="4688738" y="3794760"/>
            <a:ext cx="28142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違った列と DB の値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条件を1つずつ外して検索し直し、外すと一致する列と、その列の DB の値を表示します。</a:t>
            </a:r>
            <a:endParaRPr lang="ja-JP" altLang="en-US" sz="1600" dirty="0"/>
          </a:p>
        </p:txBody>
      </p:sp>
      <p:sp>
        <p:nvSpPr>
          <p:cNvPr id="11" name="failCard3"/>
          <p:cNvSpPr/>
          <p:nvPr/>
        </p:nvSpPr>
        <p:spPr>
          <a:xfrm>
            <a:off x="8188757" y="3520440"/>
            <a:ext cx="3454298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2" name="failText3"/>
          <p:cNvSpPr txBox="1"/>
          <p:nvPr/>
        </p:nvSpPr>
        <p:spPr>
          <a:xfrm>
            <a:off x="8508797" y="3794760"/>
            <a:ext cx="28142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成功するテストは速いまま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調べるための SQL は、失敗した行についてだけ実行します（1回の検証で先頭10行まで）。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11</a:t>
            </a:fld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Spring のテストで使うときの2つの約束</a:t>
            </a:r>
            <a:endParaRPr lang="ja-JP" altLang="en-US" sz="3000" dirty="0"/>
          </a:p>
        </p:txBody>
      </p:sp>
      <p:sp>
        <p:nvSpPr>
          <p:cNvPr id="3" name="tab11"/>
          <p:cNvSpPr/>
          <p:nvPr/>
        </p:nvSpPr>
        <p:spPr>
          <a:xfrm>
            <a:off x="548640" y="1325880"/>
            <a:ext cx="254203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4" name="tabText11"/>
          <p:cNvSpPr txBox="1"/>
          <p:nvPr/>
        </p:nvSpPr>
        <p:spPr>
          <a:xfrm>
            <a:off x="685800" y="132588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DbJiguSpringExampleTest.java</a:t>
            </a:r>
            <a:endParaRPr lang="ja-JP" altLang="en-US" sz="1100" dirty="0"/>
          </a:p>
        </p:txBody>
      </p:sp>
      <p:sp>
        <p:nvSpPr>
          <p:cNvPr id="5" name="code11"/>
          <p:cNvSpPr/>
          <p:nvPr/>
        </p:nvSpPr>
        <p:spPr>
          <a:xfrm>
            <a:off x="548640" y="1636776"/>
            <a:ext cx="7040880" cy="4261104"/>
          </a:xfrm>
          <a:prstGeom prst="roundRect">
            <a:avLst>
              <a:gd name="adj" fmla="val 1717"/>
            </a:avLst>
          </a:prstGeom>
          <a:solidFill>
            <a:schemeClr val="tx1"/>
          </a:solidFill>
          <a:ln/>
        </p:spPr>
      </p:sp>
      <p:sp>
        <p:nvSpPr>
          <p:cNvPr id="6" name="codeText11"/>
          <p:cNvSpPr txBox="1"/>
          <p:nvPr/>
        </p:nvSpPr>
        <p:spPr>
          <a:xfrm>
            <a:off x="594360" y="1682496"/>
            <a:ext cx="6949440" cy="4169664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@SpringBootTest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@Transactional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class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DbJiguSpringExampleTest {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@Autowired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DataSource dataSource;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@Autowired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MemberRepository memberRepository;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@PersistenceContext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EntityManager entityManager;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DbJigu jigu;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@BeforeEach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void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setUp() {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    </a:t>
            </a:r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① テストのトランザクションに参加している Connection を渡す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    jigu = 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new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DbJigu(DataSourceUtils.getConnection(dataSource));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    jigu.importFrom(DATA +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"setup.txt"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}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@Test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void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JPAで登録した結果を検証する() {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    memberRepository.save(</a:t>
            </a:r>
            <a:pPr indent="0" marL="0">
              <a:buNone/>
            </a:pPr>
            <a:r>
              <a:rPr lang="ja-JP" altLang="en-US" sz="11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new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Member(BigDecimal.valueOf(10),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"bob"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    entityManager.flush();     </a:t>
            </a:r>
            <a:pPr indent="0" marL="0">
              <a:buNone/>
            </a:pPr>
            <a:r>
              <a:rPr lang="ja-JP" altLang="en-US" sz="1100" dirty="0">
                <a:solidFill>
                  <a:schemeClr val="accent5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// ② JPA の変更を DB に書き出してから検証する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1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    jigu.assertExists(DATA + </a:t>
            </a:r>
            <a:pPr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"expected_registered.txt"</a:t>
            </a:r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);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    }</a:t>
            </a:r>
            <a:endParaRPr lang="ja-JP" altLang="en-US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chemeClr val="bg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}</a:t>
            </a:r>
            <a:endParaRPr lang="ja-JP" altLang="en-US" sz="1100" dirty="0"/>
          </a:p>
        </p:txBody>
      </p:sp>
      <p:sp>
        <p:nvSpPr>
          <p:cNvPr id="7" name="springNo1"/>
          <p:cNvSpPr/>
          <p:nvPr/>
        </p:nvSpPr>
        <p:spPr>
          <a:xfrm>
            <a:off x="79552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pringNo1Text"/>
          <p:cNvSpPr txBox="1"/>
          <p:nvPr/>
        </p:nvSpPr>
        <p:spPr>
          <a:xfrm>
            <a:off x="7955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①</a:t>
            </a:r>
            <a:endParaRPr lang="ja-JP" altLang="en-US" sz="1800" dirty="0"/>
          </a:p>
        </p:txBody>
      </p:sp>
      <p:sp>
        <p:nvSpPr>
          <p:cNvPr id="9" name="springText1"/>
          <p:cNvSpPr txBox="1"/>
          <p:nvPr/>
        </p:nvSpPr>
        <p:spPr>
          <a:xfrm>
            <a:off x="8641080" y="1417320"/>
            <a:ext cx="30019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テストのトランザクションの Connection を渡す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DataSourceUtils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で取得します。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dataSource.getConnection()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は別の Connection なので、投入したデータがコミットされて残ります。</a:t>
            </a:r>
            <a:endParaRPr lang="ja-JP" altLang="en-US" sz="1600" dirty="0"/>
          </a:p>
        </p:txBody>
      </p:sp>
      <p:sp>
        <p:nvSpPr>
          <p:cNvPr id="10" name="springNo2"/>
          <p:cNvSpPr/>
          <p:nvPr/>
        </p:nvSpPr>
        <p:spPr>
          <a:xfrm>
            <a:off x="795528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pringNo2Text"/>
          <p:cNvSpPr txBox="1"/>
          <p:nvPr/>
        </p:nvSpPr>
        <p:spPr>
          <a:xfrm>
            <a:off x="79552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②</a:t>
            </a:r>
            <a:endParaRPr lang="ja-JP" altLang="en-US" sz="1800" dirty="0"/>
          </a:p>
        </p:txBody>
      </p:sp>
      <p:sp>
        <p:nvSpPr>
          <p:cNvPr id="12" name="springText2"/>
          <p:cNvSpPr txBox="1"/>
          <p:nvPr/>
        </p:nvSpPr>
        <p:spPr>
          <a:xfrm>
            <a:off x="8641080" y="3749040"/>
            <a:ext cx="30019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検証の前に flush する</a:t>
            </a:r>
            <a:endParaRPr lang="ja-JP" altLang="en-US" sz="16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JPA の変更は flush するまで DB に書かれないので、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entityManager.flush()</a:t>
            </a:r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 を呼んでから検証します。</a:t>
            </a:r>
            <a:endParaRPr lang="ja-JP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12</a:t>
            </a:fld>
            <a:endParaRPr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chemeClr val="tx1"/>
                </a:solidFill>
              </a:rPr>
              <a:t>知っておきたい制約</a:t>
            </a:r>
            <a:endParaRPr lang="ja-JP" altLang="en-US" sz="3000" dirty="0"/>
          </a:p>
        </p:txBody>
      </p:sp>
      <p:sp>
        <p:nvSpPr>
          <p:cNvPr id="3" name="limit1"/>
          <p:cNvSpPr/>
          <p:nvPr/>
        </p:nvSpPr>
        <p:spPr>
          <a:xfrm>
            <a:off x="548640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limitMark1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limitMark1Text"/>
          <p:cNvSpPr txBox="1"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6" name="limitText1"/>
          <p:cNvSpPr txBox="1"/>
          <p:nvPr/>
        </p:nvSpPr>
        <p:spPr>
          <a:xfrm>
            <a:off x="1600200" y="1719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assertExists は余分な行を見ない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ファイルの各行が DB に「ある」ことだけを確かめます。件数や余計な行は、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assertNotExists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や件数の assert で確かめます。</a:t>
            </a:r>
            <a:endParaRPr lang="ja-JP" altLang="en-US" sz="1800" dirty="0"/>
          </a:p>
        </p:txBody>
      </p:sp>
      <p:sp>
        <p:nvSpPr>
          <p:cNvPr id="7" name="limit2"/>
          <p:cNvSpPr/>
          <p:nvPr/>
        </p:nvSpPr>
        <p:spPr>
          <a:xfrm>
            <a:off x="6278728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limitMark2"/>
          <p:cNvSpPr/>
          <p:nvPr/>
        </p:nvSpPr>
        <p:spPr>
          <a:xfrm>
            <a:off x="6598768" y="1691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limitMark2Text"/>
          <p:cNvSpPr txBox="1"/>
          <p:nvPr/>
        </p:nvSpPr>
        <p:spPr>
          <a:xfrm>
            <a:off x="65987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10" name="limitText2"/>
          <p:cNvSpPr txBox="1"/>
          <p:nvPr/>
        </p:nvSpPr>
        <p:spPr>
          <a:xfrm>
            <a:off x="7330288" y="1719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書けない値がある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|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を含む値、改行を含む値、前後に空白がある値、文字列の 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&lt;null&gt;</a:t>
            </a:r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 は書けません。</a:t>
            </a:r>
            <a:endParaRPr lang="ja-JP" altLang="en-US" sz="1800" dirty="0"/>
          </a:p>
        </p:txBody>
      </p:sp>
      <p:sp>
        <p:nvSpPr>
          <p:cNvPr id="11" name="limit3"/>
          <p:cNvSpPr/>
          <p:nvPr/>
        </p:nvSpPr>
        <p:spPr>
          <a:xfrm>
            <a:off x="548640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2" name="limitMark3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limitMark3Text"/>
          <p:cNvSpPr txBox="1"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14" name="limitText3"/>
          <p:cNvSpPr txBox="1"/>
          <p:nvPr/>
        </p:nvSpPr>
        <p:spPr>
          <a:xfrm>
            <a:off x="1600200" y="4005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投入は書いた順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外部キーがあるときは、参照される側（親）のテーブルを先に書きます。</a:t>
            </a:r>
            <a:endParaRPr lang="ja-JP" altLang="en-US" sz="1800" dirty="0"/>
          </a:p>
        </p:txBody>
      </p:sp>
      <p:sp>
        <p:nvSpPr>
          <p:cNvPr id="15" name="limit4"/>
          <p:cNvSpPr/>
          <p:nvPr/>
        </p:nvSpPr>
        <p:spPr>
          <a:xfrm>
            <a:off x="6278728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limitMark4"/>
          <p:cNvSpPr/>
          <p:nvPr/>
        </p:nvSpPr>
        <p:spPr>
          <a:xfrm>
            <a:off x="6598768" y="3977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limitMark4Text"/>
          <p:cNvSpPr txBox="1"/>
          <p:nvPr/>
        </p:nvSpPr>
        <p:spPr>
          <a:xfrm>
            <a:off x="659876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!</a:t>
            </a:r>
            <a:endParaRPr lang="ja-JP" altLang="en-US" sz="1800" dirty="0"/>
          </a:p>
        </p:txBody>
      </p:sp>
      <p:sp>
        <p:nvSpPr>
          <p:cNvPr id="18" name="limitText4"/>
          <p:cNvSpPr txBox="1"/>
          <p:nvPr/>
        </p:nvSpPr>
        <p:spPr>
          <a:xfrm>
            <a:off x="7330288" y="4005072"/>
            <a:ext cx="3992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</a:rPr>
              <a:t>データは削除しない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</a:rPr>
              <a:t>元に戻すのはテストのロールバックです。トランザクションの外で動くテスト対象（別スレッドなど）では、データが残ります。</a:t>
            </a:r>
            <a:endParaRPr lang="ja-JP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13</a:t>
            </a:fld>
            <a:endParaRPr lang="ja-JP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4800" b="1" dirty="0">
                <a:solidFill>
                  <a:schemeClr val="bg1"/>
                </a:solidFill>
              </a:rPr>
              <a:t>次の一歩</a:t>
            </a:r>
            <a:endParaRPr lang="ja-JP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chemeClr val="accent1"/>
                </a:solidFill>
              </a:rPr>
              <a:t>リポジトリの中に、すぐ読めるものがそろっています</a:t>
            </a:r>
            <a:endParaRPr lang="ja-JP" altLang="en-US" sz="2200" dirty="0"/>
          </a:p>
        </p:txBody>
      </p:sp>
      <p:sp>
        <p:nvSpPr>
          <p:cNvPr id="4" name="next1"/>
          <p:cNvSpPr/>
          <p:nvPr/>
        </p:nvSpPr>
        <p:spPr>
          <a:xfrm>
            <a:off x="548640" y="4572000"/>
            <a:ext cx="345429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5" name="nextText1"/>
          <p:cNvSpPr txBox="1"/>
          <p:nvPr/>
        </p:nvSpPr>
        <p:spPr>
          <a:xfrm>
            <a:off x="822960" y="45720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テスト実装ガイド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docs/guide.ja.md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bg2"/>
                </a:solidFill>
              </a:rPr>
              <a:t>例を使って、書き方を順に説明</a:t>
            </a:r>
            <a:endParaRPr lang="ja-JP" altLang="en-US" sz="1600" dirty="0"/>
          </a:p>
        </p:txBody>
      </p:sp>
      <p:sp>
        <p:nvSpPr>
          <p:cNvPr id="6" name="next2"/>
          <p:cNvSpPr/>
          <p:nvPr/>
        </p:nvSpPr>
        <p:spPr>
          <a:xfrm>
            <a:off x="4368698" y="4572000"/>
            <a:ext cx="345429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7" name="nextText2"/>
          <p:cNvSpPr txBox="1"/>
          <p:nvPr/>
        </p:nvSpPr>
        <p:spPr>
          <a:xfrm>
            <a:off x="4643018" y="45720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動くサンプル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example/OrderServiceTest.java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bg2"/>
                </a:solidFill>
              </a:rPr>
              <a:t>このスライドのコードの元</a:t>
            </a:r>
            <a:endParaRPr lang="ja-JP" altLang="en-US" sz="1600" dirty="0"/>
          </a:p>
        </p:txBody>
      </p:sp>
      <p:sp>
        <p:nvSpPr>
          <p:cNvPr id="8" name="next3"/>
          <p:cNvSpPr/>
          <p:nvPr/>
        </p:nvSpPr>
        <p:spPr>
          <a:xfrm>
            <a:off x="8188757" y="4572000"/>
            <a:ext cx="345429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9" name="nextText3"/>
          <p:cNvSpPr txBox="1"/>
          <p:nvPr/>
        </p:nvSpPr>
        <p:spPr>
          <a:xfrm>
            <a:off x="8463077" y="45720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フィクスチャエディタ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accent4"/>
                </a:solidFill>
                <a:latin typeface="Consolas" pitchFamily="34" charset="0"/>
                <a:ea typeface="メイリオ" pitchFamily="34" charset="-122"/>
                <a:cs typeface="メイリオ" pitchFamily="34" charset="-120"/>
              </a:rPr>
              <a:t>tools/fixture-editor.html</a:t>
            </a:r>
            <a:endParaRPr lang="ja-JP" alt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00" dirty="0">
                <a:solidFill>
                  <a:schemeClr val="bg2"/>
                </a:solidFill>
              </a:rPr>
              <a:t>表の形で編集し、誤りを事前に見つける</a:t>
            </a:r>
            <a:endParaRPr lang="ja-JP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Jigu">
  <a:themeElements>
    <a:clrScheme name="DbJigu">
      <a:dk1>
        <a:srgbClr val="1D262B"/>
      </a:dk1>
      <a:lt1>
        <a:srgbClr val="FFFFFF"/>
      </a:lt1>
      <a:dk2>
        <a:srgbClr val="33505C"/>
      </a:dk2>
      <a:lt2>
        <a:srgbClr val="EEF2F3"/>
      </a:lt2>
      <a:accent1>
        <a:srgbClr val="E39B2D"/>
      </a:accent1>
      <a:accent2>
        <a:srgbClr val="2E8B6E"/>
      </a:accent2>
      <a:accent3>
        <a:srgbClr val="E8776C"/>
      </a:accent3>
      <a:accent4>
        <a:srgbClr val="7EC4E0"/>
      </a:accent4>
      <a:accent5>
        <a:srgbClr val="8C9BA3"/>
      </a:accent5>
      <a:accent6>
        <a:srgbClr val="A6D785"/>
      </a:accent6>
      <a:hlink>
        <a:srgbClr val="2F6F9F"/>
      </a:hlink>
      <a:folHlink>
        <a:srgbClr val="6B5B95"/>
      </a:folHlink>
    </a:clrScheme>
    <a:fontScheme name="DbJigu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DbJigu 開発者向け紹介</dc:title>
  <dc:subject>PptxGenJS Presentation</dc:subject>
  <dc:creator>raindrop-aqua</dc:creator>
  <cp:lastModifiedBy>raindrop-aqua</cp:lastModifiedBy>
  <cp:revision>1</cp:revision>
  <dcterms:created xsi:type="dcterms:W3CDTF">2026-10-21T13:36:03Z</dcterms:created>
  <dcterms:modified xsi:type="dcterms:W3CDTF">2026-10-21T13:36:03Z</dcterms:modified>
</cp:coreProperties>
</file>